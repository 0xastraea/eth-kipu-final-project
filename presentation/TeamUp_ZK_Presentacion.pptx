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4"/>
    <p:sldId id="259" r:id="rId5"/>
    <p:sldId id="268" r:id="rId14"/>
    <p:sldId id="265" r:id="rId11"/>
    <p:sldId id="260" r:id="rId6"/>
    <p:sldId id="269" r:id="rId22"/>
    <p:sldId id="270" r:id="rId23"/>
    <p:sldId id="271" r:id="rId24"/>
    <p:sldId id="272" r:id="rId25"/>
    <p:sldId id="273" r:id="rId26"/>
    <p:sldId id="274" r:id="rId27"/>
    <p:sldId id="275" r:id="rId28"/>
    <p:sldId id="276" r:id="rId29"/>
    <p:sldId id="277" r:id="rId30"/>
    <p:sldId id="278" r:id="rId31"/>
    <p:sldId id="279" r:id="rId32"/>
    <p:sldId id="261" r:id="rId7"/>
  </p:sld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1" Type="http://schemas.openxmlformats.org/officeDocument/2006/relationships/slide" Target="slides/slide10.xml"/><Relationship Id="rId14" Type="http://schemas.openxmlformats.org/officeDocument/2006/relationships/slide" Target="slides/slide13.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TeamUp ZK es un protocolo on-chain para formar equipos de curso. El docente controla quién entra al grupo. Cada estudiante prueba con Semaphore V4 que es miembro y se postula sin revelar quién es: las postulaciones se identifican por un nullifier, no por una wallet. Al final, cada integrante aceptado reclama una credencial NFT. Todo corre verificado en Sepolia.</a:t>
            </a:r>
          </a:p>
          <a:p>
            <a:r>
              <a:rPr lang="es-AR" dirty="0"/>
              <a:t>Fuente: README.md; WHITEPAPER.md (Summary).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Hoy los equipos del curso suelen armarse en una planilla compartida, y eso falla de tres formas. Primero, no hay verificación de membresía: cualquiera puede escribir cualquier nombre. Segundo, el interés es público: buscar equipo puede tener un costo social. Tercero, no queda un registro verificable: los acuerdos viven en el chat o en celdas, sin historial firmado.</a:t>
            </a:r>
          </a:p>
          <a:p>
            <a:r>
              <a:rPr lang="es-AR" dirty="0"/>
              <a:t>Fuente: WHITEPAPER.md §1.</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¿Por qué blockchain? Porque un servidor central solo puede prometer las reglas; un contrato las hace cumplir. Primero, nadie tiene que confiar en el operador: el contrato verifica la prueba ZK contra el grupo del curso. Segundo, logramos anti-Sybil y anonimato a la vez: un nullifier por identidad y equipo, sin que el contrato vea la identidad. Tercero, auditabilidad: hay eventos en cada cambio de estado y el código está verificado en Etherscan, así que cualquiera reconstruye el flujo. Cuarto, interoperabilidad: la credencial es un ERC-721 estándar, legible por cualquier wallet o contrato, y usamos Semaphore como infraestructura pública. El docente sigue siendo dueño del padrón; la cadena solo hace que las reglas no dependan de su buena fe.</a:t>
            </a:r>
          </a:p>
          <a:p>
            <a:r>
              <a:rPr lang="es-AR" dirty="0"/>
              <a:t>Fuente: WHITEPAPER.md §2 (tabla y cierre), línea 45 ('Events make the flow auditable'), línea 103 (custom errors y eventos en cada cambio de estado); README.md (tabla de contratos: TeamCredential ERC-721, contratos verificados en Etherscan). La interoperabilidad es una consecuencia de diseño de usar ERC-721 estándar y Semaphore (PSE), no una integración probada con terceros.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En seguridad aplicamos Checks-Effects-Interactions, ReentrancyGuardTransient, errores custom y eventos en cada cambio de estado; no usamos tx.origin, delegatecall ni selfdestruct. En gas: immutable, constant, un slot empaquetado, unchecked y calldata. Corrimos Slither con triage documentado. Hay 62 tests, 46 de contratos y 16 de frontend, y 100% de cobertura en el Solidity propio. Se reproduce con make test, make coverage y make slither.</a:t>
            </a:r>
          </a:p>
          <a:p>
            <a:r>
              <a:rPr lang="es-AR" dirty="0"/>
              <a:t>Fuente: WHITEPAPER.md §7, §8, §9; README.md (Build and test; 'Sepolia showcase (for the demo video)').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El anonimato es estadístico: grupos de uno o dos miembros no son anónimos. El remitente de la transacción es público, y copiar una prueba en la mempool puede quemar el nullifier de la víctima. Tampoco hay stake ni slash por abandonar. En el roadmap: staking, slashing y relayer en la fase 2; reclutamiento ciego y reputación en la fase 3; y matching off-chain vía un subgraph en la fase 4.</a:t>
            </a:r>
          </a:p>
          <a:p>
            <a:r>
              <a:rPr lang="es-AR" dirty="0"/>
              <a:t>Fuente: WHITEPAPER.md §10, §11.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El flujo tiene seis pasos: el owner inscribe los commitments, un miembro crea el equipo con una prueba ZK atada al teamId, otros se postulan por nullifier, el admin acepta por nullifier, el reveal congela el roster y cada integrante reclama su NFT. Ahora lo corremos paso a paso, un comando make por vez.</a:t>
            </a:r>
          </a:p>
          <a:p>
            <a:r>
              <a:rPr lang="es-AR" dirty="0"/>
              <a:t>Fuente: WHITEPAPER.md §5;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La arquitectura tiene tres contratos. Semaphore, de PSE, maneja el grupo del curso y la verificación ZK. TeamRegistry, nuestro, gestiona equipos, postulaciones, reveal y claim. TeamCredential es un ERC-721 que solo el registry puede mintear. TeamRegistry no hereda de Semaphore, lo llama vía ISemaphore: si heredara, cualquiera podría llamar a addMember. El frontend, en Next.js 16 y wagmi 3, genera las pruebas ZK en el navegador.</a:t>
            </a:r>
          </a:p>
          <a:p>
            <a:r>
              <a:rPr lang="es-AR" dirty="0"/>
              <a:t>Fuente: WHITEPAPER.md §4, §12; README.md (Contracts, Repository).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Antes de empezar, make sepolia-contracts muestra la red Sepolia, el grupo del curso 1 y los cinco contratos, todos verificados en Etherscan.</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uno: el owner del curso inscribe los identity commitments de los estudiantes. Solo él puede hacerlo, y cada commitment entra al grupo de Semaphore.</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dos: un miembro crea el equipo con una prueba ZK de que es del curso y queda como admin. La prueba va atada al teamId, así que no sirve para otro equipo.</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tres: Bob se postula con una prueba ZK. El contrato guarda su nullifier, no su dirección, y eso evita que se postule dos veces sin identificarlo.</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cuatro: el admin del equipo acepta a Bob por nullifier, sin conocer nunca su dirección.</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cinco: Charlie se postula igual que Bob, con su prueba ZK; otra vez se guarda el nullifier y no la dirección.</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seis: el admin acepta a Charlie, también por nullifier y sin conocer su dirección.</a:t>
            </a:r>
          </a:p>
          <a:p>
            <a:r>
              <a:rPr lang="es-AR" dirty="0"/>
              <a:t>Fuente: README.md 'Sepolia showcase (for the demo video)'; showcase/*.sh. + showcase/06-accept-charlie.sh: 'The nullifier is the only key. The admin never learns Charlie's address.'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siete: el equipo está completo, así que el roster se congela y se publica rosterRoot. Los nullifiers quedan públicos; las direcciones, no.</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ocho: Bob reclama su NFT en una dirección separada, no en su cuenta principal. Es commit-reveal: el destino quedó fijado cuando se postuló.</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Paso nueve: Charlie reclama su NFT en su propia dirección, con el mismo commit-reveal.</a:t>
            </a:r>
          </a:p>
          <a:p>
            <a:r>
              <a:rPr lang="es-AR" dirty="0"/>
              <a:t>Fuente: README.md 'Sepolia showcase (for the demo video)'; showcase/*.sh. + showcase/09-claim-charlie.sh: 'The claim uses commit-reveal. The destination is fixed at application time.'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Para verificar: en Etherscan, TeamCredential, Read contract. ownerOf de 1 es Bob y ownerOf de 2 es Charlie. El Team #0 corrió de punta a punta en Sepolia.</a:t>
            </a:r>
          </a:p>
          <a:p>
            <a:r>
              <a:rPr lang="es-AR" dirty="0"/>
              <a:t>Fuente: README.md 'Sepolia showcase (for the demo video)'; showcase/*.sh.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7172554" y="0"/>
            <a:ext cx="557784" cy="762000"/>
          </a:xfrm>
          <a:custGeom>
            <a:avLst/>
            <a:gdLst/>
            <a:ahLst/>
            <a:cxnLst/>
            <a:rect l="l" t="t" r="r" b="b"/>
            <a:pathLst>
              <a:path w="557784" h="762000">
                <a:moveTo>
                  <a:pt x="0" y="0"/>
                </a:moveTo>
                <a:lnTo>
                  <a:pt x="557784" y="0"/>
                </a:lnTo>
                <a:lnTo>
                  <a:pt x="0" y="762000"/>
                </a:lnTo>
                <a:close/>
              </a:path>
            </a:pathLst>
          </a:custGeom>
          <a:solidFill>
            <a:srgbClr val="273DBB"/>
          </a:solidFill>
          <a:ln/>
        </p:spPr>
      </p:sp>
      <p:sp>
        <p:nvSpPr>
          <p:cNvPr id="29" name="Shape 27"/>
          <p:cNvSpPr/>
          <p:nvPr/>
        </p:nvSpPr>
        <p:spPr>
          <a:xfrm>
            <a:off x="7172554" y="0"/>
            <a:ext cx="1115568" cy="1524000"/>
          </a:xfrm>
          <a:custGeom>
            <a:avLst/>
            <a:gdLst/>
            <a:ahLst/>
            <a:cxnLst/>
            <a:rect l="l" t="t" r="r" b="b"/>
            <a:pathLst>
              <a:path w="1115568" h="1524000">
                <a:moveTo>
                  <a:pt x="167335" y="0"/>
                </a:moveTo>
                <a:lnTo>
                  <a:pt x="1115568" y="0"/>
                </a:lnTo>
                <a:lnTo>
                  <a:pt x="0" y="1524000"/>
                </a:lnTo>
                <a:lnTo>
                  <a:pt x="0" y="228600"/>
                </a:lnTo>
                <a:close/>
              </a:path>
            </a:pathLst>
          </a:custGeom>
          <a:solidFill>
            <a:srgbClr val="263BB8"/>
          </a:solidFill>
          <a:ln/>
        </p:spPr>
      </p:sp>
      <p:sp>
        <p:nvSpPr>
          <p:cNvPr id="30" name="Shape 28"/>
          <p:cNvSpPr/>
          <p:nvPr/>
        </p:nvSpPr>
        <p:spPr>
          <a:xfrm>
            <a:off x="7172554" y="0"/>
            <a:ext cx="1673352" cy="2286000"/>
          </a:xfrm>
          <a:custGeom>
            <a:avLst/>
            <a:gdLst/>
            <a:ahLst/>
            <a:cxnLst/>
            <a:rect l="l" t="t" r="r" b="b"/>
            <a:pathLst>
              <a:path w="1673352" h="2286000">
                <a:moveTo>
                  <a:pt x="725119" y="0"/>
                </a:moveTo>
                <a:lnTo>
                  <a:pt x="1673352" y="0"/>
                </a:lnTo>
                <a:lnTo>
                  <a:pt x="0" y="2286000"/>
                </a:lnTo>
                <a:lnTo>
                  <a:pt x="0" y="990600"/>
                </a:lnTo>
                <a:close/>
              </a:path>
            </a:pathLst>
          </a:custGeom>
          <a:solidFill>
            <a:srgbClr val="2539B4"/>
          </a:solidFill>
          <a:ln/>
        </p:spPr>
      </p:sp>
      <p:sp>
        <p:nvSpPr>
          <p:cNvPr id="31" name="Shape 29"/>
          <p:cNvSpPr/>
          <p:nvPr/>
        </p:nvSpPr>
        <p:spPr>
          <a:xfrm>
            <a:off x="7172554" y="0"/>
            <a:ext cx="2231136" cy="3048000"/>
          </a:xfrm>
          <a:custGeom>
            <a:avLst/>
            <a:gdLst/>
            <a:ahLst/>
            <a:cxnLst/>
            <a:rect l="l" t="t" r="r" b="b"/>
            <a:pathLst>
              <a:path w="2231136" h="3048000">
                <a:moveTo>
                  <a:pt x="1282903" y="0"/>
                </a:moveTo>
                <a:lnTo>
                  <a:pt x="2231136" y="0"/>
                </a:lnTo>
                <a:lnTo>
                  <a:pt x="0" y="3048000"/>
                </a:lnTo>
                <a:lnTo>
                  <a:pt x="0" y="1752600"/>
                </a:lnTo>
                <a:close/>
              </a:path>
            </a:pathLst>
          </a:custGeom>
          <a:solidFill>
            <a:srgbClr val="2437B1"/>
          </a:solidFill>
          <a:ln/>
        </p:spPr>
      </p:sp>
      <p:sp>
        <p:nvSpPr>
          <p:cNvPr id="32" name="Shape 30"/>
          <p:cNvSpPr/>
          <p:nvPr/>
        </p:nvSpPr>
        <p:spPr>
          <a:xfrm>
            <a:off x="7172554" y="0"/>
            <a:ext cx="2788920" cy="3810000"/>
          </a:xfrm>
          <a:custGeom>
            <a:avLst/>
            <a:gdLst/>
            <a:ahLst/>
            <a:cxnLst/>
            <a:rect l="l" t="t" r="r" b="b"/>
            <a:pathLst>
              <a:path w="2788920" h="3810000">
                <a:moveTo>
                  <a:pt x="1840687" y="0"/>
                </a:moveTo>
                <a:lnTo>
                  <a:pt x="2788920" y="0"/>
                </a:lnTo>
                <a:lnTo>
                  <a:pt x="0" y="3810000"/>
                </a:lnTo>
                <a:lnTo>
                  <a:pt x="0" y="2514600"/>
                </a:lnTo>
                <a:close/>
              </a:path>
            </a:pathLst>
          </a:custGeom>
          <a:solidFill>
            <a:srgbClr val="2235AD"/>
          </a:solidFill>
          <a:ln/>
        </p:spPr>
      </p:sp>
      <p:sp>
        <p:nvSpPr>
          <p:cNvPr id="33" name="Shape 31"/>
          <p:cNvSpPr/>
          <p:nvPr/>
        </p:nvSpPr>
        <p:spPr>
          <a:xfrm>
            <a:off x="7172554" y="0"/>
            <a:ext cx="3346704" cy="4572000"/>
          </a:xfrm>
          <a:custGeom>
            <a:avLst/>
            <a:gdLst/>
            <a:ahLst/>
            <a:cxnLst/>
            <a:rect l="l" t="t" r="r" b="b"/>
            <a:pathLst>
              <a:path w="3346704" h="4572000">
                <a:moveTo>
                  <a:pt x="2398471" y="0"/>
                </a:moveTo>
                <a:lnTo>
                  <a:pt x="3346704" y="0"/>
                </a:lnTo>
                <a:lnTo>
                  <a:pt x="0" y="4572000"/>
                </a:lnTo>
                <a:lnTo>
                  <a:pt x="0" y="3276600"/>
                </a:lnTo>
                <a:close/>
              </a:path>
            </a:pathLst>
          </a:custGeom>
          <a:solidFill>
            <a:srgbClr val="2133AA"/>
          </a:solidFill>
          <a:ln/>
        </p:spPr>
      </p:sp>
      <p:sp>
        <p:nvSpPr>
          <p:cNvPr id="34" name="Shape 32"/>
          <p:cNvSpPr/>
          <p:nvPr/>
        </p:nvSpPr>
        <p:spPr>
          <a:xfrm>
            <a:off x="7172554" y="0"/>
            <a:ext cx="3904488" cy="5334000"/>
          </a:xfrm>
          <a:custGeom>
            <a:avLst/>
            <a:gdLst/>
            <a:ahLst/>
            <a:cxnLst/>
            <a:rect l="l" t="t" r="r" b="b"/>
            <a:pathLst>
              <a:path w="3904488" h="5334000">
                <a:moveTo>
                  <a:pt x="2956255" y="0"/>
                </a:moveTo>
                <a:lnTo>
                  <a:pt x="3904488" y="0"/>
                </a:lnTo>
                <a:lnTo>
                  <a:pt x="0" y="5334000"/>
                </a:lnTo>
                <a:lnTo>
                  <a:pt x="0" y="4038600"/>
                </a:lnTo>
                <a:close/>
              </a:path>
            </a:pathLst>
          </a:custGeom>
          <a:solidFill>
            <a:srgbClr val="2031A6"/>
          </a:solidFill>
          <a:ln/>
        </p:spPr>
      </p:sp>
      <p:sp>
        <p:nvSpPr>
          <p:cNvPr id="35" name="Shape 33"/>
          <p:cNvSpPr/>
          <p:nvPr/>
        </p:nvSpPr>
        <p:spPr>
          <a:xfrm>
            <a:off x="7172554" y="0"/>
            <a:ext cx="4462272" cy="6096000"/>
          </a:xfrm>
          <a:custGeom>
            <a:avLst/>
            <a:gdLst/>
            <a:ahLst/>
            <a:cxnLst/>
            <a:rect l="l" t="t" r="r" b="b"/>
            <a:pathLst>
              <a:path w="4462272" h="6096000">
                <a:moveTo>
                  <a:pt x="3514039" y="0"/>
                </a:moveTo>
                <a:lnTo>
                  <a:pt x="4462272" y="0"/>
                </a:lnTo>
                <a:lnTo>
                  <a:pt x="0" y="6096000"/>
                </a:lnTo>
                <a:lnTo>
                  <a:pt x="0" y="4800600"/>
                </a:lnTo>
                <a:close/>
              </a:path>
            </a:pathLst>
          </a:custGeom>
          <a:solidFill>
            <a:srgbClr val="1E2FA3"/>
          </a:solidFill>
          <a:ln/>
        </p:spPr>
      </p:sp>
      <p:sp>
        <p:nvSpPr>
          <p:cNvPr id="36" name="Shape 34"/>
          <p:cNvSpPr/>
          <p:nvPr/>
        </p:nvSpPr>
        <p:spPr>
          <a:xfrm>
            <a:off x="7172554" y="0"/>
            <a:ext cx="5020056" cy="6858000"/>
          </a:xfrm>
          <a:custGeom>
            <a:avLst/>
            <a:gdLst/>
            <a:ahLst/>
            <a:cxnLst/>
            <a:rect l="l" t="t" r="r" b="b"/>
            <a:pathLst>
              <a:path w="5020056" h="6858000">
                <a:moveTo>
                  <a:pt x="4071823" y="0"/>
                </a:moveTo>
                <a:lnTo>
                  <a:pt x="5020056" y="0"/>
                </a:lnTo>
                <a:lnTo>
                  <a:pt x="0" y="6858000"/>
                </a:lnTo>
                <a:lnTo>
                  <a:pt x="0" y="5562600"/>
                </a:lnTo>
                <a:close/>
              </a:path>
            </a:pathLst>
          </a:custGeom>
          <a:solidFill>
            <a:srgbClr val="1D2D9F"/>
          </a:solidFill>
          <a:ln/>
        </p:spPr>
      </p:sp>
      <p:sp>
        <p:nvSpPr>
          <p:cNvPr id="37" name="Shape 35"/>
          <p:cNvSpPr/>
          <p:nvPr/>
        </p:nvSpPr>
        <p:spPr>
          <a:xfrm>
            <a:off x="7172554" y="0"/>
            <a:ext cx="5020056" cy="6858000"/>
          </a:xfrm>
          <a:custGeom>
            <a:avLst/>
            <a:gdLst/>
            <a:ahLst/>
            <a:cxnLst/>
            <a:rect l="l" t="t" r="r" b="b"/>
            <a:pathLst>
              <a:path w="5020056" h="6858000">
                <a:moveTo>
                  <a:pt x="4629607" y="0"/>
                </a:moveTo>
                <a:lnTo>
                  <a:pt x="5020056" y="0"/>
                </a:lnTo>
                <a:lnTo>
                  <a:pt x="5020056" y="762000"/>
                </a:lnTo>
                <a:lnTo>
                  <a:pt x="557784" y="6858000"/>
                </a:lnTo>
                <a:lnTo>
                  <a:pt x="0" y="6858000"/>
                </a:lnTo>
                <a:lnTo>
                  <a:pt x="0" y="6324600"/>
                </a:lnTo>
                <a:close/>
              </a:path>
            </a:pathLst>
          </a:custGeom>
          <a:solidFill>
            <a:srgbClr val="1C2B9C"/>
          </a:solidFill>
          <a:ln/>
        </p:spPr>
      </p:sp>
      <p:sp>
        <p:nvSpPr>
          <p:cNvPr id="38" name="Shape 36"/>
          <p:cNvSpPr/>
          <p:nvPr/>
        </p:nvSpPr>
        <p:spPr>
          <a:xfrm>
            <a:off x="7339889" y="228600"/>
            <a:ext cx="4852721" cy="6629400"/>
          </a:xfrm>
          <a:custGeom>
            <a:avLst/>
            <a:gdLst/>
            <a:ahLst/>
            <a:cxnLst/>
            <a:rect l="l" t="t" r="r" b="b"/>
            <a:pathLst>
              <a:path w="4852721" h="6629400">
                <a:moveTo>
                  <a:pt x="4852721" y="0"/>
                </a:moveTo>
                <a:lnTo>
                  <a:pt x="4852721" y="1295400"/>
                </a:lnTo>
                <a:lnTo>
                  <a:pt x="948233" y="6629400"/>
                </a:lnTo>
                <a:lnTo>
                  <a:pt x="0" y="6629400"/>
                </a:lnTo>
                <a:close/>
              </a:path>
            </a:pathLst>
          </a:custGeom>
          <a:solidFill>
            <a:srgbClr val="1B2998"/>
          </a:solidFill>
          <a:ln/>
        </p:spPr>
      </p:sp>
      <p:sp>
        <p:nvSpPr>
          <p:cNvPr id="39" name="Shape 37"/>
          <p:cNvSpPr/>
          <p:nvPr/>
        </p:nvSpPr>
        <p:spPr>
          <a:xfrm>
            <a:off x="7897673" y="990600"/>
            <a:ext cx="4294937" cy="5867400"/>
          </a:xfrm>
          <a:custGeom>
            <a:avLst/>
            <a:gdLst/>
            <a:ahLst/>
            <a:cxnLst/>
            <a:rect l="l" t="t" r="r" b="b"/>
            <a:pathLst>
              <a:path w="4294937" h="5867400">
                <a:moveTo>
                  <a:pt x="4294937" y="0"/>
                </a:moveTo>
                <a:lnTo>
                  <a:pt x="4294937" y="1295400"/>
                </a:lnTo>
                <a:lnTo>
                  <a:pt x="948233" y="5867400"/>
                </a:lnTo>
                <a:lnTo>
                  <a:pt x="0" y="5867400"/>
                </a:lnTo>
                <a:close/>
              </a:path>
            </a:pathLst>
          </a:custGeom>
          <a:solidFill>
            <a:srgbClr val="192795"/>
          </a:solidFill>
          <a:ln/>
        </p:spPr>
      </p:sp>
      <p:sp>
        <p:nvSpPr>
          <p:cNvPr id="40" name="Shape 38"/>
          <p:cNvSpPr/>
          <p:nvPr/>
        </p:nvSpPr>
        <p:spPr>
          <a:xfrm>
            <a:off x="8455457" y="1752600"/>
            <a:ext cx="3737153" cy="5105400"/>
          </a:xfrm>
          <a:custGeom>
            <a:avLst/>
            <a:gdLst/>
            <a:ahLst/>
            <a:cxnLst/>
            <a:rect l="l" t="t" r="r" b="b"/>
            <a:pathLst>
              <a:path w="3737153" h="5105400">
                <a:moveTo>
                  <a:pt x="3737153" y="0"/>
                </a:moveTo>
                <a:lnTo>
                  <a:pt x="3737153" y="1295400"/>
                </a:lnTo>
                <a:lnTo>
                  <a:pt x="948233" y="5105400"/>
                </a:lnTo>
                <a:lnTo>
                  <a:pt x="0" y="5105400"/>
                </a:lnTo>
                <a:close/>
              </a:path>
            </a:pathLst>
          </a:custGeom>
          <a:solidFill>
            <a:srgbClr val="182591"/>
          </a:solidFill>
          <a:ln/>
        </p:spPr>
      </p:sp>
      <p:sp>
        <p:nvSpPr>
          <p:cNvPr id="41" name="Shape 39"/>
          <p:cNvSpPr/>
          <p:nvPr/>
        </p:nvSpPr>
        <p:spPr>
          <a:xfrm>
            <a:off x="9013241" y="2514600"/>
            <a:ext cx="3179369" cy="4343400"/>
          </a:xfrm>
          <a:custGeom>
            <a:avLst/>
            <a:gdLst/>
            <a:ahLst/>
            <a:cxnLst/>
            <a:rect l="l" t="t" r="r" b="b"/>
            <a:pathLst>
              <a:path w="3179369" h="4343400">
                <a:moveTo>
                  <a:pt x="3179369" y="0"/>
                </a:moveTo>
                <a:lnTo>
                  <a:pt x="3179369" y="1295400"/>
                </a:lnTo>
                <a:lnTo>
                  <a:pt x="948233" y="4343400"/>
                </a:lnTo>
                <a:lnTo>
                  <a:pt x="0" y="4343400"/>
                </a:lnTo>
                <a:close/>
              </a:path>
            </a:pathLst>
          </a:custGeom>
          <a:solidFill>
            <a:srgbClr val="17238E"/>
          </a:solidFill>
          <a:ln/>
        </p:spPr>
      </p:sp>
      <p:sp>
        <p:nvSpPr>
          <p:cNvPr id="42" name="Shape 40"/>
          <p:cNvSpPr/>
          <p:nvPr/>
        </p:nvSpPr>
        <p:spPr>
          <a:xfrm>
            <a:off x="9571025" y="3276600"/>
            <a:ext cx="2621585" cy="3581400"/>
          </a:xfrm>
          <a:custGeom>
            <a:avLst/>
            <a:gdLst/>
            <a:ahLst/>
            <a:cxnLst/>
            <a:rect l="l" t="t" r="r" b="b"/>
            <a:pathLst>
              <a:path w="2621585" h="3581400">
                <a:moveTo>
                  <a:pt x="2621585" y="0"/>
                </a:moveTo>
                <a:lnTo>
                  <a:pt x="2621585" y="1295400"/>
                </a:lnTo>
                <a:lnTo>
                  <a:pt x="948233" y="3581400"/>
                </a:lnTo>
                <a:lnTo>
                  <a:pt x="0" y="3581400"/>
                </a:lnTo>
                <a:close/>
              </a:path>
            </a:pathLst>
          </a:custGeom>
          <a:solidFill>
            <a:srgbClr val="15218A"/>
          </a:solidFill>
          <a:ln/>
        </p:spPr>
      </p:sp>
      <p:sp>
        <p:nvSpPr>
          <p:cNvPr id="43" name="Shape 41"/>
          <p:cNvSpPr/>
          <p:nvPr/>
        </p:nvSpPr>
        <p:spPr>
          <a:xfrm>
            <a:off x="10128809" y="4038600"/>
            <a:ext cx="2063801" cy="2819400"/>
          </a:xfrm>
          <a:custGeom>
            <a:avLst/>
            <a:gdLst/>
            <a:ahLst/>
            <a:cxnLst/>
            <a:rect l="l" t="t" r="r" b="b"/>
            <a:pathLst>
              <a:path w="2063801" h="2819400">
                <a:moveTo>
                  <a:pt x="2063801" y="0"/>
                </a:moveTo>
                <a:lnTo>
                  <a:pt x="2063801" y="1295400"/>
                </a:lnTo>
                <a:lnTo>
                  <a:pt x="948233" y="2819400"/>
                </a:lnTo>
                <a:lnTo>
                  <a:pt x="0" y="2819400"/>
                </a:lnTo>
                <a:close/>
              </a:path>
            </a:pathLst>
          </a:custGeom>
          <a:solidFill>
            <a:srgbClr val="141F87"/>
          </a:solidFill>
          <a:ln/>
        </p:spPr>
      </p:sp>
      <p:sp>
        <p:nvSpPr>
          <p:cNvPr id="44" name="Shape 42"/>
          <p:cNvSpPr/>
          <p:nvPr/>
        </p:nvSpPr>
        <p:spPr>
          <a:xfrm>
            <a:off x="10686593" y="4800600"/>
            <a:ext cx="1506017" cy="2057400"/>
          </a:xfrm>
          <a:custGeom>
            <a:avLst/>
            <a:gdLst/>
            <a:ahLst/>
            <a:cxnLst/>
            <a:rect l="l" t="t" r="r" b="b"/>
            <a:pathLst>
              <a:path w="1506017" h="2057400">
                <a:moveTo>
                  <a:pt x="1506017" y="0"/>
                </a:moveTo>
                <a:lnTo>
                  <a:pt x="1506017" y="1295400"/>
                </a:lnTo>
                <a:lnTo>
                  <a:pt x="948233" y="2057400"/>
                </a:lnTo>
                <a:lnTo>
                  <a:pt x="0" y="2057400"/>
                </a:lnTo>
                <a:close/>
              </a:path>
            </a:pathLst>
          </a:custGeom>
          <a:solidFill>
            <a:srgbClr val="131D83"/>
          </a:solidFill>
          <a:ln/>
        </p:spPr>
      </p:sp>
      <p:sp>
        <p:nvSpPr>
          <p:cNvPr id="45" name="Shape 43"/>
          <p:cNvSpPr/>
          <p:nvPr/>
        </p:nvSpPr>
        <p:spPr>
          <a:xfrm>
            <a:off x="11244377" y="5562600"/>
            <a:ext cx="948233" cy="1295400"/>
          </a:xfrm>
          <a:custGeom>
            <a:avLst/>
            <a:gdLst/>
            <a:ahLst/>
            <a:cxnLst/>
            <a:rect l="l" t="t" r="r" b="b"/>
            <a:pathLst>
              <a:path w="948233" h="1295400">
                <a:moveTo>
                  <a:pt x="948233" y="0"/>
                </a:moveTo>
                <a:lnTo>
                  <a:pt x="948233" y="1295400"/>
                </a:lnTo>
                <a:lnTo>
                  <a:pt x="0" y="1295400"/>
                </a:lnTo>
                <a:close/>
              </a:path>
            </a:pathLst>
          </a:custGeom>
          <a:solidFill>
            <a:srgbClr val="121B80"/>
          </a:solidFill>
          <a:ln/>
        </p:spPr>
      </p:sp>
      <p:sp>
        <p:nvSpPr>
          <p:cNvPr id="46" name="Shape 44"/>
          <p:cNvSpPr/>
          <p:nvPr/>
        </p:nvSpPr>
        <p:spPr>
          <a:xfrm rot="2700000">
            <a:off x="10197389" y="772668"/>
            <a:ext cx="1195121" cy="579730"/>
          </a:xfrm>
          <a:prstGeom prst="triangle">
            <a:avLst/>
          </a:prstGeom>
          <a:solidFill>
            <a:srgbClr val="283EBD"/>
          </a:solidFill>
          <a:ln/>
        </p:spPr>
      </p:sp>
      <p:sp>
        <p:nvSpPr>
          <p:cNvPr id="47" name="Shape 45"/>
          <p:cNvSpPr/>
          <p:nvPr/>
        </p:nvSpPr>
        <p:spPr>
          <a:xfrm rot="13500000">
            <a:off x="5560466" y="5512003"/>
            <a:ext cx="1430122" cy="694030"/>
          </a:xfrm>
          <a:prstGeom prst="triangle">
            <a:avLst/>
          </a:prstGeom>
          <a:solidFill>
            <a:srgbClr val="283EBD"/>
          </a:solidFill>
          <a:ln/>
        </p:spPr>
      </p:sp>
      <p:sp>
        <p:nvSpPr>
          <p:cNvPr id="48" name="Shape 46"/>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49" name="Shape 47"/>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0" name="Shape 48"/>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2" name="Text 50"/>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3" name="Text 51"/>
          <p:cNvSpPr/>
          <p:nvPr/>
        </p:nvSpPr>
        <p:spPr>
          <a:xfrm>
            <a:off x="780898" y="1600200"/>
            <a:ext cx="6035040" cy="914400"/>
          </a:xfrm>
          <a:prstGeom prst="rect">
            <a:avLst/>
          </a:prstGeom>
          <a:noFill/>
          <a:ln/>
        </p:spPr>
        <p:txBody>
          <a:bodyPr wrap="square" rtlCol="0" anchor="t"/>
          <a:lstStyle/>
          <a:p>
            <a:pPr algn="l" indent="0" marL="0">
              <a:buNone/>
            </a:pPr>
            <a:r>
              <a:rPr lang="en-US" sz="5400" b="1" dirty="0">
                <a:solidFill>
                  <a:srgbClr val="C4ECFF"/>
                </a:solidFill>
                <a:latin typeface="Space Grotesk" pitchFamily="34" charset="0"/>
                <a:ea typeface="Space Grotesk" pitchFamily="34" charset="-122"/>
                <a:cs typeface="Space Grotesk" pitchFamily="34" charset="-120"/>
              </a:rPr>
              <a:t>TeamUp ZK</a:t>
            </a:r>
            <a:endParaRPr lang="en-US" sz="5400" dirty="0"/>
          </a:p>
        </p:txBody>
      </p:sp>
      <p:sp>
        <p:nvSpPr>
          <p:cNvPr id="54" name="Text 52"/>
          <p:cNvSpPr/>
          <p:nvPr/>
        </p:nvSpPr>
        <p:spPr>
          <a:xfrm>
            <a:off x="800100" y="2606040"/>
            <a:ext cx="4572000" cy="1097280"/>
          </a:xfrm>
          <a:prstGeom prst="rect">
            <a:avLst/>
          </a:prstGeom>
          <a:noFill/>
          <a:ln/>
        </p:spPr>
        <p:txBody>
          <a:bodyPr wrap="square" rtlCol="0" anchor="t"/>
          <a:lstStyle/>
          <a:p>
            <a:pPr algn="l" indent="0" marL="0">
              <a:buNone/>
            </a:pPr>
            <a:r>
              <a:rPr lang="en-US" sz="2800" dirty="0">
                <a:solidFill>
                  <a:srgbClr val="C4ECFF"/>
                </a:solidFill>
                <a:latin typeface="Space Grotesk" pitchFamily="34" charset="0"/>
                <a:ea typeface="Space Grotesk" pitchFamily="34" charset="-122"/>
                <a:cs typeface="Space Grotesk" pitchFamily="34" charset="-120"/>
              </a:rPr>
              <a:t>Formación de equipos anónima en Ethereum</a:t>
            </a:r>
            <a:endParaRPr lang="en-US" sz="2800" dirty="0"/>
          </a:p>
        </p:txBody>
      </p:sp>
      <p:sp>
        <p:nvSpPr>
          <p:cNvPr id="55" name="Text 53"/>
          <p:cNvSpPr/>
          <p:nvPr/>
        </p:nvSpPr>
        <p:spPr>
          <a:xfrm>
            <a:off x="800100" y="3977640"/>
            <a:ext cx="4480560" cy="640080"/>
          </a:xfrm>
          <a:prstGeom prst="rect">
            <a:avLst/>
          </a:prstGeom>
          <a:noFill/>
          <a:ln/>
        </p:spPr>
        <p:txBody>
          <a:bodyPr wrap="square" rtlCol="0" anchor="t"/>
          <a:lstStyle/>
          <a:p>
            <a:pPr algn="l" indent="0" marL="0">
              <a:lnSpc>
                <a:spcPct val="130000"/>
              </a:lnSpc>
              <a:buNone/>
            </a:pPr>
            <a:r>
              <a:rPr lang="en-US" sz="1600" dirty="0">
                <a:solidFill>
                  <a:srgbClr val="C2C5CC"/>
                </a:solidFill>
                <a:latin typeface="DM Sans" pitchFamily="34" charset="0"/>
                <a:ea typeface="DM Sans" pitchFamily="34" charset="-122"/>
                <a:cs typeface="DM Sans" pitchFamily="34" charset="-120"/>
              </a:rPr>
              <a:t>Proyecto final · Web3 / Solidity</a:t>
            </a:r>
            <a:endParaRPr lang="en-US" sz="1400" dirty="0"/>
          </a:p>
        </p:txBody>
      </p:sp>
      <p:sp>
        <p:nvSpPr>
          <p:cNvPr id="56" name="Shape 54"/>
          <p:cNvSpPr/>
          <p:nvPr/>
        </p:nvSpPr>
        <p:spPr>
          <a:xfrm rot="16200000">
            <a:off x="5517490" y="2434133"/>
            <a:ext cx="971093" cy="203911"/>
          </a:xfrm>
          <a:prstGeom prst="flowChartManualOperation">
            <a:avLst/>
          </a:prstGeom>
          <a:solidFill>
            <a:srgbClr val="5531E3"/>
          </a:solidFill>
          <a:ln/>
        </p:spPr>
      </p:sp>
      <p:sp>
        <p:nvSpPr>
          <p:cNvPr id="57" name="Shape 55"/>
          <p:cNvSpPr/>
          <p:nvPr/>
        </p:nvSpPr>
        <p:spPr>
          <a:xfrm rot="5400000">
            <a:off x="10662818" y="4789627"/>
            <a:ext cx="971093" cy="203911"/>
          </a:xfrm>
          <a:prstGeom prst="flowChartManualOperation">
            <a:avLst/>
          </a:prstGeom>
          <a:solidFill>
            <a:srgbClr val="D585DF"/>
          </a:solidFill>
          <a:ln/>
        </p:spPr>
      </p:sp>
      <p:sp>
        <p:nvSpPr>
          <p:cNvPr id="58" name="Shape 56"/>
          <p:cNvSpPr/>
          <p:nvPr/>
        </p:nvSpPr>
        <p:spPr>
          <a:xfrm>
            <a:off x="755294" y="6124651"/>
            <a:ext cx="10682021" cy="0"/>
          </a:xfrm>
          <a:prstGeom prst="line">
            <a:avLst/>
          </a:prstGeom>
          <a:noFill/>
          <a:ln w="12700">
            <a:solidFill>
              <a:srgbClr val="5531E3"/>
            </a:solidFill>
            <a:prstDash val="solid"/>
          </a:ln>
        </p:spPr>
      </p:sp>
      <p:sp>
        <p:nvSpPr>
          <p:cNvPr id="59" name="Text 57"/>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Sepolia · Semaphore V4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867766"/>
            <a:ext cx="1188720" cy="283464"/>
          </a:xfrm>
          <a:prstGeom prst="rect">
            <a:avLst/>
          </a:prstGeom>
          <a:noFill/>
          <a:ln/>
        </p:spPr>
        <p:txBody>
          <a:bodyPr wrap="square" rtlCol="0" anchor="t"/>
          <a:lstStyle/>
          <a:p>
            <a:pPr algn="l" indent="0" marL="0">
              <a:lnSpc>
                <a:spcPct val="150000"/>
              </a:lnSpc>
              <a:buNone/>
            </a:pPr>
            <a:r>
              <a:rPr lang="en-US" sz="1200" spc="100" kern="0" dirty="0">
                <a:solidFill>
                  <a:srgbClr val="C4ECFF"/>
                </a:solidFill>
                <a:latin typeface="DM Sans" pitchFamily="34" charset="0"/>
                <a:ea typeface="DM Sans" pitchFamily="34" charset="-122"/>
                <a:cs typeface="DM Sans" pitchFamily="34" charset="-120"/>
              </a:rPr>
              <a:t>CONTEXTO</a:t>
            </a:r>
            <a:endParaRPr lang="en-US" sz="900" dirty="0"/>
          </a:p>
        </p:txBody>
      </p:sp>
      <p:sp>
        <p:nvSpPr>
          <p:cNvPr id="56" name="Text 54"/>
          <p:cNvSpPr/>
          <p:nvPr/>
        </p:nvSpPr>
        <p:spPr>
          <a:xfrm>
            <a:off x="5749747" y="1232611"/>
            <a:ext cx="4974336" cy="1078992"/>
          </a:xfrm>
          <a:prstGeom prst="rect">
            <a:avLst/>
          </a:prstGeom>
          <a:noFill/>
          <a:ln/>
        </p:spPr>
        <p:txBody>
          <a:bodyPr wrap="square" rtlCol="0" anchor="t"/>
          <a:lstStyle/>
          <a:p>
            <a:pPr algn="l" indent="0" marL="0">
              <a:buNone/>
            </a:pPr>
            <a:r>
              <a:rPr lang="en-US" sz="3600" dirty="0">
                <a:solidFill>
                  <a:srgbClr val="C4ECFF"/>
                </a:solidFill>
                <a:latin typeface="Space Grotesk" pitchFamily="34" charset="0"/>
                <a:ea typeface="Space Grotesk" pitchFamily="34" charset="-122"/>
                <a:cs typeface="Space Grotesk" pitchFamily="34" charset="-120"/>
              </a:rPr>
              <a:t>El problema</a:t>
            </a:r>
            <a:endParaRPr lang="en-US" sz="32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n-US" sz="2000" dirty="0">
                <a:solidFill>
                  <a:srgbClr val="C2C5CC"/>
                </a:solidFill>
                <a:latin typeface="Space Grotesk" pitchFamily="34" charset="0"/>
                <a:ea typeface="Space Grotesk" pitchFamily="34" charset="-122"/>
                <a:cs typeface="Space Grotesk" pitchFamily="34" charset="-120"/>
              </a:rPr>
              <a:t>01</a:t>
            </a:r>
            <a:endParaRPr lang="en-US" sz="2000" dirty="0"/>
          </a:p>
        </p:txBody>
      </p:sp>
      <p:sp>
        <p:nvSpPr>
          <p:cNvPr id="72" name="Text 70"/>
          <p:cNvSpPr/>
          <p:nvPr/>
        </p:nvSpPr>
        <p:spPr>
          <a:xfrm>
            <a:off x="6876288" y="2822753"/>
            <a:ext cx="3840480" cy="365760"/>
          </a:xfrm>
          <a:prstGeom prst="rect">
            <a:avLst/>
          </a:prstGeom>
          <a:noFill/>
          <a:ln/>
        </p:spPr>
        <p:txBody>
          <a:bodyPr wrap="square" rtlCol="0" anchor="t"/>
          <a:lstStyle/>
          <a:p>
            <a:pPr algn="l" indent="0" marL="0">
              <a:buNone/>
            </a:pPr>
            <a:r>
              <a:rPr lang="en-US" sz="1800" dirty="0">
                <a:solidFill>
                  <a:srgbClr val="C4ECFF"/>
                </a:solidFill>
                <a:latin typeface="Space Grotesk" pitchFamily="34" charset="0"/>
                <a:ea typeface="Space Grotesk" pitchFamily="34" charset="-122"/>
                <a:cs typeface="Space Grotesk" pitchFamily="34" charset="-120"/>
              </a:rPr>
              <a:t>Sin verificación de membresía</a:t>
            </a:r>
            <a:endParaRPr lang="en-US" sz="1800" dirty="0"/>
          </a:p>
        </p:txBody>
      </p:sp>
      <p:sp>
        <p:nvSpPr>
          <p:cNvPr id="73" name="Text 71"/>
          <p:cNvSpPr/>
          <p:nvPr/>
        </p:nvSpPr>
        <p:spPr>
          <a:xfrm>
            <a:off x="6876288" y="3130906"/>
            <a:ext cx="3749039" cy="502920"/>
          </a:xfrm>
          <a:prstGeom prst="rect">
            <a:avLst/>
          </a:prstGeom>
          <a:noFill/>
          <a:ln/>
        </p:spPr>
        <p:txBody>
          <a:bodyPr wrap="square" rtlCol="0" anchor="t"/>
          <a:lstStyle/>
          <a:p>
            <a:pPr algn="l" indent="0" marL="0">
              <a:lnSpc>
                <a:spcPct val="150000"/>
              </a:lnSpc>
              <a:buNone/>
            </a:pPr>
            <a:r>
              <a:rPr lang="en-US" sz="1200" dirty="0">
                <a:solidFill>
                  <a:srgbClr val="C4ECFF"/>
                </a:solidFill>
                <a:latin typeface="Roboto" pitchFamily="34" charset="0"/>
                <a:ea typeface="Roboto" pitchFamily="34" charset="-122"/>
                <a:cs typeface="Roboto" pitchFamily="34" charset="-120"/>
              </a:rPr>
              <a:t>Cualquiera puede escribir cualquier nombre en la planilla compartida.</a:t>
            </a:r>
            <a:endParaRPr lang="en-US" sz="9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n-US" sz="2000" dirty="0">
                <a:solidFill>
                  <a:srgbClr val="C2C5CC"/>
                </a:solidFill>
                <a:latin typeface="Space Grotesk" pitchFamily="34" charset="0"/>
                <a:ea typeface="Space Grotesk" pitchFamily="34" charset="-122"/>
                <a:cs typeface="Space Grotesk" pitchFamily="34" charset="-120"/>
              </a:rPr>
              <a:t>02</a:t>
            </a:r>
            <a:endParaRPr lang="en-US" sz="2000" dirty="0"/>
          </a:p>
        </p:txBody>
      </p:sp>
      <p:sp>
        <p:nvSpPr>
          <p:cNvPr id="89" name="Text 87"/>
          <p:cNvSpPr/>
          <p:nvPr/>
        </p:nvSpPr>
        <p:spPr>
          <a:xfrm>
            <a:off x="6876288" y="3909060"/>
            <a:ext cx="3840480" cy="365760"/>
          </a:xfrm>
          <a:prstGeom prst="rect">
            <a:avLst/>
          </a:prstGeom>
          <a:noFill/>
          <a:ln/>
        </p:spPr>
        <p:txBody>
          <a:bodyPr wrap="square" rtlCol="0" anchor="t"/>
          <a:lstStyle/>
          <a:p>
            <a:pPr algn="l" indent="0" marL="0">
              <a:buNone/>
            </a:pPr>
            <a:r>
              <a:rPr lang="en-US" sz="1800" dirty="0">
                <a:solidFill>
                  <a:srgbClr val="C4ECFF"/>
                </a:solidFill>
                <a:latin typeface="Space Grotesk" pitchFamily="34" charset="0"/>
                <a:ea typeface="Space Grotesk" pitchFamily="34" charset="-122"/>
                <a:cs typeface="Space Grotesk" pitchFamily="34" charset="-120"/>
              </a:rPr>
              <a:t>Interés público</a:t>
            </a:r>
            <a:endParaRPr lang="en-US" sz="1800" dirty="0"/>
          </a:p>
        </p:txBody>
      </p:sp>
      <p:sp>
        <p:nvSpPr>
          <p:cNvPr id="90" name="Text 88"/>
          <p:cNvSpPr/>
          <p:nvPr/>
        </p:nvSpPr>
        <p:spPr>
          <a:xfrm>
            <a:off x="6876288" y="4217213"/>
            <a:ext cx="3749039" cy="502920"/>
          </a:xfrm>
          <a:prstGeom prst="rect">
            <a:avLst/>
          </a:prstGeom>
          <a:noFill/>
          <a:ln/>
        </p:spPr>
        <p:txBody>
          <a:bodyPr wrap="square" rtlCol="0" anchor="t"/>
          <a:lstStyle/>
          <a:p>
            <a:pPr algn="l" indent="0" marL="0">
              <a:lnSpc>
                <a:spcPct val="150000"/>
              </a:lnSpc>
              <a:buNone/>
            </a:pPr>
            <a:r>
              <a:rPr lang="en-US" sz="1200" dirty="0">
                <a:solidFill>
                  <a:srgbClr val="C4ECFF"/>
                </a:solidFill>
                <a:latin typeface="Roboto" pitchFamily="34" charset="0"/>
                <a:ea typeface="Roboto" pitchFamily="34" charset="-122"/>
                <a:cs typeface="Roboto" pitchFamily="34" charset="-120"/>
              </a:rPr>
              <a:t>Buscar equipo puede tener un costo social.</a:t>
            </a:r>
            <a:endParaRPr lang="en-US" sz="9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n-US" sz="2000" dirty="0">
                <a:solidFill>
                  <a:srgbClr val="C2C5CC"/>
                </a:solidFill>
                <a:latin typeface="Space Grotesk" pitchFamily="34" charset="0"/>
                <a:ea typeface="Space Grotesk" pitchFamily="34" charset="-122"/>
                <a:cs typeface="Space Grotesk" pitchFamily="34" charset="-120"/>
              </a:rPr>
              <a:t>03</a:t>
            </a:r>
            <a:endParaRPr lang="en-US" sz="2000" dirty="0"/>
          </a:p>
        </p:txBody>
      </p:sp>
      <p:sp>
        <p:nvSpPr>
          <p:cNvPr id="106" name="Text 104"/>
          <p:cNvSpPr/>
          <p:nvPr/>
        </p:nvSpPr>
        <p:spPr>
          <a:xfrm>
            <a:off x="6876288" y="4993538"/>
            <a:ext cx="3840480" cy="365760"/>
          </a:xfrm>
          <a:prstGeom prst="rect">
            <a:avLst/>
          </a:prstGeom>
          <a:noFill/>
          <a:ln/>
        </p:spPr>
        <p:txBody>
          <a:bodyPr wrap="square" rtlCol="0" anchor="t"/>
          <a:lstStyle/>
          <a:p>
            <a:pPr algn="l" indent="0" marL="0">
              <a:buNone/>
            </a:pPr>
            <a:r>
              <a:rPr lang="en-US" sz="1800" dirty="0">
                <a:solidFill>
                  <a:srgbClr val="C4ECFF"/>
                </a:solidFill>
                <a:latin typeface="Space Grotesk" pitchFamily="34" charset="0"/>
                <a:ea typeface="Space Grotesk" pitchFamily="34" charset="-122"/>
                <a:cs typeface="Space Grotesk" pitchFamily="34" charset="-120"/>
              </a:rPr>
              <a:t>Sin registro verificable</a:t>
            </a:r>
            <a:endParaRPr lang="en-US" sz="1800" dirty="0"/>
          </a:p>
        </p:txBody>
      </p:sp>
      <p:sp>
        <p:nvSpPr>
          <p:cNvPr id="107" name="Text 105"/>
          <p:cNvSpPr/>
          <p:nvPr/>
        </p:nvSpPr>
        <p:spPr>
          <a:xfrm>
            <a:off x="6876288" y="5301691"/>
            <a:ext cx="3749039" cy="502920"/>
          </a:xfrm>
          <a:prstGeom prst="rect">
            <a:avLst/>
          </a:prstGeom>
          <a:noFill/>
          <a:ln/>
        </p:spPr>
        <p:txBody>
          <a:bodyPr wrap="square" rtlCol="0" anchor="t"/>
          <a:lstStyle/>
          <a:p>
            <a:pPr algn="l" indent="0" marL="0">
              <a:lnSpc>
                <a:spcPct val="150000"/>
              </a:lnSpc>
              <a:buNone/>
            </a:pPr>
            <a:r>
              <a:rPr lang="en-US" sz="1200" dirty="0">
                <a:solidFill>
                  <a:srgbClr val="C4ECFF"/>
                </a:solidFill>
                <a:latin typeface="Roboto" pitchFamily="34" charset="0"/>
                <a:ea typeface="Roboto" pitchFamily="34" charset="-122"/>
                <a:cs typeface="Roboto" pitchFamily="34" charset="-120"/>
              </a:rPr>
              <a:t>Los acuerdos viven en chats o celdas, sin historial firmado.</a:t>
            </a:r>
            <a:endParaRPr lang="en-US" sz="9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960120" y="3063240"/>
            <a:ext cx="2697480" cy="2194560"/>
          </a:xfrm>
          <a:prstGeom prst="rect">
            <a:avLst/>
          </a:prstGeom>
          <a:noFill/>
          <a:ln/>
        </p:spPr>
        <p:txBody>
          <a:bodyPr wrap="square" rtlCol="0" anchor="t"/>
          <a:lstStyle/>
          <a:p>
            <a:pPr algn="l" indent="0" marL="0">
              <a:lnSpc>
                <a:spcPct val="115000"/>
              </a:lnSpc>
              <a:buNone/>
            </a:pPr>
            <a:r>
              <a:rPr lang="en-US" sz="1200" dirty="0" spc="200">
                <a:solidFill>
                  <a:srgbClr val="D585DF"/>
                </a:solidFill>
                <a:latin typeface="Space Grotesk" pitchFamily="34" charset="0"/>
                <a:ea typeface="Space Grotesk" pitchFamily="34" charset="-122"/>
                <a:cs typeface="Space Grotesk" pitchFamily="34" charset="-120"/>
              </a:rPr>
              <a:t>HOY</a:t>
            </a:r>
            <a:endParaRPr lang="en-US" sz="1400" dirty="0"/>
          </a:p>
          <a:p>
            <a:pPr algn="l" indent="0" marL="0">
              <a:lnSpc>
                <a:spcPct val="115000"/>
              </a:lnSpc>
              <a:spcBef>
                <a:spcPts val="1000"/>
              </a:spcBef>
              <a:buNone/>
            </a:pPr>
            <a:r>
              <a:rPr lang="en-US" sz="2200" dirty="0">
                <a:solidFill>
                  <a:srgbClr val="EDF0F5"/>
                </a:solidFill>
                <a:latin typeface="Space Grotesk" pitchFamily="34" charset="0"/>
                <a:ea typeface="Space Grotesk" pitchFamily="34" charset="-122"/>
                <a:cs typeface="Space Grotesk" pitchFamily="34" charset="-120"/>
              </a:rPr>
              <a:t>Los equipos del curso se arman en una planilla compartida.</a:t>
            </a:r>
            <a:endParaRPr lang="en-US" sz="22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5345278" y="2144878"/>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4936388" y="1735988"/>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4527499" y="1327099"/>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4118610" y="918210"/>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3709721" y="509321"/>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3709721" y="509321"/>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3709721" y="509321"/>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3709721" y="509321"/>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3709721" y="509321"/>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3709721" y="509321"/>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3709721" y="509321"/>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6045098" y="1871777"/>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5853989" y="1680667"/>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5662879" y="1489558"/>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5471770" y="1298448"/>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5280660" y="1107338"/>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5280660" y="1107338"/>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5280660" y="1107338"/>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5280660" y="1107338"/>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5280660" y="1107338"/>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5280660" y="1107338"/>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5280660" y="1107338"/>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841248" y="685800"/>
            <a:ext cx="1828800" cy="283464"/>
          </a:xfrm>
          <a:prstGeom prst="rect">
            <a:avLst/>
          </a:prstGeom>
          <a:noFill/>
          <a:ln/>
        </p:spPr>
        <p:txBody>
          <a:bodyPr wrap="square" rtlCol="0" anchor="t"/>
          <a:lstStyle/>
          <a:p>
            <a:pPr algn="l" indent="0" marL="0">
              <a:lnSpc>
                <a:spcPct val="150000"/>
              </a:lnSpc>
              <a:buNone/>
            </a:pPr>
            <a:r>
              <a:rPr lang="en-US" sz="1200" spc="100" kern="0" dirty="0">
                <a:solidFill>
                  <a:srgbClr val="C4ECFF"/>
                </a:solidFill>
                <a:latin typeface="DM Sans" pitchFamily="34" charset="0"/>
                <a:ea typeface="DM Sans" pitchFamily="34" charset="-122"/>
                <a:cs typeface="DM Sans" pitchFamily="34" charset="-120"/>
              </a:rPr>
              <a:t>MOTIVACIÓN</a:t>
            </a:r>
            <a:endParaRPr lang="en-US" sz="1100" dirty="0"/>
          </a:p>
        </p:txBody>
      </p:sp>
      <p:sp>
        <p:nvSpPr>
          <p:cNvPr id="56" name="Text 54"/>
          <p:cNvSpPr/>
          <p:nvPr/>
        </p:nvSpPr>
        <p:spPr>
          <a:xfrm>
            <a:off x="841248" y="987552"/>
            <a:ext cx="5120640" cy="822960"/>
          </a:xfrm>
          <a:prstGeom prst="rect">
            <a:avLst/>
          </a:prstGeom>
          <a:noFill/>
          <a:ln/>
        </p:spPr>
        <p:txBody>
          <a:bodyPr wrap="square" rtlCol="0" anchor="t"/>
          <a:lstStyle/>
          <a:p>
            <a:pPr algn="l" indent="0" marL="0">
              <a:buNone/>
            </a:pPr>
            <a:r>
              <a:rPr lang="en-US" sz="3600" dirty="0">
                <a:solidFill>
                  <a:srgbClr val="C4ECFF"/>
                </a:solidFill>
                <a:latin typeface="Space Grotesk" pitchFamily="34" charset="0"/>
                <a:ea typeface="Space Grotesk" pitchFamily="34" charset="-122"/>
                <a:cs typeface="Space Grotesk" pitchFamily="34" charset="-120"/>
              </a:rPr>
              <a:t>Por qué blockchain</a:t>
            </a:r>
            <a:endParaRPr lang="en-US" sz="3600" dirty="0"/>
          </a:p>
        </p:txBody>
      </p:sp>
      <p:sp>
        <p:nvSpPr>
          <p:cNvPr id="57" name="Text 55"/>
          <p:cNvSpPr/>
          <p:nvPr/>
        </p:nvSpPr>
        <p:spPr>
          <a:xfrm>
            <a:off x="841248" y="1783080"/>
            <a:ext cx="5486400" cy="640080"/>
          </a:xfrm>
          <a:prstGeom prst="rect">
            <a:avLst/>
          </a:prstGeom>
          <a:noFill/>
          <a:ln/>
        </p:spPr>
        <p:txBody>
          <a:bodyPr wrap="square" rtlCol="0" anchor="t"/>
          <a:lstStyle/>
          <a:p>
            <a:pPr algn="l" indent="0" marL="0">
              <a:lnSpc>
                <a:spcPct val="130000"/>
              </a:lnSpc>
              <a:buNone/>
            </a:pPr>
            <a:r>
              <a:rPr lang="en-US" sz="1400" dirty="0">
                <a:solidFill>
                  <a:srgbClr val="C2C5CC"/>
                </a:solidFill>
                <a:latin typeface="DM Sans" pitchFamily="34" charset="0"/>
                <a:ea typeface="DM Sans" pitchFamily="34" charset="-122"/>
                <a:cs typeface="DM Sans" pitchFamily="34" charset="-120"/>
              </a:rPr>
              <a:t>Un servidor central solo puede prometer las reglas. Un contrato las hace cumplir, y cualquiera puede verificar estado y eventos.</a:t>
            </a:r>
            <a:endParaRPr lang="en-US" sz="1400" dirty="0"/>
          </a:p>
        </p:txBody>
      </p:sp>
      <p:sp>
        <p:nvSpPr>
          <p:cNvPr id="58" name="Shape 56"/>
          <p:cNvSpPr/>
          <p:nvPr/>
        </p:nvSpPr>
        <p:spPr>
          <a:xfrm>
            <a:off x="931774" y="2423160"/>
            <a:ext cx="1558700" cy="513471"/>
          </a:xfrm>
          <a:custGeom>
            <a:avLst/>
            <a:gdLst/>
            <a:ahLst/>
            <a:cxnLst/>
            <a:rect l="l" t="t" r="r" b="b"/>
            <a:pathLst>
              <a:path w="1558700" h="386862">
                <a:moveTo>
                  <a:pt x="0" y="0"/>
                </a:moveTo>
                <a:lnTo>
                  <a:pt x="1558700" y="0"/>
                </a:lnTo>
                <a:lnTo>
                  <a:pt x="0" y="386862"/>
                </a:lnTo>
                <a:close/>
              </a:path>
            </a:pathLst>
          </a:custGeom>
          <a:solidFill>
            <a:srgbClr val="273DBB"/>
          </a:solidFill>
          <a:ln/>
        </p:spPr>
      </p:sp>
      <p:sp>
        <p:nvSpPr>
          <p:cNvPr id="59" name="Shape 57"/>
          <p:cNvSpPr/>
          <p:nvPr/>
        </p:nvSpPr>
        <p:spPr>
          <a:xfrm>
            <a:off x="931774" y="2423160"/>
            <a:ext cx="3117401" cy="1026941"/>
          </a:xfrm>
          <a:custGeom>
            <a:avLst/>
            <a:gdLst/>
            <a:ahLst/>
            <a:cxnLst/>
            <a:rect l="l" t="t" r="r" b="b"/>
            <a:pathLst>
              <a:path w="3117401" h="773723">
                <a:moveTo>
                  <a:pt x="467610" y="0"/>
                </a:moveTo>
                <a:lnTo>
                  <a:pt x="3117401" y="0"/>
                </a:lnTo>
                <a:lnTo>
                  <a:pt x="0" y="773723"/>
                </a:lnTo>
                <a:lnTo>
                  <a:pt x="0" y="116058"/>
                </a:lnTo>
                <a:close/>
              </a:path>
            </a:pathLst>
          </a:custGeom>
          <a:solidFill>
            <a:srgbClr val="253AB6"/>
          </a:solidFill>
          <a:ln/>
        </p:spPr>
      </p:sp>
      <p:sp>
        <p:nvSpPr>
          <p:cNvPr id="60" name="Shape 58"/>
          <p:cNvSpPr/>
          <p:nvPr/>
        </p:nvSpPr>
        <p:spPr>
          <a:xfrm>
            <a:off x="931774" y="2423160"/>
            <a:ext cx="4676101" cy="1540412"/>
          </a:xfrm>
          <a:custGeom>
            <a:avLst/>
            <a:gdLst/>
            <a:ahLst/>
            <a:cxnLst/>
            <a:rect l="l" t="t" r="r" b="b"/>
            <a:pathLst>
              <a:path w="4676101" h="1160585">
                <a:moveTo>
                  <a:pt x="2026310" y="0"/>
                </a:moveTo>
                <a:lnTo>
                  <a:pt x="4676101" y="0"/>
                </a:lnTo>
                <a:lnTo>
                  <a:pt x="0" y="1160585"/>
                </a:lnTo>
                <a:lnTo>
                  <a:pt x="0" y="502920"/>
                </a:lnTo>
                <a:close/>
              </a:path>
            </a:pathLst>
          </a:custGeom>
          <a:solidFill>
            <a:srgbClr val="2437B1"/>
          </a:solidFill>
          <a:ln/>
        </p:spPr>
      </p:sp>
      <p:sp>
        <p:nvSpPr>
          <p:cNvPr id="61" name="Shape 59"/>
          <p:cNvSpPr/>
          <p:nvPr/>
        </p:nvSpPr>
        <p:spPr>
          <a:xfrm>
            <a:off x="931774" y="2423160"/>
            <a:ext cx="6234801" cy="2053882"/>
          </a:xfrm>
          <a:custGeom>
            <a:avLst/>
            <a:gdLst/>
            <a:ahLst/>
            <a:cxnLst/>
            <a:rect l="l" t="t" r="r" b="b"/>
            <a:pathLst>
              <a:path w="6234801" h="1547446">
                <a:moveTo>
                  <a:pt x="3585011" y="0"/>
                </a:moveTo>
                <a:lnTo>
                  <a:pt x="6234801" y="0"/>
                </a:lnTo>
                <a:lnTo>
                  <a:pt x="0" y="1547446"/>
                </a:lnTo>
                <a:lnTo>
                  <a:pt x="0" y="889782"/>
                </a:lnTo>
                <a:close/>
              </a:path>
            </a:pathLst>
          </a:custGeom>
          <a:solidFill>
            <a:srgbClr val="2234AC"/>
          </a:solidFill>
          <a:ln/>
        </p:spPr>
      </p:sp>
      <p:sp>
        <p:nvSpPr>
          <p:cNvPr id="62" name="Shape 60"/>
          <p:cNvSpPr/>
          <p:nvPr/>
        </p:nvSpPr>
        <p:spPr>
          <a:xfrm>
            <a:off x="931774" y="2423160"/>
            <a:ext cx="7793502" cy="2567353"/>
          </a:xfrm>
          <a:custGeom>
            <a:avLst/>
            <a:gdLst/>
            <a:ahLst/>
            <a:cxnLst/>
            <a:rect l="l" t="t" r="r" b="b"/>
            <a:pathLst>
              <a:path w="7793502" h="1934308">
                <a:moveTo>
                  <a:pt x="5143711" y="0"/>
                </a:moveTo>
                <a:lnTo>
                  <a:pt x="7793502" y="0"/>
                </a:lnTo>
                <a:lnTo>
                  <a:pt x="0" y="1934308"/>
                </a:lnTo>
                <a:lnTo>
                  <a:pt x="0" y="1276643"/>
                </a:lnTo>
                <a:close/>
              </a:path>
            </a:pathLst>
          </a:custGeom>
          <a:solidFill>
            <a:srgbClr val="2032A7"/>
          </a:solidFill>
          <a:ln/>
        </p:spPr>
      </p:sp>
      <p:sp>
        <p:nvSpPr>
          <p:cNvPr id="63" name="Shape 61"/>
          <p:cNvSpPr/>
          <p:nvPr/>
        </p:nvSpPr>
        <p:spPr>
          <a:xfrm>
            <a:off x="931774" y="2423160"/>
            <a:ext cx="9352202" cy="3021265"/>
          </a:xfrm>
          <a:custGeom>
            <a:avLst/>
            <a:gdLst/>
            <a:ahLst/>
            <a:cxnLst/>
            <a:rect l="l" t="t" r="r" b="b"/>
            <a:pathLst>
              <a:path w="9352202" h="2276296">
                <a:moveTo>
                  <a:pt x="6702411" y="0"/>
                </a:moveTo>
                <a:lnTo>
                  <a:pt x="9352202" y="0"/>
                </a:lnTo>
                <a:lnTo>
                  <a:pt x="180796" y="2276296"/>
                </a:lnTo>
                <a:lnTo>
                  <a:pt x="0" y="2095500"/>
                </a:lnTo>
                <a:lnTo>
                  <a:pt x="0" y="1663505"/>
                </a:lnTo>
                <a:close/>
              </a:path>
            </a:pathLst>
          </a:custGeom>
          <a:solidFill>
            <a:srgbClr val="1E2FA2"/>
          </a:solidFill>
          <a:ln/>
        </p:spPr>
      </p:sp>
      <p:sp>
        <p:nvSpPr>
          <p:cNvPr id="64" name="Shape 62"/>
          <p:cNvSpPr/>
          <p:nvPr/>
        </p:nvSpPr>
        <p:spPr>
          <a:xfrm>
            <a:off x="931774" y="2423160"/>
            <a:ext cx="9950756" cy="3337560"/>
          </a:xfrm>
          <a:custGeom>
            <a:avLst/>
            <a:gdLst/>
            <a:ahLst/>
            <a:cxnLst/>
            <a:rect l="l" t="t" r="r" b="b"/>
            <a:pathLst>
              <a:path w="9950756" h="2514600">
                <a:moveTo>
                  <a:pt x="8261112" y="0"/>
                </a:moveTo>
                <a:lnTo>
                  <a:pt x="9712452" y="0"/>
                </a:lnTo>
                <a:lnTo>
                  <a:pt x="9950756" y="238304"/>
                </a:lnTo>
                <a:lnTo>
                  <a:pt x="779350" y="2514600"/>
                </a:lnTo>
                <a:lnTo>
                  <a:pt x="419100" y="2514600"/>
                </a:lnTo>
                <a:lnTo>
                  <a:pt x="0" y="2095500"/>
                </a:lnTo>
                <a:lnTo>
                  <a:pt x="0" y="2050366"/>
                </a:lnTo>
                <a:close/>
              </a:path>
            </a:pathLst>
          </a:custGeom>
          <a:solidFill>
            <a:srgbClr val="1D2C9E"/>
          </a:solidFill>
          <a:ln/>
        </p:spPr>
      </p:sp>
      <p:sp>
        <p:nvSpPr>
          <p:cNvPr id="65" name="Shape 63"/>
          <p:cNvSpPr/>
          <p:nvPr/>
        </p:nvSpPr>
        <p:spPr>
          <a:xfrm>
            <a:off x="1205551" y="2451494"/>
            <a:ext cx="9857774" cy="3309225"/>
          </a:xfrm>
          <a:custGeom>
            <a:avLst/>
            <a:gdLst/>
            <a:ahLst/>
            <a:cxnLst/>
            <a:rect l="l" t="t" r="r" b="b"/>
            <a:pathLst>
              <a:path w="9857774" h="2493252">
                <a:moveTo>
                  <a:pt x="9460022" y="0"/>
                </a:moveTo>
                <a:lnTo>
                  <a:pt x="9857774" y="397752"/>
                </a:lnTo>
                <a:lnTo>
                  <a:pt x="9857774" y="558945"/>
                </a:lnTo>
                <a:lnTo>
                  <a:pt x="2064273" y="2493252"/>
                </a:lnTo>
                <a:lnTo>
                  <a:pt x="145322" y="2493252"/>
                </a:lnTo>
                <a:lnTo>
                  <a:pt x="0" y="2347930"/>
                </a:lnTo>
                <a:close/>
              </a:path>
            </a:pathLst>
          </a:custGeom>
          <a:solidFill>
            <a:srgbClr val="1B2999"/>
          </a:solidFill>
          <a:ln/>
        </p:spPr>
      </p:sp>
      <p:sp>
        <p:nvSpPr>
          <p:cNvPr id="66" name="Shape 64"/>
          <p:cNvSpPr/>
          <p:nvPr/>
        </p:nvSpPr>
        <p:spPr>
          <a:xfrm>
            <a:off x="2178734" y="2862865"/>
            <a:ext cx="8884592" cy="2897854"/>
          </a:xfrm>
          <a:custGeom>
            <a:avLst/>
            <a:gdLst/>
            <a:ahLst/>
            <a:cxnLst/>
            <a:rect l="l" t="t" r="r" b="b"/>
            <a:pathLst>
              <a:path w="8884592" h="2183315">
                <a:moveTo>
                  <a:pt x="8796776" y="0"/>
                </a:moveTo>
                <a:lnTo>
                  <a:pt x="8884592" y="87815"/>
                </a:lnTo>
                <a:lnTo>
                  <a:pt x="8884592" y="635869"/>
                </a:lnTo>
                <a:lnTo>
                  <a:pt x="2649791" y="2183315"/>
                </a:lnTo>
                <a:lnTo>
                  <a:pt x="0" y="2183315"/>
                </a:lnTo>
                <a:close/>
              </a:path>
            </a:pathLst>
          </a:custGeom>
          <a:solidFill>
            <a:srgbClr val="192694"/>
          </a:solidFill>
          <a:ln/>
        </p:spPr>
      </p:sp>
      <p:sp>
        <p:nvSpPr>
          <p:cNvPr id="67" name="Shape 65"/>
          <p:cNvSpPr/>
          <p:nvPr/>
        </p:nvSpPr>
        <p:spPr>
          <a:xfrm>
            <a:off x="3737434" y="3347408"/>
            <a:ext cx="7325891" cy="2413311"/>
          </a:xfrm>
          <a:custGeom>
            <a:avLst/>
            <a:gdLst/>
            <a:ahLst/>
            <a:cxnLst/>
            <a:rect l="l" t="t" r="r" b="b"/>
            <a:pathLst>
              <a:path w="7325891" h="1818249">
                <a:moveTo>
                  <a:pt x="7325891" y="0"/>
                </a:moveTo>
                <a:lnTo>
                  <a:pt x="7325891" y="657665"/>
                </a:lnTo>
                <a:lnTo>
                  <a:pt x="2649791" y="1818249"/>
                </a:lnTo>
                <a:lnTo>
                  <a:pt x="0" y="1818249"/>
                </a:lnTo>
                <a:close/>
              </a:path>
            </a:pathLst>
          </a:custGeom>
          <a:solidFill>
            <a:srgbClr val="17248F"/>
          </a:solidFill>
          <a:ln/>
        </p:spPr>
      </p:sp>
      <p:sp>
        <p:nvSpPr>
          <p:cNvPr id="68" name="Shape 66"/>
          <p:cNvSpPr/>
          <p:nvPr/>
        </p:nvSpPr>
        <p:spPr>
          <a:xfrm>
            <a:off x="5296134" y="3860878"/>
            <a:ext cx="5767191" cy="1899841"/>
          </a:xfrm>
          <a:custGeom>
            <a:avLst/>
            <a:gdLst/>
            <a:ahLst/>
            <a:cxnLst/>
            <a:rect l="l" t="t" r="r" b="b"/>
            <a:pathLst>
              <a:path w="5767191" h="1431388">
                <a:moveTo>
                  <a:pt x="5767191" y="0"/>
                </a:moveTo>
                <a:lnTo>
                  <a:pt x="5767191" y="657665"/>
                </a:lnTo>
                <a:lnTo>
                  <a:pt x="2649791" y="1431388"/>
                </a:lnTo>
                <a:lnTo>
                  <a:pt x="0" y="1431388"/>
                </a:lnTo>
                <a:close/>
              </a:path>
            </a:pathLst>
          </a:custGeom>
          <a:solidFill>
            <a:srgbClr val="15218A"/>
          </a:solidFill>
          <a:ln/>
        </p:spPr>
      </p:sp>
      <p:sp>
        <p:nvSpPr>
          <p:cNvPr id="69" name="Shape 67"/>
          <p:cNvSpPr/>
          <p:nvPr/>
        </p:nvSpPr>
        <p:spPr>
          <a:xfrm>
            <a:off x="6854835" y="4374349"/>
            <a:ext cx="4208491" cy="1386370"/>
          </a:xfrm>
          <a:custGeom>
            <a:avLst/>
            <a:gdLst/>
            <a:ahLst/>
            <a:cxnLst/>
            <a:rect l="l" t="t" r="r" b="b"/>
            <a:pathLst>
              <a:path w="4208491" h="1044526">
                <a:moveTo>
                  <a:pt x="4208491" y="0"/>
                </a:moveTo>
                <a:lnTo>
                  <a:pt x="4208491" y="657665"/>
                </a:lnTo>
                <a:lnTo>
                  <a:pt x="2649791" y="1044526"/>
                </a:lnTo>
                <a:lnTo>
                  <a:pt x="0" y="1044526"/>
                </a:lnTo>
                <a:close/>
              </a:path>
            </a:pathLst>
          </a:custGeom>
          <a:solidFill>
            <a:srgbClr val="141E85"/>
          </a:solidFill>
          <a:ln/>
        </p:spPr>
      </p:sp>
      <p:sp>
        <p:nvSpPr>
          <p:cNvPr id="70" name="Shape 68"/>
          <p:cNvSpPr/>
          <p:nvPr/>
        </p:nvSpPr>
        <p:spPr>
          <a:xfrm>
            <a:off x="8413535" y="4887819"/>
            <a:ext cx="2649791" cy="872900"/>
          </a:xfrm>
          <a:custGeom>
            <a:avLst/>
            <a:gdLst/>
            <a:ahLst/>
            <a:cxnLst/>
            <a:rect l="l" t="t" r="r" b="b"/>
            <a:pathLst>
              <a:path w="2649791" h="657665">
                <a:moveTo>
                  <a:pt x="2649791" y="0"/>
                </a:moveTo>
                <a:lnTo>
                  <a:pt x="2649791" y="657665"/>
                </a:lnTo>
                <a:lnTo>
                  <a:pt x="0" y="657665"/>
                </a:lnTo>
                <a:close/>
              </a:path>
            </a:pathLst>
          </a:custGeom>
          <a:solidFill>
            <a:srgbClr val="121B80"/>
          </a:solidFill>
          <a:ln/>
        </p:spPr>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1097280" y="2606040"/>
          <a:ext cx="9784080" cy="3108960"/>
        </p:xfrm>
        <a:graphic>
          <a:graphicData uri="http://schemas.openxmlformats.org/drawingml/2006/table">
            <a:tbl>
              <a:tblPr/>
              <a:tblGrid>
                <a:gridCol w="2788920"/>
                <a:gridCol w="2606040"/>
                <a:gridCol w="4389120"/>
              </a:tblGrid>
              <a:tr h="384048">
                <a:tc>
                  <a:txBody>
                    <a:bodyPr/>
                    <a:lstStyle/>
                    <a:p>
                      <a:pPr indent="0" marL="0">
                        <a:buNone/>
                      </a:pPr>
                      <a:r>
                        <a:rPr lang="es-AR" sz="1200" b="1" spc="100" kern="0" dirty="0">
                          <a:solidFill>
                            <a:srgbClr val="D585DF"/>
                          </a:solidFill>
                          <a:latin typeface="DM Sans" pitchFamily="34" charset="0"/>
                          <a:ea typeface="DM Sans" pitchFamily="34" charset="-122"/>
                          <a:cs typeface="DM Sans" pitchFamily="34" charset="-120"/>
                        </a:rPr>
                        <a:t>POR QUÉ</a:t>
                      </a:r>
                      <a:endParaRPr lang="en-US" sz="12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200" b="1" spc="100" kern="0" dirty="0">
                          <a:solidFill>
                            <a:srgbClr val="D585DF"/>
                          </a:solidFill>
                          <a:latin typeface="DM Sans" pitchFamily="34" charset="0"/>
                          <a:ea typeface="DM Sans" pitchFamily="34" charset="-122"/>
                          <a:cs typeface="DM Sans" pitchFamily="34" charset="-120"/>
                        </a:rPr>
                        <a:t>OFF-CHAIN</a:t>
                      </a:r>
                      <a:endParaRPr lang="en-US" sz="12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200" b="1" spc="100" kern="0" dirty="0">
                          <a:solidFill>
                            <a:srgbClr val="D585DF"/>
                          </a:solidFill>
                          <a:latin typeface="DM Sans" pitchFamily="34" charset="0"/>
                          <a:ea typeface="DM Sans" pitchFamily="34" charset="-122"/>
                          <a:cs typeface="DM Sans" pitchFamily="34" charset="-120"/>
                        </a:rPr>
                        <a:t>ON-CHAIN (TEAMUP ZK)</a:t>
                      </a:r>
                      <a:endParaRPr lang="en-US" sz="12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r>
              <a:tr h="530352">
                <a:tc>
                  <a:txBody>
                    <a:bodyPr/>
                    <a:lstStyle/>
                    <a:p>
                      <a:pPr indent="0" marL="0">
                        <a:buNone/>
                      </a:pPr>
                      <a:r>
                        <a:rPr lang="es-AR" sz="1400" b="1" dirty="0">
                          <a:solidFill>
                            <a:srgbClr val="C2C5CC"/>
                          </a:solidFill>
                          <a:latin typeface="Space Grotesk" pitchFamily="34" charset="0"/>
                          <a:ea typeface="Space Grotesk" pitchFamily="34" charset="-122"/>
                          <a:cs typeface="Space Grotesk" pitchFamily="34" charset="-120"/>
                        </a:rPr>
                        <a:t>Sin confiar en el operador</a:t>
                      </a:r>
                      <a:endParaRPr lang="en-US" sz="1500" dirty="0">
                        <a:latin typeface="Space Grotesk" charset="0"/>
                        <a:ea typeface="Space Grotesk" charset="0"/>
                        <a:cs typeface="Space Grotesk"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2C5CC"/>
                          </a:solidFill>
                          <a:latin typeface="DM Sans" pitchFamily="34" charset="0"/>
                          <a:ea typeface="DM Sans" pitchFamily="34" charset="-122"/>
                          <a:cs typeface="DM Sans" pitchFamily="34" charset="-120"/>
                        </a:rPr>
                        <a:t>Confiás en quien administra el servidor</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4ECFF"/>
                          </a:solidFill>
                          <a:latin typeface="DM Sans" pitchFamily="34" charset="0"/>
                          <a:ea typeface="DM Sans" pitchFamily="34" charset="-122"/>
                          <a:cs typeface="DM Sans" pitchFamily="34" charset="-120"/>
                        </a:rPr>
                        <a:t>El contrato verifica la prueba ZK contra el grupo del curso</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r>
              <a:tr h="530352">
                <a:tc>
                  <a:txBody>
                    <a:bodyPr/>
                    <a:lstStyle/>
                    <a:p>
                      <a:pPr indent="0" marL="0">
                        <a:buNone/>
                      </a:pPr>
                      <a:r>
                        <a:rPr lang="es-AR" sz="1400" b="1" dirty="0">
                          <a:solidFill>
                            <a:srgbClr val="C2C5CC"/>
                          </a:solidFill>
                          <a:latin typeface="Space Grotesk" pitchFamily="34" charset="0"/>
                          <a:ea typeface="Space Grotesk" pitchFamily="34" charset="-122"/>
                          <a:cs typeface="Space Grotesk" pitchFamily="34" charset="-120"/>
                        </a:rPr>
                        <a:t>Anti-Sybil y anonimato</a:t>
                      </a:r>
                      <a:endParaRPr lang="en-US" sz="1500" dirty="0">
                        <a:latin typeface="Space Grotesk" charset="0"/>
                        <a:ea typeface="Space Grotesk" charset="0"/>
                        <a:cs typeface="Space Grotesk"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2C5CC"/>
                          </a:solidFill>
                          <a:latin typeface="DM Sans" pitchFamily="34" charset="0"/>
                          <a:ea typeface="DM Sans" pitchFamily="34" charset="-122"/>
                          <a:cs typeface="DM Sans" pitchFamily="34" charset="-120"/>
                        </a:rPr>
                        <a:t>Otro nombre basta; el servidor correlaciona</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4ECFF"/>
                          </a:solidFill>
                          <a:latin typeface="DM Sans" pitchFamily="34" charset="0"/>
                          <a:ea typeface="DM Sans" pitchFamily="34" charset="-122"/>
                          <a:cs typeface="DM Sans" pitchFamily="34" charset="-120"/>
                        </a:rPr>
                        <a:t>Nullifier por (identidad, equipo); el contrato nunca ve la identidad</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r>
              <a:tr h="530352">
                <a:tc>
                  <a:txBody>
                    <a:bodyPr/>
                    <a:lstStyle/>
                    <a:p>
                      <a:pPr indent="0" marL="0">
                        <a:buNone/>
                      </a:pPr>
                      <a:r>
                        <a:rPr lang="es-AR" sz="1400" b="1" dirty="0">
                          <a:solidFill>
                            <a:srgbClr val="C2C5CC"/>
                          </a:solidFill>
                          <a:latin typeface="Space Grotesk" pitchFamily="34" charset="0"/>
                          <a:ea typeface="Space Grotesk" pitchFamily="34" charset="-122"/>
                          <a:cs typeface="Space Grotesk" pitchFamily="34" charset="-120"/>
                        </a:rPr>
                        <a:t>Auditabilidad</a:t>
                      </a:r>
                      <a:endParaRPr lang="en-US" sz="1500" dirty="0">
                        <a:latin typeface="Space Grotesk" charset="0"/>
                        <a:ea typeface="Space Grotesk" charset="0"/>
                        <a:cs typeface="Space Grotesk"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2C5CC"/>
                          </a:solidFill>
                          <a:latin typeface="DM Sans" pitchFamily="34" charset="0"/>
                          <a:ea typeface="DM Sans" pitchFamily="34" charset="-122"/>
                          <a:cs typeface="DM Sans" pitchFamily="34" charset="-120"/>
                        </a:rPr>
                        <a:t>Logs privados y editables</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4ECFF"/>
                          </a:solidFill>
                          <a:latin typeface="DM Sans" pitchFamily="34" charset="0"/>
                          <a:ea typeface="DM Sans" pitchFamily="34" charset="-122"/>
                          <a:cs typeface="DM Sans" pitchFamily="34" charset="-120"/>
                        </a:rPr>
                        <a:t>Eventos en cada cambio de estado y código verificado en Etherscan</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r>
              <a:tr h="530352">
                <a:tc>
                  <a:txBody>
                    <a:bodyPr/>
                    <a:lstStyle/>
                    <a:p>
                      <a:pPr indent="0" marL="0">
                        <a:buNone/>
                      </a:pPr>
                      <a:r>
                        <a:rPr lang="es-AR" sz="1400" b="1" dirty="0">
                          <a:solidFill>
                            <a:srgbClr val="C2C5CC"/>
                          </a:solidFill>
                          <a:latin typeface="Space Grotesk" pitchFamily="34" charset="0"/>
                          <a:ea typeface="Space Grotesk" pitchFamily="34" charset="-122"/>
                          <a:cs typeface="Space Grotesk" pitchFamily="34" charset="-120"/>
                        </a:rPr>
                        <a:t>Interoperabilidad</a:t>
                      </a:r>
                      <a:endParaRPr lang="en-US" sz="1500" dirty="0">
                        <a:latin typeface="Space Grotesk" charset="0"/>
                        <a:ea typeface="Space Grotesk" charset="0"/>
                        <a:cs typeface="Space Grotesk"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2C5CC"/>
                          </a:solidFill>
                          <a:latin typeface="DM Sans" pitchFamily="34" charset="0"/>
                          <a:ea typeface="DM Sans" pitchFamily="34" charset="-122"/>
                          <a:cs typeface="DM Sans" pitchFamily="34" charset="-120"/>
                        </a:rPr>
                        <a:t>Credencial atada a una plataforma</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c>
                  <a:txBody>
                    <a:bodyPr/>
                    <a:lstStyle/>
                    <a:p>
                      <a:pPr indent="0" marL="0">
                        <a:buNone/>
                      </a:pPr>
                      <a:r>
                        <a:rPr lang="es-AR" sz="1400" dirty="0">
                          <a:solidFill>
                            <a:srgbClr val="C4ECFF"/>
                          </a:solidFill>
                          <a:latin typeface="DM Sans" pitchFamily="34" charset="0"/>
                          <a:ea typeface="DM Sans" pitchFamily="34" charset="-122"/>
                          <a:cs typeface="DM Sans" pitchFamily="34" charset="-120"/>
                        </a:rPr>
                        <a:t>NFT ERC-721 estándar: cualquier wallet o contrato lee ownerOf; reutiliza Semaphore (PSE)</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9525" cap="flat" cmpd="sng" algn="ctr">
                      <a:solidFill>
                        <a:srgbClr val="5531E3"/>
                      </a:solidFill>
                      <a:prstDash val="solid"/>
                      <a:round/>
                      <a:headEnd type="none" w="med" len="med"/>
                      <a:tailEnd type="none" w="med" len="med"/>
                    </a:lnB>
                  </a:tcPr>
                </a:tc>
              </a:tr>
              <a:tr h="530352">
                <a:tc>
                  <a:txBody>
                    <a:bodyPr/>
                    <a:lstStyle/>
                    <a:p>
                      <a:pPr indent="0" marL="0">
                        <a:buNone/>
                      </a:pPr>
                      <a:r>
                        <a:rPr lang="es-AR" sz="1400" b="1" dirty="0">
                          <a:solidFill>
                            <a:srgbClr val="C2C5CC"/>
                          </a:solidFill>
                          <a:latin typeface="Space Grotesk" pitchFamily="34" charset="0"/>
                          <a:ea typeface="Space Grotesk" pitchFamily="34" charset="-122"/>
                          <a:cs typeface="Space Grotesk" pitchFamily="34" charset="-120"/>
                        </a:rPr>
                        <a:t>Registro final inmutable</a:t>
                      </a:r>
                      <a:endParaRPr lang="en-US" sz="1500" dirty="0">
                        <a:latin typeface="Space Grotesk" charset="0"/>
                        <a:ea typeface="Space Grotesk" charset="0"/>
                        <a:cs typeface="Space Grotesk" charset="0"/>
                      </a:endParaRPr>
                    </a:p>
                  </a:txBody>
                  <a:tcPr marL="146304" marR="91440"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s-AR" sz="1400" dirty="0">
                          <a:solidFill>
                            <a:srgbClr val="C2C5CC"/>
                          </a:solidFill>
                          <a:latin typeface="DM Sans" pitchFamily="34" charset="0"/>
                          <a:ea typeface="DM Sans" pitchFamily="34" charset="-122"/>
                          <a:cs typeface="DM Sans" pitchFamily="34" charset="-120"/>
                        </a:rPr>
                        <a:t>Archivo editable</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s-AR" sz="1400" dirty="0">
                          <a:solidFill>
                            <a:srgbClr val="C4ECFF"/>
                          </a:solidFill>
                          <a:latin typeface="DM Sans" pitchFamily="34" charset="0"/>
                          <a:ea typeface="DM Sans" pitchFamily="34" charset="-122"/>
                          <a:cs typeface="DM Sans" pitchFamily="34" charset="-120"/>
                        </a:rPr>
                        <a:t>rosterRoot + NFT tras el reveal</a:t>
                      </a:r>
                      <a:endParaRPr lang="en-US" sz="1500" dirty="0">
                        <a:latin typeface="DM Sans" charset="0"/>
                        <a:ea typeface="DM Sans" charset="0"/>
                        <a:cs typeface="DM Sans" charset="0"/>
                      </a:endParaRPr>
                    </a:p>
                  </a:txBody>
                  <a:tcPr marL="146304" marR="91440" marT="36576" marB="36576" anchor="ctr">
                    <a:lnL w="0" cap="flat" cmpd="sng" algn="ctr">
                      <a:noFill/>
                    </a:lnL>
                    <a:lnR w="0" cap="flat" cmpd="sng" algn="ctr">
                      <a:noFill/>
                    </a:lnR>
                    <a:lnT w="0" cap="flat" cmpd="sng" algn="ctr">
                      <a:noFill/>
                    </a:lnT>
                    <a:lnB w="0" cap="flat" cmpd="sng" algn="ctr">
                      <a:noFill/>
                    </a:lnB>
                  </a:tcPr>
                </a:tc>
              </a:tr>
            </a:tbl>
          </a:graphicData>
        </a:graphic>
      </p:graphicFrame>
      <p:sp>
        <p:nvSpPr>
          <p:cNvPr id="72" name="Shape 69"/>
          <p:cNvSpPr/>
          <p:nvPr/>
        </p:nvSpPr>
        <p:spPr>
          <a:xfrm rot="5400000">
            <a:off x="6162142" y="1734617"/>
            <a:ext cx="1723644" cy="338328"/>
          </a:xfrm>
          <a:prstGeom prst="snip2SameRect">
            <a:avLst/>
          </a:prstGeom>
          <a:solidFill>
            <a:srgbClr val="D585DF">
              <a:alpha val="29000"/>
            </a:srgbClr>
          </a:solidFill>
          <a:ln/>
        </p:spPr>
      </p:sp>
      <p:sp>
        <p:nvSpPr>
          <p:cNvPr id="73" name="Shape 70"/>
          <p:cNvSpPr/>
          <p:nvPr/>
        </p:nvSpPr>
        <p:spPr>
          <a:xfrm rot="13500000">
            <a:off x="6699809" y="6554419"/>
            <a:ext cx="718718" cy="349301"/>
          </a:xfrm>
          <a:prstGeom prst="triangle">
            <a:avLst/>
          </a:prstGeom>
          <a:solidFill>
            <a:srgbClr val="D585DF">
              <a:alpha val="43000"/>
            </a:srgbClr>
          </a:solidFill>
          <a:ln/>
        </p:spPr>
      </p:sp>
      <p:sp>
        <p:nvSpPr>
          <p:cNvPr id="90" name="Text Footer"/>
          <p:cNvSpPr/>
          <p:nvPr/>
        </p:nvSpPr>
        <p:spPr>
          <a:xfrm>
            <a:off x="841248" y="5897880"/>
            <a:ext cx="9966960" cy="457200"/>
          </a:xfrm>
          <a:prstGeom prst="rect">
            <a:avLst/>
          </a:prstGeom>
          <a:noFill/>
          <a:ln/>
        </p:spPr>
        <p:txBody>
          <a:bodyPr wrap="square" rtlCol="0" anchor="t"/>
          <a:lstStyle/>
          <a:p>
            <a:pPr algn="l" indent="0" marL="0">
              <a:lnSpc>
                <a:spcPct val="130000"/>
              </a:lnSpc>
              <a:buNone/>
            </a:pPr>
            <a:r>
              <a:rPr lang="es-AR" sz="1400" dirty="0">
                <a:solidFill>
                  <a:srgbClr val="C2C5CC"/>
                </a:solidFill>
                <a:latin typeface="DM Sans" pitchFamily="34" charset="0"/>
                <a:ea typeface="DM Sans" pitchFamily="34" charset="-122"/>
                <a:cs typeface="DM Sans" pitchFamily="34" charset="-120"/>
              </a:rPr>
              <a:t>El docente sigue siendo dueño del padrón. La cadena no descentraliza el aula: hace que las reglas no dependan de la buena fe del operador.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155022" y="2316785"/>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9746132" y="1907896"/>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337243" y="1499006"/>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8928354" y="1090117"/>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519465" y="681228"/>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519465" y="681228"/>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519465" y="681228"/>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519465" y="681228"/>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519465" y="681228"/>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519465" y="681228"/>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519465" y="681228"/>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200486" y="1933956"/>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009376" y="1742846"/>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818266" y="1551737"/>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627157" y="1360627"/>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436047" y="1169518"/>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436047" y="1169518"/>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436047" y="1169518"/>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436047" y="1169518"/>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436047" y="1169518"/>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436047" y="1169518"/>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436047" y="1169518"/>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953719" y="1077163"/>
            <a:ext cx="4370832" cy="1078992"/>
          </a:xfrm>
          <a:prstGeom prst="rect">
            <a:avLst/>
          </a:prstGeom>
          <a:noFill/>
          <a:ln/>
        </p:spPr>
        <p:txBody>
          <a:bodyPr wrap="square" rtlCol="0" anchor="t"/>
          <a:lstStyle/>
          <a:p>
            <a:pPr algn="l" indent="0" marL="0">
              <a:buNone/>
            </a:pPr>
            <a:r>
              <a:rPr lang="en-US" sz="3600" dirty="0">
                <a:solidFill>
                  <a:srgbClr val="C4ECFF"/>
                </a:solidFill>
                <a:latin typeface="Space Grotesk" pitchFamily="34" charset="0"/>
                <a:ea typeface="Space Grotesk" pitchFamily="34" charset="-122"/>
                <a:cs typeface="Space Grotesk" pitchFamily="34" charset="-120"/>
              </a:rPr>
              <a:t>Seguridad y calidad</a:t>
            </a:r>
            <a:endParaRPr lang="en-US" sz="3600" dirty="0"/>
          </a:p>
        </p:txBody>
      </p:sp>
      <p:sp>
        <p:nvSpPr>
          <p:cNvPr id="56" name="Text 54"/>
          <p:cNvSpPr/>
          <p:nvPr/>
        </p:nvSpPr>
        <p:spPr>
          <a:xfrm>
            <a:off x="6189574" y="1143000"/>
            <a:ext cx="4727448" cy="905256"/>
          </a:xfrm>
          <a:prstGeom prst="rect">
            <a:avLst/>
          </a:prstGeom>
          <a:noFill/>
          <a:ln/>
        </p:spPr>
        <p:txBody>
          <a:bodyPr wrap="square" rtlCol="0" anchor="t"/>
          <a:lstStyle/>
          <a:p>
            <a:pPr algn="l" indent="0" marL="0">
              <a:lnSpc>
                <a:spcPct val="150000"/>
              </a:lnSpc>
              <a:buNone/>
            </a:pPr>
            <a:r>
              <a:rPr lang="en-US" sz="1400" dirty="0">
                <a:solidFill>
                  <a:srgbClr val="C4ECFF"/>
                </a:solidFill>
                <a:latin typeface="DM Sans" pitchFamily="34" charset="0"/>
                <a:ea typeface="DM Sans" pitchFamily="34" charset="-122"/>
                <a:cs typeface="DM Sans" pitchFamily="34" charset="-120"/>
              </a:rPr>
              <a:t>Slither sobre TeamRegistry y TeamCredential (dependencias filtradas), con triage documentado.</a:t>
            </a:r>
            <a:endParaRPr lang="en-US" sz="1400" dirty="0"/>
          </a:p>
        </p:txBody>
      </p:sp>
      <p:sp>
        <p:nvSpPr>
          <p:cNvPr id="65" name="Text Practices"/>
          <p:cNvSpPr/>
          <p:nvPr/>
        </p:nvSpPr>
        <p:spPr>
          <a:xfrm>
            <a:off x="953719" y="3246120"/>
            <a:ext cx="5120640" cy="2743200"/>
          </a:xfrm>
          <a:prstGeom prst="rect">
            <a:avLst/>
          </a:prstGeom>
          <a:noFill/>
          <a:ln/>
        </p:spPr>
        <p:txBody>
          <a:bodyPr wrap="square" rtlCol="0" anchor="t"/>
          <a:lstStyle/>
          <a:p>
            <a:pPr algn="l" indent="0" marL="0">
              <a:lnSpc>
                <a:spcPct val="150000"/>
              </a:lnSpc>
              <a:spcAft>
                <a:spcPts val="500"/>
              </a:spcAft>
              <a:buNone/>
            </a:pPr>
            <a:r>
              <a:rPr lang="en-US" sz="1400" dirty="0" b="1">
                <a:solidFill>
                  <a:srgbClr val="D585DF"/>
                </a:solidFill>
                <a:latin typeface="DM Sans" pitchFamily="34" charset="0"/>
                <a:ea typeface="DM Sans" pitchFamily="34" charset="-122"/>
                <a:cs typeface="DM Sans" pitchFamily="34" charset="-120"/>
              </a:rPr>
              <a:t>CEI: </a:t>
            </a:r>
            <a:r>
              <a:rPr lang="en-US" sz="1400" dirty="0">
                <a:solidFill>
                  <a:srgbClr val="C4ECFF"/>
                </a:solidFill>
                <a:latin typeface="DM Sans" pitchFamily="34" charset="0"/>
                <a:ea typeface="DM Sans" pitchFamily="34" charset="-122"/>
                <a:cs typeface="DM Sans" pitchFamily="34" charset="-120"/>
              </a:rPr>
              <a:t>claimCredential marca claimed antes del mint</a:t>
            </a:r>
            <a:endParaRPr lang="en-US" sz="1400" dirty="0"/>
          </a:p>
          <a:p>
            <a:pPr algn="l" indent="0" marL="0">
              <a:lnSpc>
                <a:spcPct val="150000"/>
              </a:lnSpc>
              <a:spcAft>
                <a:spcPts val="500"/>
              </a:spcAft>
              <a:buNone/>
            </a:pPr>
            <a:r>
              <a:rPr lang="en-US" sz="1400" dirty="0" b="1">
                <a:solidFill>
                  <a:srgbClr val="D585DF"/>
                </a:solidFill>
                <a:latin typeface="DM Sans" pitchFamily="34" charset="0"/>
                <a:ea typeface="DM Sans" pitchFamily="34" charset="-122"/>
                <a:cs typeface="DM Sans" pitchFamily="34" charset="-120"/>
              </a:rPr>
              <a:t>ReentrancyGuardTransient </a:t>
            </a:r>
            <a:r>
              <a:rPr lang="en-US" sz="1400" dirty="0">
                <a:solidFill>
                  <a:srgbClr val="C4ECFF"/>
                </a:solidFill>
                <a:latin typeface="DM Sans" pitchFamily="34" charset="0"/>
                <a:ea typeface="DM Sans" pitchFamily="34" charset="-122"/>
                <a:cs typeface="DM Sans" pitchFamily="34" charset="-120"/>
              </a:rPr>
              <a:t>en funciones con llamadas externas</a:t>
            </a:r>
            <a:endParaRPr lang="en-US" sz="1400" dirty="0"/>
          </a:p>
          <a:p>
            <a:pPr algn="l" indent="0" marL="0">
              <a:lnSpc>
                <a:spcPct val="150000"/>
              </a:lnSpc>
              <a:spcAft>
                <a:spcPts val="500"/>
              </a:spcAft>
              <a:buNone/>
            </a:pPr>
            <a:r>
              <a:rPr lang="en-US" sz="1400" dirty="0" b="1">
                <a:solidFill>
                  <a:srgbClr val="D585DF"/>
                </a:solidFill>
                <a:latin typeface="DM Sans" pitchFamily="34" charset="0"/>
                <a:ea typeface="DM Sans" pitchFamily="34" charset="-122"/>
                <a:cs typeface="DM Sans" pitchFamily="34" charset="-120"/>
              </a:rPr>
              <a:t>Custom errors y eventos </a:t>
            </a:r>
            <a:r>
              <a:rPr lang="en-US" sz="1400" dirty="0">
                <a:solidFill>
                  <a:srgbClr val="C4ECFF"/>
                </a:solidFill>
                <a:latin typeface="DM Sans" pitchFamily="34" charset="0"/>
                <a:ea typeface="DM Sans" pitchFamily="34" charset="-122"/>
                <a:cs typeface="DM Sans" pitchFamily="34" charset="-120"/>
              </a:rPr>
              <a:t>en cada cambio de estado</a:t>
            </a:r>
            <a:endParaRPr lang="en-US" sz="1400" dirty="0"/>
          </a:p>
          <a:p>
            <a:pPr algn="l" indent="0" marL="0">
              <a:lnSpc>
                <a:spcPct val="150000"/>
              </a:lnSpc>
              <a:spcAft>
                <a:spcPts val="500"/>
              </a:spcAft>
              <a:buNone/>
            </a:pPr>
            <a:r>
              <a:rPr lang="en-US" sz="1400" dirty="0" b="1">
                <a:solidFill>
                  <a:srgbClr val="D585DF"/>
                </a:solidFill>
                <a:latin typeface="DM Sans" pitchFamily="34" charset="0"/>
                <a:ea typeface="DM Sans" pitchFamily="34" charset="-122"/>
                <a:cs typeface="DM Sans" pitchFamily="34" charset="-120"/>
              </a:rPr>
              <a:t>Nullifier: </a:t>
            </a:r>
            <a:r>
              <a:rPr lang="en-US" sz="1400" dirty="0">
                <a:solidFill>
                  <a:srgbClr val="C4ECFF"/>
                </a:solidFill>
                <a:latin typeface="DM Sans" pitchFamily="34" charset="0"/>
                <a:ea typeface="DM Sans" pitchFamily="34" charset="-122"/>
                <a:cs typeface="DM Sans" pitchFamily="34" charset="-120"/>
              </a:rPr>
              <a:t>una identidad aplica una sola vez por equipo</a:t>
            </a:r>
            <a:endParaRPr lang="en-US" sz="1400" dirty="0"/>
          </a:p>
          <a:p>
            <a:pPr algn="l" indent="0" marL="0">
              <a:lnSpc>
                <a:spcPct val="150000"/>
              </a:lnSpc>
              <a:spcAft>
                <a:spcPts val="500"/>
              </a:spcAft>
              <a:buNone/>
            </a:pPr>
            <a:r>
              <a:rPr lang="en-US" sz="1400" dirty="0" b="1">
                <a:solidFill>
                  <a:srgbClr val="D585DF"/>
                </a:solidFill>
                <a:latin typeface="DM Sans" pitchFamily="34" charset="0"/>
                <a:ea typeface="DM Sans" pitchFamily="34" charset="-122"/>
                <a:cs typeface="DM Sans" pitchFamily="34" charset="-120"/>
              </a:rPr>
              <a:t>Gas: </a:t>
            </a:r>
            <a:r>
              <a:rPr lang="en-US" sz="1400" dirty="0">
                <a:solidFill>
                  <a:srgbClr val="C4ECFF"/>
                </a:solidFill>
                <a:latin typeface="DM Sans" pitchFamily="34" charset="0"/>
                <a:ea typeface="DM Sans" pitchFamily="34" charset="-122"/>
                <a:cs typeface="DM Sans" pitchFamily="34" charset="-120"/>
              </a:rPr>
              <a:t>immutable/constant, slot empaquetado, unchecked, calldata</a:t>
            </a:r>
            <a:endParaRPr lang="en-US" sz="1400" dirty="0"/>
          </a:p>
          <a:p>
            <a:pPr algn="l" indent="0" marL="0">
              <a:lnSpc>
                <a:spcPct val="150000"/>
              </a:lnSpc>
              <a:spcAft>
                <a:spcPts val="500"/>
              </a:spcAft>
              <a:buNone/>
            </a:pPr>
            <a:r>
              <a:rPr lang="en-US" sz="1400" dirty="0" b="1">
                <a:solidFill>
                  <a:srgbClr val="D585DF"/>
                </a:solidFill>
                <a:latin typeface="DM Sans" pitchFamily="34" charset="0"/>
                <a:ea typeface="DM Sans" pitchFamily="34" charset="-122"/>
                <a:cs typeface="DM Sans" pitchFamily="34" charset="-120"/>
              </a:rPr>
              <a:t>Sin </a:t>
            </a:r>
            <a:r>
              <a:rPr lang="en-US" sz="1400" dirty="0">
                <a:solidFill>
                  <a:srgbClr val="C4ECFF"/>
                </a:solidFill>
                <a:latin typeface="DM Sans" pitchFamily="34" charset="0"/>
                <a:ea typeface="DM Sans" pitchFamily="34" charset="-122"/>
                <a:cs typeface="DM Sans" pitchFamily="34" charset="-120"/>
              </a:rPr>
              <a:t>tx.origin, delegatecall ni selfdestruct</a:t>
            </a:r>
            <a:endParaRPr lang="en-US" sz="1400" dirty="0"/>
          </a:p>
        </p:txBody>
      </p:sp>
      <p:sp>
        <p:nvSpPr>
          <p:cNvPr id="57" name="Shape 55"/>
          <p:cNvSpPr/>
          <p:nvPr/>
        </p:nvSpPr>
        <p:spPr>
          <a:xfrm>
            <a:off x="1248156" y="2628900"/>
            <a:ext cx="3660343" cy="454457"/>
          </a:xfrm>
          <a:custGeom>
            <a:avLst/>
            <a:gdLst/>
            <a:ahLst/>
            <a:cxnLst/>
            <a:rect l="l" t="t" r="r" b="b"/>
            <a:pathLst>
              <a:path w="3660343" h="454457">
                <a:moveTo>
                  <a:pt x="0" y="0"/>
                </a:moveTo>
                <a:lnTo>
                  <a:pt x="3660343" y="0"/>
                </a:lnTo>
                <a:lnTo>
                  <a:pt x="3660343" y="227686"/>
                </a:lnTo>
                <a:lnTo>
                  <a:pt x="3432658" y="454457"/>
                </a:lnTo>
                <a:lnTo>
                  <a:pt x="227686" y="454457"/>
                </a:lnTo>
                <a:lnTo>
                  <a:pt x="0" y="227686"/>
                </a:lnTo>
                <a:close/>
              </a:path>
            </a:pathLst>
          </a:custGeom>
          <a:solidFill>
            <a:srgbClr val="C2C5CC">
              <a:alpha val="29000"/>
            </a:srgbClr>
          </a:solidFill>
          <a:ln/>
        </p:spPr>
      </p:sp>
      <p:sp>
        <p:nvSpPr>
          <p:cNvPr id="58" name="Shape 56"/>
          <p:cNvSpPr/>
          <p:nvPr/>
        </p:nvSpPr>
        <p:spPr>
          <a:xfrm>
            <a:off x="6367882" y="3601822"/>
            <a:ext cx="5206594" cy="2438705"/>
          </a:xfrm>
          <a:custGeom>
            <a:avLst/>
            <a:gdLst/>
            <a:ahLst/>
            <a:cxnLst/>
            <a:rect l="l" t="t" r="r" b="b"/>
            <a:pathLst>
              <a:path w="5206594" h="2438705">
                <a:moveTo>
                  <a:pt x="219456" y="0"/>
                </a:moveTo>
                <a:lnTo>
                  <a:pt x="5206594" y="0"/>
                </a:lnTo>
                <a:lnTo>
                  <a:pt x="5206594" y="2219249"/>
                </a:lnTo>
                <a:lnTo>
                  <a:pt x="4987138" y="2438705"/>
                </a:lnTo>
                <a:lnTo>
                  <a:pt x="0" y="2438705"/>
                </a:lnTo>
                <a:lnTo>
                  <a:pt x="0" y="219456"/>
                </a:lnTo>
                <a:close/>
              </a:path>
            </a:pathLst>
          </a:custGeom>
          <a:solidFill>
            <a:srgbClr val="111A7E">
              <a:alpha val="74000"/>
            </a:srgbClr>
          </a:solidFill>
          <a:ln/>
        </p:spPr>
      </p:sp>
      <p:sp>
        <p:nvSpPr>
          <p:cNvPr id="59" name="Text 57"/>
          <p:cNvSpPr/>
          <p:nvPr/>
        </p:nvSpPr>
        <p:spPr>
          <a:xfrm>
            <a:off x="6879946" y="3836822"/>
            <a:ext cx="3182112" cy="466344"/>
          </a:xfrm>
          <a:prstGeom prst="rect">
            <a:avLst/>
          </a:prstGeom>
          <a:noFill/>
          <a:ln/>
        </p:spPr>
        <p:txBody>
          <a:bodyPr wrap="square" rtlCol="0" anchor="t"/>
          <a:lstStyle/>
          <a:p>
            <a:pPr algn="l" indent="0" marL="0">
              <a:buNone/>
            </a:pPr>
            <a:r>
              <a:rPr lang="en-US" sz="2400" dirty="0">
                <a:solidFill>
                  <a:srgbClr val="FFFFFF"/>
                </a:solidFill>
                <a:latin typeface="Space Grotesk" pitchFamily="34" charset="0"/>
                <a:ea typeface="Space Grotesk" pitchFamily="34" charset="-122"/>
                <a:cs typeface="Space Grotesk" pitchFamily="34" charset="-120"/>
              </a:rPr>
              <a:t>Tests y cobertura</a:t>
            </a:r>
            <a:endParaRPr lang="en-US" sz="2400" dirty="0"/>
          </a:p>
        </p:txBody>
      </p:sp>
      <p:sp>
        <p:nvSpPr>
          <p:cNvPr id="60" name="Text 58"/>
          <p:cNvSpPr/>
          <p:nvPr/>
        </p:nvSpPr>
        <p:spPr>
          <a:xfrm>
            <a:off x="6879946" y="4532681"/>
            <a:ext cx="2816352" cy="429768"/>
          </a:xfrm>
          <a:prstGeom prst="rect">
            <a:avLst/>
          </a:prstGeom>
          <a:noFill/>
          <a:ln/>
        </p:spPr>
        <p:txBody>
          <a:bodyPr wrap="square" rtlCol="0" anchor="t"/>
          <a:lstStyle/>
          <a:p>
            <a:pPr algn="l" indent="0" marL="0">
              <a:buNone/>
            </a:pPr>
            <a:r>
              <a:rPr lang="en-US" sz="1200" dirty="0">
                <a:solidFill>
                  <a:srgbClr val="FFFFFF"/>
                </a:solidFill>
                <a:latin typeface="Roboto" pitchFamily="34" charset="0"/>
                <a:ea typeface="Roboto" pitchFamily="34" charset="-122"/>
                <a:cs typeface="Roboto" pitchFamily="34" charset="-120"/>
              </a:rPr>
              <a:t>Tests: 46 contratos + 16 frontend</a:t>
            </a:r>
            <a:endParaRPr lang="en-US" sz="1200" dirty="0"/>
          </a:p>
        </p:txBody>
      </p:sp>
      <p:sp>
        <p:nvSpPr>
          <p:cNvPr id="61" name="Text 59"/>
          <p:cNvSpPr/>
          <p:nvPr/>
        </p:nvSpPr>
        <p:spPr>
          <a:xfrm>
            <a:off x="9966960" y="4379976"/>
            <a:ext cx="1463040" cy="585216"/>
          </a:xfrm>
          <a:prstGeom prst="rect">
            <a:avLst/>
          </a:prstGeom>
          <a:noFill/>
          <a:ln/>
        </p:spPr>
        <p:txBody>
          <a:bodyPr wrap="square" rtlCol="0" anchor="t"/>
          <a:lstStyle/>
          <a:p>
            <a:pPr algn="l" indent="0" marL="0">
              <a:buNone/>
            </a:pPr>
            <a:r>
              <a:rPr lang="en-US" sz="3200" dirty="0">
                <a:solidFill>
                  <a:srgbClr val="FFFFFF"/>
                </a:solidFill>
                <a:latin typeface="Space Grotesk" pitchFamily="34" charset="0"/>
                <a:ea typeface="Space Grotesk" pitchFamily="34" charset="-122"/>
                <a:cs typeface="Space Grotesk" pitchFamily="34" charset="-120"/>
              </a:rPr>
              <a:t>62</a:t>
            </a:r>
            <a:endParaRPr lang="en-US" sz="3200" dirty="0"/>
          </a:p>
        </p:txBody>
      </p:sp>
      <p:sp>
        <p:nvSpPr>
          <p:cNvPr id="62" name="Shape 60"/>
          <p:cNvSpPr/>
          <p:nvPr/>
        </p:nvSpPr>
        <p:spPr>
          <a:xfrm>
            <a:off x="7037222" y="5089550"/>
            <a:ext cx="4537253" cy="0"/>
          </a:xfrm>
          <a:prstGeom prst="line">
            <a:avLst/>
          </a:prstGeom>
          <a:noFill/>
          <a:ln w="12700">
            <a:solidFill>
              <a:srgbClr val="C2C5CC"/>
            </a:solidFill>
            <a:prstDash val="solid"/>
          </a:ln>
        </p:spPr>
      </p:sp>
      <p:sp>
        <p:nvSpPr>
          <p:cNvPr id="63" name="Text 61"/>
          <p:cNvSpPr/>
          <p:nvPr/>
        </p:nvSpPr>
        <p:spPr>
          <a:xfrm>
            <a:off x="6879946" y="5248656"/>
            <a:ext cx="2816352" cy="429768"/>
          </a:xfrm>
          <a:prstGeom prst="rect">
            <a:avLst/>
          </a:prstGeom>
          <a:noFill/>
          <a:ln/>
        </p:spPr>
        <p:txBody>
          <a:bodyPr wrap="square" rtlCol="0" anchor="t"/>
          <a:lstStyle/>
          <a:p>
            <a:pPr algn="l" indent="0" marL="0">
              <a:buNone/>
            </a:pPr>
            <a:r>
              <a:rPr lang="en-US" sz="1200" dirty="0">
                <a:solidFill>
                  <a:srgbClr val="FFFFFF"/>
                </a:solidFill>
                <a:latin typeface="Roboto" pitchFamily="34" charset="0"/>
                <a:ea typeface="Roboto" pitchFamily="34" charset="-122"/>
                <a:cs typeface="Roboto" pitchFamily="34" charset="-120"/>
              </a:rPr>
              <a:t>Cobertura de líneas y statements en Solidity propio</a:t>
            </a:r>
            <a:endParaRPr lang="en-US" sz="1200" dirty="0"/>
          </a:p>
        </p:txBody>
      </p:sp>
      <p:sp>
        <p:nvSpPr>
          <p:cNvPr id="64" name="Text 62"/>
          <p:cNvSpPr/>
          <p:nvPr/>
        </p:nvSpPr>
        <p:spPr>
          <a:xfrm>
            <a:off x="9966960" y="5149901"/>
            <a:ext cx="1463040" cy="585216"/>
          </a:xfrm>
          <a:prstGeom prst="rect">
            <a:avLst/>
          </a:prstGeom>
          <a:noFill/>
          <a:ln/>
        </p:spPr>
        <p:txBody>
          <a:bodyPr wrap="square" rtlCol="0" anchor="t"/>
          <a:lstStyle/>
          <a:p>
            <a:pPr algn="l" indent="0" marL="0">
              <a:buNone/>
            </a:pPr>
            <a:r>
              <a:rPr lang="en-US" sz="3200" dirty="0">
                <a:solidFill>
                  <a:srgbClr val="FFFFFF"/>
                </a:solidFill>
                <a:latin typeface="Space Grotesk" pitchFamily="34" charset="0"/>
                <a:ea typeface="Space Grotesk" pitchFamily="34" charset="-122"/>
                <a:cs typeface="Space Grotesk" pitchFamily="34" charset="-120"/>
              </a:rPr>
              <a:t>100%</a:t>
            </a:r>
            <a:endParaRPr lang="en-US" sz="3200" dirty="0"/>
          </a:p>
        </p:txBody>
      </p:sp>
      <p:sp>
        <p:nvSpPr>
          <p:cNvPr id="66" name="Make commands"/>
          <p:cNvSpPr/>
          <p:nvPr/>
        </p:nvSpPr>
        <p:spPr>
          <a:xfrm>
            <a:off x="6367882" y="6163056"/>
            <a:ext cx="5206594" cy="274320"/>
          </a:xfrm>
          <a:prstGeom prst="rect">
            <a:avLst/>
          </a:prstGeom>
          <a:noFill/>
          <a:ln/>
        </p:spPr>
        <p:txBody>
          <a:bodyPr wrap="none" lIns="0" rIns="0" tIns="0" bIns="0" rtlCol="0" anchor="ctr"/>
          <a:lstStyle/>
          <a:p>
            <a:pPr algn="ctr" indent="0" marL="0">
              <a:buNone/>
            </a:pPr>
            <a:r>
              <a:rPr lang="es-AR" sz="1200" dirty="0">
                <a:solidFill>
                  <a:srgbClr val="C4ECFF"/>
                </a:solidFill>
                <a:latin typeface="DM Mono"/>
                <a:ea typeface="DM Mono"/>
                <a:cs typeface="DM Mono"/>
              </a:rPr>
              <a:t>make test · make coverage · make slither</a:t>
            </a:r>
            <a:endParaRPr lang="es-AR"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29" name="Shape 27"/>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30" name="Shape 28"/>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31" name="Shape 29"/>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32" name="Text 30"/>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33" name="Shape 31"/>
          <p:cNvSpPr/>
          <p:nvPr/>
        </p:nvSpPr>
        <p:spPr>
          <a:xfrm>
            <a:off x="9934651" y="2196084"/>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34" name="Shape 32"/>
          <p:cNvSpPr/>
          <p:nvPr/>
        </p:nvSpPr>
        <p:spPr>
          <a:xfrm>
            <a:off x="9525762" y="1787195"/>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5" name="Shape 33"/>
          <p:cNvSpPr/>
          <p:nvPr/>
        </p:nvSpPr>
        <p:spPr>
          <a:xfrm>
            <a:off x="9116873" y="1378306"/>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6" name="Shape 34"/>
          <p:cNvSpPr/>
          <p:nvPr/>
        </p:nvSpPr>
        <p:spPr>
          <a:xfrm>
            <a:off x="8707984" y="969416"/>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7" name="Shape 35"/>
          <p:cNvSpPr/>
          <p:nvPr/>
        </p:nvSpPr>
        <p:spPr>
          <a:xfrm>
            <a:off x="8299094" y="560527"/>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8" name="Shape 36"/>
          <p:cNvSpPr/>
          <p:nvPr/>
        </p:nvSpPr>
        <p:spPr>
          <a:xfrm>
            <a:off x="8299094" y="560527"/>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9" name="Shape 37"/>
          <p:cNvSpPr/>
          <p:nvPr/>
        </p:nvSpPr>
        <p:spPr>
          <a:xfrm>
            <a:off x="8299094" y="560527"/>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40" name="Shape 38"/>
          <p:cNvSpPr/>
          <p:nvPr/>
        </p:nvSpPr>
        <p:spPr>
          <a:xfrm>
            <a:off x="8299094" y="560527"/>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41" name="Shape 39"/>
          <p:cNvSpPr/>
          <p:nvPr/>
        </p:nvSpPr>
        <p:spPr>
          <a:xfrm>
            <a:off x="8299094" y="560527"/>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42" name="Shape 40"/>
          <p:cNvSpPr/>
          <p:nvPr/>
        </p:nvSpPr>
        <p:spPr>
          <a:xfrm>
            <a:off x="8299094" y="560527"/>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43" name="Shape 41"/>
          <p:cNvSpPr/>
          <p:nvPr/>
        </p:nvSpPr>
        <p:spPr>
          <a:xfrm>
            <a:off x="8299094" y="560527"/>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44" name="Shape 42"/>
          <p:cNvSpPr/>
          <p:nvPr/>
        </p:nvSpPr>
        <p:spPr>
          <a:xfrm>
            <a:off x="10992002" y="1817827"/>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5" name="Shape 43"/>
          <p:cNvSpPr/>
          <p:nvPr/>
        </p:nvSpPr>
        <p:spPr>
          <a:xfrm>
            <a:off x="10800893" y="1626718"/>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6" name="Shape 44"/>
          <p:cNvSpPr/>
          <p:nvPr/>
        </p:nvSpPr>
        <p:spPr>
          <a:xfrm>
            <a:off x="10609783" y="1435608"/>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7" name="Shape 45"/>
          <p:cNvSpPr/>
          <p:nvPr/>
        </p:nvSpPr>
        <p:spPr>
          <a:xfrm>
            <a:off x="10418674" y="1244498"/>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8" name="Shape 46"/>
          <p:cNvSpPr/>
          <p:nvPr/>
        </p:nvSpPr>
        <p:spPr>
          <a:xfrm>
            <a:off x="10227564" y="1053389"/>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9" name="Shape 47"/>
          <p:cNvSpPr/>
          <p:nvPr/>
        </p:nvSpPr>
        <p:spPr>
          <a:xfrm>
            <a:off x="10227564" y="1053389"/>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50" name="Shape 48"/>
          <p:cNvSpPr/>
          <p:nvPr/>
        </p:nvSpPr>
        <p:spPr>
          <a:xfrm>
            <a:off x="10227564" y="1053389"/>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51" name="Shape 49"/>
          <p:cNvSpPr/>
          <p:nvPr/>
        </p:nvSpPr>
        <p:spPr>
          <a:xfrm>
            <a:off x="10227564" y="1053389"/>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52" name="Shape 50"/>
          <p:cNvSpPr/>
          <p:nvPr/>
        </p:nvSpPr>
        <p:spPr>
          <a:xfrm>
            <a:off x="10227564" y="1053389"/>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53" name="Shape 51"/>
          <p:cNvSpPr/>
          <p:nvPr/>
        </p:nvSpPr>
        <p:spPr>
          <a:xfrm>
            <a:off x="10227564" y="1053389"/>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54" name="Shape 52"/>
          <p:cNvSpPr/>
          <p:nvPr/>
        </p:nvSpPr>
        <p:spPr>
          <a:xfrm>
            <a:off x="10227564" y="1053389"/>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5" name="Text 53"/>
          <p:cNvSpPr/>
          <p:nvPr/>
        </p:nvSpPr>
        <p:spPr>
          <a:xfrm>
            <a:off x="1439266" y="1232611"/>
            <a:ext cx="9317736" cy="585216"/>
          </a:xfrm>
          <a:prstGeom prst="rect">
            <a:avLst/>
          </a:prstGeom>
          <a:noFill/>
          <a:ln/>
        </p:spPr>
        <p:txBody>
          <a:bodyPr wrap="square" rtlCol="0" anchor="t"/>
          <a:lstStyle/>
          <a:p>
            <a:pPr algn="ctr" indent="0" marL="0">
              <a:buNone/>
            </a:pPr>
            <a:r>
              <a:rPr lang="en-US" sz="3600" dirty="0">
                <a:solidFill>
                  <a:srgbClr val="C4ECFF"/>
                </a:solidFill>
                <a:latin typeface="Space Grotesk" pitchFamily="34" charset="0"/>
                <a:ea typeface="Space Grotesk" pitchFamily="34" charset="-122"/>
                <a:cs typeface="Space Grotesk" pitchFamily="34" charset="-120"/>
              </a:rPr>
              <a:t>Límites del MVP y roadmap</a:t>
            </a:r>
          </a:p>
        </p:txBody>
      </p:sp>
      <p:sp>
        <p:nvSpPr>
          <p:cNvPr id="56" name="Text 54"/>
          <p:cNvSpPr/>
          <p:nvPr/>
        </p:nvSpPr>
        <p:spPr>
          <a:xfrm rot="16200000">
            <a:off x="106070" y="2446934"/>
            <a:ext cx="1282903" cy="230429"/>
          </a:xfrm>
          <a:prstGeom prst="rect">
            <a:avLst/>
          </a:prstGeom>
          <a:noFill/>
          <a:ln/>
        </p:spPr>
        <p:txBody>
          <a:bodyPr wrap="square" rtlCol="0" anchor="t"/>
          <a:lstStyle/>
          <a:p>
            <a:pPr algn="l" indent="0" marL="0">
              <a:buNone/>
            </a:pPr>
            <a:r>
              <a:rPr lang="en-US" sz="1200" dirty="0">
                <a:solidFill>
                  <a:srgbClr val="D585DF"/>
                </a:solidFill>
                <a:latin typeface="Roboto" pitchFamily="34" charset="0"/>
                <a:ea typeface="Roboto" pitchFamily="34" charset="-122"/>
                <a:cs typeface="Roboto" pitchFamily="34" charset="-120"/>
              </a:rPr>
              <a:t>MVP HOY</a:t>
            </a:r>
          </a:p>
        </p:txBody>
      </p:sp>
      <p:sp>
        <p:nvSpPr>
          <p:cNvPr id="57" name="Shape 55"/>
          <p:cNvSpPr/>
          <p:nvPr/>
        </p:nvSpPr>
        <p:spPr>
          <a:xfrm>
            <a:off x="642823" y="3407054"/>
            <a:ext cx="2389327" cy="619049"/>
          </a:xfrm>
          <a:custGeom>
            <a:avLst/>
            <a:gdLst/>
            <a:ahLst/>
            <a:cxnLst/>
            <a:rect l="l" t="t" r="r" b="b"/>
            <a:pathLst>
              <a:path w="2389327" h="619049">
                <a:moveTo>
                  <a:pt x="0" y="0"/>
                </a:moveTo>
                <a:lnTo>
                  <a:pt x="2286152" y="0"/>
                </a:lnTo>
                <a:lnTo>
                  <a:pt x="2389327" y="103175"/>
                </a:lnTo>
                <a:lnTo>
                  <a:pt x="2389327" y="619049"/>
                </a:lnTo>
                <a:lnTo>
                  <a:pt x="103175" y="619049"/>
                </a:lnTo>
                <a:lnTo>
                  <a:pt x="0" y="515874"/>
                </a:lnTo>
                <a:close/>
              </a:path>
            </a:pathLst>
          </a:custGeom>
          <a:solidFill>
            <a:srgbClr val="283EBD"/>
          </a:solidFill>
          <a:ln/>
        </p:spPr>
      </p:sp>
      <p:sp>
        <p:nvSpPr>
          <p:cNvPr id="58" name="Text 56"/>
          <p:cNvSpPr/>
          <p:nvPr/>
        </p:nvSpPr>
        <p:spPr>
          <a:xfrm>
            <a:off x="642823" y="3557016"/>
            <a:ext cx="2389327" cy="320040"/>
          </a:xfrm>
          <a:prstGeom prst="rect">
            <a:avLst/>
          </a:prstGeom>
          <a:noFill/>
          <a:ln/>
        </p:spPr>
        <p:txBody>
          <a:bodyPr wrap="square" rtlCol="0" anchor="t"/>
          <a:lstStyle/>
          <a:p>
            <a:pPr algn="ctr" indent="0" marL="0">
              <a:buNone/>
            </a:pPr>
            <a:r>
              <a:rPr lang="en-US" sz="1800" dirty="0">
                <a:solidFill>
                  <a:srgbClr val="C4ECFF"/>
                </a:solidFill>
                <a:latin typeface="Space Grotesk" pitchFamily="34" charset="0"/>
                <a:ea typeface="Space Grotesk" pitchFamily="34" charset="-122"/>
                <a:cs typeface="Space Grotesk" pitchFamily="34" charset="-120"/>
              </a:rPr>
              <a:t>Límites del MVP</a:t>
            </a:r>
          </a:p>
        </p:txBody>
      </p:sp>
      <p:sp>
        <p:nvSpPr>
          <p:cNvPr id="59" name="Text 57"/>
          <p:cNvSpPr/>
          <p:nvPr/>
        </p:nvSpPr>
        <p:spPr>
          <a:xfrm>
            <a:off x="642823" y="4206240"/>
            <a:ext cx="2389327" cy="1783080"/>
          </a:xfrm>
          <a:prstGeom prst="rect">
            <a:avLst/>
          </a:prstGeom>
          <a:noFill/>
          <a:ln/>
        </p:spPr>
        <p:txBody>
          <a:bodyPr wrap="square" rtlCol="0" anchor="t"/>
          <a:lstStyle/>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Anonimato estadístico: </a:t>
            </a:r>
            <a:r>
              <a:rPr lang="en-US" sz="1200" dirty="0">
                <a:solidFill>
                  <a:srgbClr val="C4ECFF"/>
                </a:solidFill>
                <a:latin typeface="Roboto" pitchFamily="34" charset="0"/>
                <a:ea typeface="Roboto" pitchFamily="34" charset="-122"/>
                <a:cs typeface="Roboto" pitchFamily="34" charset="-120"/>
              </a:rPr>
              <a:t>grupos de 1–2 miembros no son anónimos</a:t>
            </a:r>
          </a:p>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Remitente de la tx público</a:t>
            </a:r>
          </a:p>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Griefing en mempool</a:t>
            </a:r>
          </a:p>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Sin incentivos: </a:t>
            </a:r>
            <a:r>
              <a:rPr lang="en-US" sz="1200" dirty="0">
                <a:solidFill>
                  <a:srgbClr val="C4ECFF"/>
                </a:solidFill>
                <a:latin typeface="Roboto" pitchFamily="34" charset="0"/>
                <a:ea typeface="Roboto" pitchFamily="34" charset="-122"/>
                <a:cs typeface="Roboto" pitchFamily="34" charset="-120"/>
              </a:rPr>
              <a:t>ni stake ni slash</a:t>
            </a:r>
          </a:p>
        </p:txBody>
      </p:sp>
      <p:sp>
        <p:nvSpPr>
          <p:cNvPr id="60" name="Text 58"/>
          <p:cNvSpPr/>
          <p:nvPr/>
        </p:nvSpPr>
        <p:spPr>
          <a:xfrm rot="16200000">
            <a:off x="2932481" y="2446934"/>
            <a:ext cx="1282903" cy="230429"/>
          </a:xfrm>
          <a:prstGeom prst="rect">
            <a:avLst/>
          </a:prstGeom>
          <a:noFill/>
          <a:ln/>
        </p:spPr>
        <p:txBody>
          <a:bodyPr wrap="square" rtlCol="0" anchor="t"/>
          <a:lstStyle/>
          <a:p>
            <a:pPr algn="l" indent="0" marL="0">
              <a:buNone/>
            </a:pPr>
            <a:r>
              <a:rPr lang="en-US" sz="1200" dirty="0">
                <a:solidFill>
                  <a:srgbClr val="D585DF"/>
                </a:solidFill>
                <a:latin typeface="Roboto" pitchFamily="34" charset="0"/>
                <a:ea typeface="Roboto" pitchFamily="34" charset="-122"/>
                <a:cs typeface="Roboto" pitchFamily="34" charset="-120"/>
              </a:rPr>
              <a:t>ROADMAP</a:t>
            </a:r>
          </a:p>
        </p:txBody>
      </p:sp>
      <p:sp>
        <p:nvSpPr>
          <p:cNvPr id="61" name="Shape 59"/>
          <p:cNvSpPr/>
          <p:nvPr/>
        </p:nvSpPr>
        <p:spPr>
          <a:xfrm>
            <a:off x="3394253" y="3407054"/>
            <a:ext cx="2389327" cy="619049"/>
          </a:xfrm>
          <a:custGeom>
            <a:avLst/>
            <a:gdLst/>
            <a:ahLst/>
            <a:cxnLst/>
            <a:rect l="l" t="t" r="r" b="b"/>
            <a:pathLst>
              <a:path w="2389327" h="619049">
                <a:moveTo>
                  <a:pt x="0" y="0"/>
                </a:moveTo>
                <a:lnTo>
                  <a:pt x="2286152" y="0"/>
                </a:lnTo>
                <a:lnTo>
                  <a:pt x="2389327" y="103175"/>
                </a:lnTo>
                <a:lnTo>
                  <a:pt x="2389327" y="619049"/>
                </a:lnTo>
                <a:lnTo>
                  <a:pt x="103175" y="619049"/>
                </a:lnTo>
                <a:lnTo>
                  <a:pt x="0" y="515874"/>
                </a:lnTo>
                <a:close/>
              </a:path>
            </a:pathLst>
          </a:custGeom>
          <a:solidFill>
            <a:srgbClr val="283EBD"/>
          </a:solidFill>
          <a:ln/>
        </p:spPr>
      </p:sp>
      <p:sp>
        <p:nvSpPr>
          <p:cNvPr id="62" name="Text 60"/>
          <p:cNvSpPr/>
          <p:nvPr/>
        </p:nvSpPr>
        <p:spPr>
          <a:xfrm>
            <a:off x="3394253" y="3557016"/>
            <a:ext cx="2389327" cy="320040"/>
          </a:xfrm>
          <a:prstGeom prst="rect">
            <a:avLst/>
          </a:prstGeom>
          <a:noFill/>
          <a:ln/>
        </p:spPr>
        <p:txBody>
          <a:bodyPr wrap="square" rtlCol="0" anchor="t"/>
          <a:lstStyle/>
          <a:p>
            <a:pPr algn="ctr" indent="0" marL="0">
              <a:buNone/>
            </a:pPr>
            <a:r>
              <a:rPr lang="en-US" sz="1800" dirty="0">
                <a:solidFill>
                  <a:srgbClr val="C4ECFF"/>
                </a:solidFill>
                <a:latin typeface="Space Grotesk" pitchFamily="34" charset="0"/>
                <a:ea typeface="Space Grotesk" pitchFamily="34" charset="-122"/>
                <a:cs typeface="Space Grotesk" pitchFamily="34" charset="-120"/>
              </a:rPr>
              <a:t>Fase 2</a:t>
            </a:r>
          </a:p>
        </p:txBody>
      </p:sp>
      <p:sp>
        <p:nvSpPr>
          <p:cNvPr id="63" name="Text 61"/>
          <p:cNvSpPr/>
          <p:nvPr/>
        </p:nvSpPr>
        <p:spPr>
          <a:xfrm>
            <a:off x="3394253" y="4206240"/>
            <a:ext cx="2389327" cy="1783080"/>
          </a:xfrm>
          <a:prstGeom prst="rect">
            <a:avLst/>
          </a:prstGeom>
          <a:noFill/>
          <a:ln/>
        </p:spPr>
        <p:txBody>
          <a:bodyPr wrap="square" rtlCol="0" anchor="t"/>
          <a:lstStyle/>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Staking / slashing: </a:t>
            </a:r>
            <a:r>
              <a:rPr lang="en-US" sz="1200" dirty="0">
                <a:solidFill>
                  <a:srgbClr val="C4ECFF"/>
                </a:solidFill>
                <a:latin typeface="Roboto" pitchFamily="34" charset="0"/>
                <a:ea typeface="Roboto" pitchFamily="34" charset="-122"/>
                <a:cs typeface="Roboto" pitchFamily="34" charset="-120"/>
              </a:rPr>
              <a:t>costo por abandonar un equipo</a:t>
            </a:r>
          </a:p>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Relayer: </a:t>
            </a:r>
            <a:r>
              <a:rPr lang="en-US" sz="1200" dirty="0">
                <a:solidFill>
                  <a:srgbClr val="C4ECFF"/>
                </a:solidFill>
                <a:latin typeface="Roboto" pitchFamily="34" charset="0"/>
                <a:ea typeface="Roboto" pitchFamily="34" charset="-122"/>
                <a:cs typeface="Roboto" pitchFamily="34" charset="-120"/>
              </a:rPr>
              <a:t>oculta el remitente y frena el griefing</a:t>
            </a:r>
          </a:p>
        </p:txBody>
      </p:sp>
      <p:sp>
        <p:nvSpPr>
          <p:cNvPr id="64" name="Text 62"/>
          <p:cNvSpPr/>
          <p:nvPr/>
        </p:nvSpPr>
        <p:spPr>
          <a:xfrm rot="16200000">
            <a:off x="5673852" y="2446934"/>
            <a:ext cx="1282903" cy="230429"/>
          </a:xfrm>
          <a:prstGeom prst="rect">
            <a:avLst/>
          </a:prstGeom>
          <a:noFill/>
          <a:ln/>
        </p:spPr>
        <p:txBody>
          <a:bodyPr wrap="square" rtlCol="0" anchor="t"/>
          <a:lstStyle/>
          <a:p>
            <a:pPr algn="l" indent="0" marL="0">
              <a:buNone/>
            </a:pPr>
            <a:r>
              <a:rPr lang="en-US" sz="1200" dirty="0">
                <a:solidFill>
                  <a:srgbClr val="D585DF"/>
                </a:solidFill>
                <a:latin typeface="Roboto" pitchFamily="34" charset="0"/>
                <a:ea typeface="Roboto" pitchFamily="34" charset="-122"/>
                <a:cs typeface="Roboto" pitchFamily="34" charset="-120"/>
              </a:rPr>
              <a:t>ROADMAP</a:t>
            </a:r>
          </a:p>
        </p:txBody>
      </p:sp>
      <p:sp>
        <p:nvSpPr>
          <p:cNvPr id="65" name="Shape 63"/>
          <p:cNvSpPr/>
          <p:nvPr/>
        </p:nvSpPr>
        <p:spPr>
          <a:xfrm>
            <a:off x="6157570" y="3407054"/>
            <a:ext cx="2389327" cy="619049"/>
          </a:xfrm>
          <a:custGeom>
            <a:avLst/>
            <a:gdLst/>
            <a:ahLst/>
            <a:cxnLst/>
            <a:rect l="l" t="t" r="r" b="b"/>
            <a:pathLst>
              <a:path w="2389327" h="619049">
                <a:moveTo>
                  <a:pt x="0" y="0"/>
                </a:moveTo>
                <a:lnTo>
                  <a:pt x="2286152" y="0"/>
                </a:lnTo>
                <a:lnTo>
                  <a:pt x="2389327" y="103175"/>
                </a:lnTo>
                <a:lnTo>
                  <a:pt x="2389327" y="619049"/>
                </a:lnTo>
                <a:lnTo>
                  <a:pt x="103175" y="619049"/>
                </a:lnTo>
                <a:lnTo>
                  <a:pt x="0" y="515874"/>
                </a:lnTo>
                <a:close/>
              </a:path>
            </a:pathLst>
          </a:custGeom>
          <a:solidFill>
            <a:srgbClr val="283EBD"/>
          </a:solidFill>
          <a:ln/>
        </p:spPr>
      </p:sp>
      <p:sp>
        <p:nvSpPr>
          <p:cNvPr id="66" name="Text 64"/>
          <p:cNvSpPr/>
          <p:nvPr/>
        </p:nvSpPr>
        <p:spPr>
          <a:xfrm>
            <a:off x="6157570" y="3557016"/>
            <a:ext cx="2389327" cy="320040"/>
          </a:xfrm>
          <a:prstGeom prst="rect">
            <a:avLst/>
          </a:prstGeom>
          <a:noFill/>
          <a:ln/>
        </p:spPr>
        <p:txBody>
          <a:bodyPr wrap="square" rtlCol="0" anchor="t"/>
          <a:lstStyle/>
          <a:p>
            <a:pPr algn="ctr" indent="0" marL="0">
              <a:buNone/>
            </a:pPr>
            <a:r>
              <a:rPr lang="en-US" sz="1800" dirty="0">
                <a:solidFill>
                  <a:srgbClr val="C4ECFF"/>
                </a:solidFill>
                <a:latin typeface="Space Grotesk" pitchFamily="34" charset="0"/>
                <a:ea typeface="Space Grotesk" pitchFamily="34" charset="-122"/>
                <a:cs typeface="Space Grotesk" pitchFamily="34" charset="-120"/>
              </a:rPr>
              <a:t>Fase 3</a:t>
            </a:r>
          </a:p>
        </p:txBody>
      </p:sp>
      <p:sp>
        <p:nvSpPr>
          <p:cNvPr id="67" name="Text 65"/>
          <p:cNvSpPr/>
          <p:nvPr/>
        </p:nvSpPr>
        <p:spPr>
          <a:xfrm>
            <a:off x="6157570" y="4206240"/>
            <a:ext cx="2389327" cy="1783080"/>
          </a:xfrm>
          <a:prstGeom prst="rect">
            <a:avLst/>
          </a:prstGeom>
          <a:noFill/>
          <a:ln/>
        </p:spPr>
        <p:txBody>
          <a:bodyPr wrap="square" rtlCol="0" anchor="t"/>
          <a:lstStyle/>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Reclutamiento ciego: </a:t>
            </a:r>
            <a:r>
              <a:rPr lang="en-US" sz="1200" dirty="0">
                <a:solidFill>
                  <a:srgbClr val="C4ECFF"/>
                </a:solidFill>
                <a:latin typeface="Roboto" pitchFamily="34" charset="0"/>
                <a:ea typeface="Roboto" pitchFamily="34" charset="-122"/>
                <a:cs typeface="Roboto" pitchFamily="34" charset="-120"/>
              </a:rPr>
              <a:t>aceptar por nullifier, revelar en el claim</a:t>
            </a:r>
          </a:p>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Reputación acumulada: </a:t>
            </a:r>
            <a:r>
              <a:rPr lang="en-US" sz="1200" dirty="0">
                <a:solidFill>
                  <a:srgbClr val="C4ECFF"/>
                </a:solidFill>
                <a:latin typeface="Roboto" pitchFamily="34" charset="0"/>
                <a:ea typeface="Roboto" pitchFamily="34" charset="-122"/>
                <a:cs typeface="Roboto" pitchFamily="34" charset="-120"/>
              </a:rPr>
              <a:t>credenciales sin puntajes públicos</a:t>
            </a:r>
          </a:p>
        </p:txBody>
      </p:sp>
      <p:sp>
        <p:nvSpPr>
          <p:cNvPr id="68" name="Text 66"/>
          <p:cNvSpPr/>
          <p:nvPr/>
        </p:nvSpPr>
        <p:spPr>
          <a:xfrm rot="16200000">
            <a:off x="8445398" y="2446934"/>
            <a:ext cx="1282903" cy="230429"/>
          </a:xfrm>
          <a:prstGeom prst="rect">
            <a:avLst/>
          </a:prstGeom>
          <a:noFill/>
          <a:ln/>
        </p:spPr>
        <p:txBody>
          <a:bodyPr wrap="square" rtlCol="0" anchor="t"/>
          <a:lstStyle/>
          <a:p>
            <a:pPr algn="l" indent="0" marL="0">
              <a:buNone/>
            </a:pPr>
            <a:r>
              <a:rPr lang="en-US" sz="1200" dirty="0">
                <a:solidFill>
                  <a:srgbClr val="D585DF"/>
                </a:solidFill>
                <a:latin typeface="Roboto" pitchFamily="34" charset="0"/>
                <a:ea typeface="Roboto" pitchFamily="34" charset="-122"/>
                <a:cs typeface="Roboto" pitchFamily="34" charset="-120"/>
              </a:rPr>
              <a:t>ROADMAP</a:t>
            </a:r>
          </a:p>
        </p:txBody>
      </p:sp>
      <p:sp>
        <p:nvSpPr>
          <p:cNvPr id="69" name="Shape 67"/>
          <p:cNvSpPr/>
          <p:nvPr/>
        </p:nvSpPr>
        <p:spPr>
          <a:xfrm>
            <a:off x="8910828" y="3407054"/>
            <a:ext cx="2389327" cy="619049"/>
          </a:xfrm>
          <a:custGeom>
            <a:avLst/>
            <a:gdLst/>
            <a:ahLst/>
            <a:cxnLst/>
            <a:rect l="l" t="t" r="r" b="b"/>
            <a:pathLst>
              <a:path w="2389327" h="619049">
                <a:moveTo>
                  <a:pt x="0" y="0"/>
                </a:moveTo>
                <a:lnTo>
                  <a:pt x="2286152" y="0"/>
                </a:lnTo>
                <a:lnTo>
                  <a:pt x="2389327" y="103175"/>
                </a:lnTo>
                <a:lnTo>
                  <a:pt x="2389327" y="619049"/>
                </a:lnTo>
                <a:lnTo>
                  <a:pt x="103175" y="619049"/>
                </a:lnTo>
                <a:lnTo>
                  <a:pt x="0" y="515874"/>
                </a:lnTo>
                <a:close/>
              </a:path>
            </a:pathLst>
          </a:custGeom>
          <a:solidFill>
            <a:srgbClr val="283EBD"/>
          </a:solidFill>
          <a:ln/>
        </p:spPr>
      </p:sp>
      <p:sp>
        <p:nvSpPr>
          <p:cNvPr id="70" name="Text 68"/>
          <p:cNvSpPr/>
          <p:nvPr/>
        </p:nvSpPr>
        <p:spPr>
          <a:xfrm>
            <a:off x="8910828" y="3557016"/>
            <a:ext cx="2389327" cy="320040"/>
          </a:xfrm>
          <a:prstGeom prst="rect">
            <a:avLst/>
          </a:prstGeom>
          <a:noFill/>
          <a:ln/>
        </p:spPr>
        <p:txBody>
          <a:bodyPr wrap="square" rtlCol="0" anchor="t"/>
          <a:lstStyle/>
          <a:p>
            <a:pPr algn="ctr" indent="0" marL="0">
              <a:buNone/>
            </a:pPr>
            <a:r>
              <a:rPr lang="en-US" sz="1800" dirty="0">
                <a:solidFill>
                  <a:srgbClr val="C4ECFF"/>
                </a:solidFill>
                <a:latin typeface="Space Grotesk" pitchFamily="34" charset="0"/>
                <a:ea typeface="Space Grotesk" pitchFamily="34" charset="-122"/>
                <a:cs typeface="Space Grotesk" pitchFamily="34" charset="-120"/>
              </a:rPr>
              <a:t>Fase 4</a:t>
            </a:r>
          </a:p>
        </p:txBody>
      </p:sp>
      <p:sp>
        <p:nvSpPr>
          <p:cNvPr id="71" name="Text 69"/>
          <p:cNvSpPr/>
          <p:nvPr/>
        </p:nvSpPr>
        <p:spPr>
          <a:xfrm>
            <a:off x="8910828" y="4206240"/>
            <a:ext cx="2389327" cy="1783080"/>
          </a:xfrm>
          <a:prstGeom prst="rect">
            <a:avLst/>
          </a:prstGeom>
          <a:noFill/>
          <a:ln/>
        </p:spPr>
        <p:txBody>
          <a:bodyPr wrap="square" rtlCol="0" anchor="t"/>
          <a:lstStyle/>
          <a:p>
            <a:pPr algn="l" indent="0" marL="0">
              <a:lnSpc>
                <a:spcPct val="150000"/>
              </a:lnSpc>
              <a:spcAft>
                <a:spcPts val="400"/>
              </a:spcAft>
              <a:buNone/>
            </a:pPr>
            <a:r>
              <a:rPr lang="en-US" sz="1200" dirty="0" b="1">
                <a:solidFill>
                  <a:srgbClr val="C4ECFF"/>
                </a:solidFill>
                <a:latin typeface="Roboto" pitchFamily="34" charset="0"/>
                <a:ea typeface="Roboto" pitchFamily="34" charset="-122"/>
                <a:cs typeface="Roboto" pitchFamily="34" charset="-120"/>
              </a:rPr>
              <a:t>Matching off-chain: </a:t>
            </a:r>
            <a:r>
              <a:rPr lang="en-US" sz="1200" dirty="0">
                <a:solidFill>
                  <a:srgbClr val="C4ECFF"/>
                </a:solidFill>
                <a:latin typeface="Roboto" pitchFamily="34" charset="0"/>
                <a:ea typeface="Roboto" pitchFamily="34" charset="-122"/>
                <a:cs typeface="Roboto" pitchFamily="34" charset="-120"/>
              </a:rPr>
              <a:t>skills y roles vía eventos (subgraph)</a:t>
            </a:r>
          </a:p>
        </p:txBody>
      </p:sp>
      <p:sp>
        <p:nvSpPr>
          <p:cNvPr id="72" name="Shape 70"/>
          <p:cNvSpPr/>
          <p:nvPr/>
        </p:nvSpPr>
        <p:spPr>
          <a:xfrm>
            <a:off x="0" y="6475781"/>
            <a:ext cx="1249130" cy="58803"/>
          </a:xfrm>
          <a:custGeom>
            <a:avLst/>
            <a:gdLst/>
            <a:ahLst/>
            <a:cxnLst/>
            <a:rect l="l" t="t" r="r" b="b"/>
            <a:pathLst>
              <a:path w="1249130" h="58803">
                <a:moveTo>
                  <a:pt x="0" y="0"/>
                </a:moveTo>
                <a:lnTo>
                  <a:pt x="1217066" y="0"/>
                </a:lnTo>
                <a:lnTo>
                  <a:pt x="1249130" y="19643"/>
                </a:lnTo>
                <a:lnTo>
                  <a:pt x="0" y="58803"/>
                </a:lnTo>
                <a:close/>
              </a:path>
            </a:pathLst>
          </a:custGeom>
          <a:solidFill>
            <a:srgbClr val="273DBB"/>
          </a:solidFill>
          <a:ln/>
        </p:spPr>
      </p:sp>
      <p:sp>
        <p:nvSpPr>
          <p:cNvPr id="73" name="Shape 71"/>
          <p:cNvSpPr/>
          <p:nvPr/>
        </p:nvSpPr>
        <p:spPr>
          <a:xfrm>
            <a:off x="0" y="6475781"/>
            <a:ext cx="3751375" cy="117606"/>
          </a:xfrm>
          <a:custGeom>
            <a:avLst/>
            <a:gdLst/>
            <a:ahLst/>
            <a:cxnLst/>
            <a:rect l="l" t="t" r="r" b="b"/>
            <a:pathLst>
              <a:path w="3751375" h="117606">
                <a:moveTo>
                  <a:pt x="562706" y="0"/>
                </a:moveTo>
                <a:lnTo>
                  <a:pt x="1217066" y="0"/>
                </a:lnTo>
                <a:lnTo>
                  <a:pt x="1340444" y="75583"/>
                </a:lnTo>
                <a:lnTo>
                  <a:pt x="3226579" y="16452"/>
                </a:lnTo>
                <a:lnTo>
                  <a:pt x="3253435" y="0"/>
                </a:lnTo>
                <a:lnTo>
                  <a:pt x="3751375" y="0"/>
                </a:lnTo>
                <a:lnTo>
                  <a:pt x="0" y="117606"/>
                </a:lnTo>
                <a:lnTo>
                  <a:pt x="0" y="17641"/>
                </a:lnTo>
                <a:close/>
              </a:path>
            </a:pathLst>
          </a:custGeom>
          <a:solidFill>
            <a:srgbClr val="253AB6"/>
          </a:solidFill>
          <a:ln/>
        </p:spPr>
      </p:sp>
      <p:sp>
        <p:nvSpPr>
          <p:cNvPr id="74" name="Shape 72"/>
          <p:cNvSpPr/>
          <p:nvPr/>
        </p:nvSpPr>
        <p:spPr>
          <a:xfrm>
            <a:off x="0" y="6475781"/>
            <a:ext cx="5627063" cy="176409"/>
          </a:xfrm>
          <a:custGeom>
            <a:avLst/>
            <a:gdLst/>
            <a:ahLst/>
            <a:cxnLst/>
            <a:rect l="l" t="t" r="r" b="b"/>
            <a:pathLst>
              <a:path w="5627063" h="176409">
                <a:moveTo>
                  <a:pt x="1276524" y="36425"/>
                </a:moveTo>
                <a:lnTo>
                  <a:pt x="1420063" y="124358"/>
                </a:lnTo>
                <a:lnTo>
                  <a:pt x="1660298" y="124358"/>
                </a:lnTo>
                <a:lnTo>
                  <a:pt x="3125415" y="78427"/>
                </a:lnTo>
                <a:lnTo>
                  <a:pt x="3253435" y="0"/>
                </a:lnTo>
                <a:lnTo>
                  <a:pt x="5627063" y="0"/>
                </a:lnTo>
                <a:lnTo>
                  <a:pt x="0" y="176409"/>
                </a:lnTo>
                <a:lnTo>
                  <a:pt x="0" y="76444"/>
                </a:lnTo>
                <a:close/>
              </a:path>
            </a:pathLst>
          </a:custGeom>
          <a:solidFill>
            <a:srgbClr val="2437B1"/>
          </a:solidFill>
          <a:ln/>
        </p:spPr>
      </p:sp>
      <p:sp>
        <p:nvSpPr>
          <p:cNvPr id="75" name="Shape 73"/>
          <p:cNvSpPr/>
          <p:nvPr/>
        </p:nvSpPr>
        <p:spPr>
          <a:xfrm>
            <a:off x="0" y="6475781"/>
            <a:ext cx="7173387" cy="235212"/>
          </a:xfrm>
          <a:custGeom>
            <a:avLst/>
            <a:gdLst/>
            <a:ahLst/>
            <a:cxnLst/>
            <a:rect l="l" t="t" r="r" b="b"/>
            <a:pathLst>
              <a:path w="7173387" h="235212">
                <a:moveTo>
                  <a:pt x="1367839" y="92365"/>
                </a:moveTo>
                <a:lnTo>
                  <a:pt x="1420063" y="124358"/>
                </a:lnTo>
                <a:lnTo>
                  <a:pt x="3050438" y="124358"/>
                </a:lnTo>
                <a:lnTo>
                  <a:pt x="3196230" y="35045"/>
                </a:lnTo>
                <a:lnTo>
                  <a:pt x="4314082" y="0"/>
                </a:lnTo>
                <a:lnTo>
                  <a:pt x="7158838" y="0"/>
                </a:lnTo>
                <a:lnTo>
                  <a:pt x="7173387" y="10326"/>
                </a:lnTo>
                <a:lnTo>
                  <a:pt x="0" y="235212"/>
                </a:lnTo>
                <a:lnTo>
                  <a:pt x="0" y="135247"/>
                </a:lnTo>
                <a:close/>
              </a:path>
            </a:pathLst>
          </a:custGeom>
          <a:solidFill>
            <a:srgbClr val="2234AC"/>
          </a:solidFill>
          <a:ln/>
        </p:spPr>
      </p:sp>
      <p:sp>
        <p:nvSpPr>
          <p:cNvPr id="76" name="Shape 74"/>
          <p:cNvSpPr/>
          <p:nvPr/>
        </p:nvSpPr>
        <p:spPr>
          <a:xfrm>
            <a:off x="0" y="6475781"/>
            <a:ext cx="9378438" cy="294015"/>
          </a:xfrm>
          <a:custGeom>
            <a:avLst/>
            <a:gdLst/>
            <a:ahLst/>
            <a:cxnLst/>
            <a:rect l="l" t="t" r="r" b="b"/>
            <a:pathLst>
              <a:path w="9378438" h="294015">
                <a:moveTo>
                  <a:pt x="2223004" y="124358"/>
                </a:moveTo>
                <a:lnTo>
                  <a:pt x="3050438" y="124358"/>
                </a:lnTo>
                <a:lnTo>
                  <a:pt x="3095066" y="97019"/>
                </a:lnTo>
                <a:lnTo>
                  <a:pt x="6189769" y="0"/>
                </a:lnTo>
                <a:lnTo>
                  <a:pt x="7158838" y="0"/>
                </a:lnTo>
                <a:lnTo>
                  <a:pt x="7252741" y="66641"/>
                </a:lnTo>
                <a:lnTo>
                  <a:pt x="8260691" y="35041"/>
                </a:lnTo>
                <a:lnTo>
                  <a:pt x="8310067" y="0"/>
                </a:lnTo>
                <a:lnTo>
                  <a:pt x="9378438" y="0"/>
                </a:lnTo>
                <a:lnTo>
                  <a:pt x="0" y="294015"/>
                </a:lnTo>
                <a:lnTo>
                  <a:pt x="0" y="194050"/>
                </a:lnTo>
                <a:close/>
              </a:path>
            </a:pathLst>
          </a:custGeom>
          <a:solidFill>
            <a:srgbClr val="2032A7"/>
          </a:solidFill>
          <a:ln/>
        </p:spPr>
      </p:sp>
      <p:sp>
        <p:nvSpPr>
          <p:cNvPr id="77" name="Shape 75"/>
          <p:cNvSpPr/>
          <p:nvPr/>
        </p:nvSpPr>
        <p:spPr>
          <a:xfrm>
            <a:off x="0" y="6475781"/>
            <a:ext cx="11254126" cy="352818"/>
          </a:xfrm>
          <a:custGeom>
            <a:avLst/>
            <a:gdLst/>
            <a:ahLst/>
            <a:cxnLst/>
            <a:rect l="l" t="t" r="r" b="b"/>
            <a:pathLst>
              <a:path w="11254126" h="352818">
                <a:moveTo>
                  <a:pt x="7197193" y="27220"/>
                </a:moveTo>
                <a:lnTo>
                  <a:pt x="7332094" y="122956"/>
                </a:lnTo>
                <a:lnTo>
                  <a:pt x="8174002" y="96562"/>
                </a:lnTo>
                <a:lnTo>
                  <a:pt x="8310067" y="0"/>
                </a:lnTo>
                <a:lnTo>
                  <a:pt x="11254126" y="0"/>
                </a:lnTo>
                <a:lnTo>
                  <a:pt x="0" y="352818"/>
                </a:lnTo>
                <a:lnTo>
                  <a:pt x="0" y="252853"/>
                </a:lnTo>
                <a:close/>
              </a:path>
            </a:pathLst>
          </a:custGeom>
          <a:solidFill>
            <a:srgbClr val="1E2FA2"/>
          </a:solidFill>
          <a:ln/>
        </p:spPr>
      </p:sp>
      <p:sp>
        <p:nvSpPr>
          <p:cNvPr id="78" name="Shape 76"/>
          <p:cNvSpPr/>
          <p:nvPr/>
        </p:nvSpPr>
        <p:spPr>
          <a:xfrm>
            <a:off x="0" y="6475781"/>
            <a:ext cx="11942436" cy="382219"/>
          </a:xfrm>
          <a:custGeom>
            <a:avLst/>
            <a:gdLst/>
            <a:ahLst/>
            <a:cxnLst/>
            <a:rect l="l" t="t" r="r" b="b"/>
            <a:pathLst>
              <a:path w="11942436" h="382219">
                <a:moveTo>
                  <a:pt x="7276547" y="83535"/>
                </a:moveTo>
                <a:lnTo>
                  <a:pt x="7385609" y="160934"/>
                </a:lnTo>
                <a:lnTo>
                  <a:pt x="7996352" y="160934"/>
                </a:lnTo>
                <a:lnTo>
                  <a:pt x="8087314" y="158083"/>
                </a:lnTo>
                <a:lnTo>
                  <a:pt x="8234684" y="53498"/>
                </a:lnTo>
                <a:lnTo>
                  <a:pt x="9941144" y="0"/>
                </a:lnTo>
                <a:lnTo>
                  <a:pt x="11881714" y="0"/>
                </a:lnTo>
                <a:lnTo>
                  <a:pt x="11942436" y="37224"/>
                </a:lnTo>
                <a:lnTo>
                  <a:pt x="937844" y="382219"/>
                </a:lnTo>
                <a:lnTo>
                  <a:pt x="0" y="382219"/>
                </a:lnTo>
                <a:lnTo>
                  <a:pt x="0" y="311656"/>
                </a:lnTo>
                <a:close/>
              </a:path>
            </a:pathLst>
          </a:custGeom>
          <a:solidFill>
            <a:srgbClr val="1D2C9E"/>
          </a:solidFill>
          <a:ln/>
        </p:spPr>
      </p:sp>
      <p:sp>
        <p:nvSpPr>
          <p:cNvPr id="79" name="Shape 77"/>
          <p:cNvSpPr/>
          <p:nvPr/>
        </p:nvSpPr>
        <p:spPr>
          <a:xfrm>
            <a:off x="0" y="6475781"/>
            <a:ext cx="12033691" cy="382219"/>
          </a:xfrm>
          <a:custGeom>
            <a:avLst/>
            <a:gdLst/>
            <a:ahLst/>
            <a:cxnLst/>
            <a:rect l="l" t="t" r="r" b="b"/>
            <a:pathLst>
              <a:path w="12033691" h="382219">
                <a:moveTo>
                  <a:pt x="7355900" y="139851"/>
                </a:moveTo>
                <a:lnTo>
                  <a:pt x="7385609" y="160934"/>
                </a:lnTo>
                <a:lnTo>
                  <a:pt x="8083296" y="160934"/>
                </a:lnTo>
                <a:lnTo>
                  <a:pt x="8147996" y="115018"/>
                </a:lnTo>
                <a:lnTo>
                  <a:pt x="11816832" y="0"/>
                </a:lnTo>
                <a:lnTo>
                  <a:pt x="11881714" y="0"/>
                </a:lnTo>
                <a:lnTo>
                  <a:pt x="12033691" y="93166"/>
                </a:lnTo>
                <a:lnTo>
                  <a:pt x="2813531" y="382219"/>
                </a:lnTo>
                <a:lnTo>
                  <a:pt x="0" y="382219"/>
                </a:lnTo>
                <a:lnTo>
                  <a:pt x="0" y="370459"/>
                </a:lnTo>
                <a:close/>
              </a:path>
            </a:pathLst>
          </a:custGeom>
          <a:solidFill>
            <a:srgbClr val="1B2999"/>
          </a:solidFill>
          <a:ln/>
        </p:spPr>
      </p:sp>
      <p:sp>
        <p:nvSpPr>
          <p:cNvPr id="80" name="Shape 78"/>
          <p:cNvSpPr/>
          <p:nvPr/>
        </p:nvSpPr>
        <p:spPr>
          <a:xfrm>
            <a:off x="1500550" y="6529788"/>
            <a:ext cx="10624397" cy="328212"/>
          </a:xfrm>
          <a:custGeom>
            <a:avLst/>
            <a:gdLst/>
            <a:ahLst/>
            <a:cxnLst/>
            <a:rect l="l" t="t" r="r" b="b"/>
            <a:pathLst>
              <a:path w="10624397" h="328212">
                <a:moveTo>
                  <a:pt x="10469262" y="0"/>
                </a:moveTo>
                <a:lnTo>
                  <a:pt x="10624397" y="95102"/>
                </a:lnTo>
                <a:lnTo>
                  <a:pt x="3188669" y="328212"/>
                </a:lnTo>
                <a:lnTo>
                  <a:pt x="0" y="328212"/>
                </a:lnTo>
                <a:close/>
              </a:path>
            </a:pathLst>
          </a:custGeom>
          <a:solidFill>
            <a:srgbClr val="192694"/>
          </a:solidFill>
          <a:ln/>
        </p:spPr>
      </p:sp>
      <p:sp>
        <p:nvSpPr>
          <p:cNvPr id="81" name="Shape 79"/>
          <p:cNvSpPr/>
          <p:nvPr/>
        </p:nvSpPr>
        <p:spPr>
          <a:xfrm>
            <a:off x="3376238" y="6585730"/>
            <a:ext cx="8815732" cy="272270"/>
          </a:xfrm>
          <a:custGeom>
            <a:avLst/>
            <a:gdLst/>
            <a:ahLst/>
            <a:cxnLst/>
            <a:rect l="l" t="t" r="r" b="b"/>
            <a:pathLst>
              <a:path w="8815732" h="272270">
                <a:moveTo>
                  <a:pt x="8684830" y="0"/>
                </a:moveTo>
                <a:lnTo>
                  <a:pt x="8815732" y="80246"/>
                </a:lnTo>
                <a:lnTo>
                  <a:pt x="8815732" y="95861"/>
                </a:lnTo>
                <a:lnTo>
                  <a:pt x="3188669" y="272270"/>
                </a:lnTo>
                <a:lnTo>
                  <a:pt x="0" y="272270"/>
                </a:lnTo>
                <a:close/>
              </a:path>
            </a:pathLst>
          </a:custGeom>
          <a:solidFill>
            <a:srgbClr val="17248F"/>
          </a:solidFill>
          <a:ln/>
        </p:spPr>
      </p:sp>
      <p:sp>
        <p:nvSpPr>
          <p:cNvPr id="82" name="Shape 80"/>
          <p:cNvSpPr/>
          <p:nvPr/>
        </p:nvSpPr>
        <p:spPr>
          <a:xfrm>
            <a:off x="5251925" y="6641672"/>
            <a:ext cx="6940044" cy="216328"/>
          </a:xfrm>
          <a:custGeom>
            <a:avLst/>
            <a:gdLst/>
            <a:ahLst/>
            <a:cxnLst/>
            <a:rect l="l" t="t" r="r" b="b"/>
            <a:pathLst>
              <a:path w="6940044" h="216328">
                <a:moveTo>
                  <a:pt x="6900398" y="0"/>
                </a:moveTo>
                <a:lnTo>
                  <a:pt x="6940044" y="24304"/>
                </a:lnTo>
                <a:lnTo>
                  <a:pt x="6940044" y="98722"/>
                </a:lnTo>
                <a:lnTo>
                  <a:pt x="3188669" y="216328"/>
                </a:lnTo>
                <a:lnTo>
                  <a:pt x="0" y="216328"/>
                </a:lnTo>
                <a:close/>
              </a:path>
            </a:pathLst>
          </a:custGeom>
          <a:solidFill>
            <a:srgbClr val="15218A"/>
          </a:solidFill>
          <a:ln/>
        </p:spPr>
      </p:sp>
      <p:sp>
        <p:nvSpPr>
          <p:cNvPr id="83" name="Shape 81"/>
          <p:cNvSpPr/>
          <p:nvPr/>
        </p:nvSpPr>
        <p:spPr>
          <a:xfrm>
            <a:off x="7127613" y="6699232"/>
            <a:ext cx="5064357" cy="158768"/>
          </a:xfrm>
          <a:custGeom>
            <a:avLst/>
            <a:gdLst/>
            <a:ahLst/>
            <a:cxnLst/>
            <a:rect l="l" t="t" r="r" b="b"/>
            <a:pathLst>
              <a:path w="5064357" h="158768">
                <a:moveTo>
                  <a:pt x="5064357" y="0"/>
                </a:moveTo>
                <a:lnTo>
                  <a:pt x="5064357" y="99965"/>
                </a:lnTo>
                <a:lnTo>
                  <a:pt x="3188669" y="158768"/>
                </a:lnTo>
                <a:lnTo>
                  <a:pt x="0" y="158768"/>
                </a:lnTo>
                <a:close/>
              </a:path>
            </a:pathLst>
          </a:custGeom>
          <a:solidFill>
            <a:srgbClr val="141E85"/>
          </a:solidFill>
          <a:ln/>
        </p:spPr>
      </p:sp>
      <p:sp>
        <p:nvSpPr>
          <p:cNvPr id="84" name="Shape 82"/>
          <p:cNvSpPr/>
          <p:nvPr/>
        </p:nvSpPr>
        <p:spPr>
          <a:xfrm>
            <a:off x="9003301" y="6758035"/>
            <a:ext cx="3188669" cy="99965"/>
          </a:xfrm>
          <a:custGeom>
            <a:avLst/>
            <a:gdLst/>
            <a:ahLst/>
            <a:cxnLst/>
            <a:rect l="l" t="t" r="r" b="b"/>
            <a:pathLst>
              <a:path w="3188669" h="99965">
                <a:moveTo>
                  <a:pt x="3188669" y="0"/>
                </a:moveTo>
                <a:lnTo>
                  <a:pt x="3188669" y="99965"/>
                </a:lnTo>
                <a:lnTo>
                  <a:pt x="0" y="99965"/>
                </a:lnTo>
                <a:close/>
              </a:path>
            </a:pathLst>
          </a:custGeom>
          <a:solidFill>
            <a:srgbClr val="121B80"/>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421112" y="2116531"/>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012223" y="170764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603334" y="129875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194444" y="88986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785555" y="480974"/>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785555" y="480974"/>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785555" y="480974"/>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785555" y="480974"/>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785555" y="480974"/>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785555" y="480974"/>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785555" y="480974"/>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64163" y="6216091"/>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73054" y="6024982"/>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81944" y="5833872"/>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90834" y="5642762"/>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99725" y="5451653"/>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99725" y="5451653"/>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99725" y="5451653"/>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99725" y="5451653"/>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99725" y="5451653"/>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99725" y="5451653"/>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99725" y="5451653"/>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2816352" y="823874"/>
            <a:ext cx="6556248" cy="768096"/>
          </a:xfrm>
          <a:prstGeom prst="rect">
            <a:avLst/>
          </a:prstGeom>
          <a:noFill/>
          <a:ln/>
        </p:spPr>
        <p:txBody>
          <a:bodyPr wrap="square" rtlCol="0" anchor="t"/>
          <a:lstStyle/>
          <a:p>
            <a:pPr algn="ctr" indent="0" marL="0">
              <a:buNone/>
            </a:pPr>
            <a:r>
              <a:rPr lang="en-US" sz="4400" dirty="0">
                <a:solidFill>
                  <a:srgbClr val="C4ECFF"/>
                </a:solidFill>
                <a:latin typeface="Space Grotesk" pitchFamily="34" charset="0"/>
                <a:ea typeface="Space Grotesk" pitchFamily="34" charset="-122"/>
                <a:cs typeface="Space Grotesk" pitchFamily="34" charset="-120"/>
              </a:rPr>
              <a:t>Flujo del protocolo</a:t>
            </a:r>
            <a:endParaRPr lang="en-US" sz="4400" dirty="0"/>
          </a:p>
        </p:txBody>
      </p:sp>
      <p:sp>
        <p:nvSpPr>
          <p:cNvPr id="56" name="Shape 54"/>
          <p:cNvSpPr/>
          <p:nvPr/>
        </p:nvSpPr>
        <p:spPr>
          <a:xfrm>
            <a:off x="1239926" y="3215030"/>
            <a:ext cx="1394460" cy="1392631"/>
          </a:xfrm>
          <a:prstGeom prst="ellipse">
            <a:avLst/>
          </a:prstGeom>
          <a:solidFill>
            <a:srgbClr val="283EBD"/>
          </a:solidFill>
          <a:ln/>
        </p:spPr>
      </p:sp>
      <p:sp>
        <p:nvSpPr>
          <p:cNvPr id="57" name="Shape 55"/>
          <p:cNvSpPr/>
          <p:nvPr/>
        </p:nvSpPr>
        <p:spPr>
          <a:xfrm>
            <a:off x="2905049" y="3215030"/>
            <a:ext cx="1394460" cy="1392631"/>
          </a:xfrm>
          <a:prstGeom prst="ellipse">
            <a:avLst/>
          </a:prstGeom>
          <a:solidFill>
            <a:srgbClr val="283EBD"/>
          </a:solidFill>
          <a:ln/>
        </p:spPr>
      </p:sp>
      <p:sp>
        <p:nvSpPr>
          <p:cNvPr id="58" name="Shape 56"/>
          <p:cNvSpPr/>
          <p:nvPr/>
        </p:nvSpPr>
        <p:spPr>
          <a:xfrm>
            <a:off x="4572000" y="3215030"/>
            <a:ext cx="1394460" cy="1392631"/>
          </a:xfrm>
          <a:prstGeom prst="ellipse">
            <a:avLst/>
          </a:prstGeom>
          <a:solidFill>
            <a:srgbClr val="283EBD"/>
          </a:solidFill>
          <a:ln/>
        </p:spPr>
      </p:sp>
      <p:sp>
        <p:nvSpPr>
          <p:cNvPr id="59" name="Shape 57"/>
          <p:cNvSpPr/>
          <p:nvPr/>
        </p:nvSpPr>
        <p:spPr>
          <a:xfrm>
            <a:off x="6234379" y="3215030"/>
            <a:ext cx="1394460" cy="1392631"/>
          </a:xfrm>
          <a:prstGeom prst="ellipse">
            <a:avLst/>
          </a:prstGeom>
          <a:solidFill>
            <a:srgbClr val="283EBD"/>
          </a:solidFill>
          <a:ln/>
        </p:spPr>
      </p:sp>
      <p:sp>
        <p:nvSpPr>
          <p:cNvPr id="60" name="Shape 58"/>
          <p:cNvSpPr/>
          <p:nvPr/>
        </p:nvSpPr>
        <p:spPr>
          <a:xfrm>
            <a:off x="7845552" y="3215030"/>
            <a:ext cx="1394460" cy="1392631"/>
          </a:xfrm>
          <a:prstGeom prst="ellipse">
            <a:avLst/>
          </a:prstGeom>
          <a:solidFill>
            <a:srgbClr val="283EBD"/>
          </a:solidFill>
          <a:ln/>
        </p:spPr>
      </p:sp>
      <p:sp>
        <p:nvSpPr>
          <p:cNvPr id="61" name="Shape 59"/>
          <p:cNvSpPr/>
          <p:nvPr/>
        </p:nvSpPr>
        <p:spPr>
          <a:xfrm>
            <a:off x="9469526" y="3215030"/>
            <a:ext cx="1394460" cy="1392631"/>
          </a:xfrm>
          <a:prstGeom prst="ellipse">
            <a:avLst/>
          </a:prstGeom>
          <a:solidFill>
            <a:srgbClr val="283EBD"/>
          </a:solidFill>
          <a:ln/>
        </p:spPr>
      </p:sp>
      <p:sp>
        <p:nvSpPr>
          <p:cNvPr id="62" name="Shape 60"/>
          <p:cNvSpPr/>
          <p:nvPr/>
        </p:nvSpPr>
        <p:spPr>
          <a:xfrm>
            <a:off x="1373429" y="3344875"/>
            <a:ext cx="1127455" cy="1125626"/>
          </a:xfrm>
          <a:prstGeom prst="ellipse">
            <a:avLst/>
          </a:prstGeom>
          <a:solidFill>
            <a:srgbClr val="C4ECFF"/>
          </a:solidFill>
          <a:ln/>
        </p:spPr>
      </p:sp>
      <p:sp>
        <p:nvSpPr>
          <p:cNvPr id="63" name="Shape 61"/>
          <p:cNvSpPr/>
          <p:nvPr/>
        </p:nvSpPr>
        <p:spPr>
          <a:xfrm>
            <a:off x="1471270" y="3441802"/>
            <a:ext cx="927202" cy="925373"/>
          </a:xfrm>
          <a:prstGeom prst="ellipse">
            <a:avLst/>
          </a:prstGeom>
          <a:solidFill>
            <a:srgbClr val="C4ECFF"/>
          </a:solidFill>
          <a:ln w="12700">
            <a:solidFill>
              <a:srgbClr val="111A7E"/>
            </a:solidFill>
            <a:prstDash val="dash"/>
          </a:ln>
        </p:spPr>
      </p:sp>
      <p:sp>
        <p:nvSpPr>
          <p:cNvPr id="104" name="Label commit"/>
          <p:cNvSpPr/>
          <p:nvPr/>
        </p:nvSpPr>
        <p:spPr>
          <a:xfrm>
            <a:off x="1471270" y="3441802"/>
            <a:ext cx="927202" cy="925373"/>
          </a:xfrm>
          <a:prstGeom prst="rect">
            <a:avLst/>
          </a:prstGeom>
          <a:noFill/>
          <a:ln/>
        </p:spPr>
        <p:txBody>
          <a:bodyPr wrap="square" rtlCol="0" anchor="ctr" lIns="0" rIns="0"/>
          <a:lstStyle/>
          <a:p>
            <a:pPr algn="ctr" indent="0" marL="0">
              <a:buNone/>
            </a:pPr>
            <a:r>
              <a:rPr lang="en-US" sz="1400" dirty="0" b="1">
                <a:solidFill>
                  <a:srgbClr val="121228"/>
                </a:solidFill>
                <a:latin typeface="Space Grotesk" pitchFamily="34" charset="0"/>
                <a:ea typeface="Space Grotesk" pitchFamily="34" charset="-122"/>
                <a:cs typeface="Space Grotesk" pitchFamily="34" charset="-120"/>
              </a:rPr>
              <a:t>commit</a:t>
            </a:r>
            <a:endParaRPr lang="en-US" sz="2400" dirty="0"/>
          </a:p>
        </p:txBody>
      </p:sp>
      <p:sp>
        <p:nvSpPr>
          <p:cNvPr id="65" name="Shape 63"/>
          <p:cNvSpPr/>
          <p:nvPr/>
        </p:nvSpPr>
        <p:spPr>
          <a:xfrm>
            <a:off x="3038551" y="3344875"/>
            <a:ext cx="1127455" cy="1125626"/>
          </a:xfrm>
          <a:prstGeom prst="ellipse">
            <a:avLst/>
          </a:prstGeom>
          <a:solidFill>
            <a:srgbClr val="C4ECFF"/>
          </a:solidFill>
          <a:ln/>
        </p:spPr>
      </p:sp>
      <p:sp>
        <p:nvSpPr>
          <p:cNvPr id="66" name="Shape 64"/>
          <p:cNvSpPr/>
          <p:nvPr/>
        </p:nvSpPr>
        <p:spPr>
          <a:xfrm>
            <a:off x="3136392" y="3441802"/>
            <a:ext cx="927202" cy="925373"/>
          </a:xfrm>
          <a:prstGeom prst="ellipse">
            <a:avLst/>
          </a:prstGeom>
          <a:solidFill>
            <a:srgbClr val="C4ECFF"/>
          </a:solidFill>
          <a:ln w="12700">
            <a:solidFill>
              <a:srgbClr val="111A7E"/>
            </a:solidFill>
            <a:prstDash val="dash"/>
          </a:ln>
        </p:spPr>
      </p:sp>
      <p:sp>
        <p:nvSpPr>
          <p:cNvPr id="105" name="Label teamId"/>
          <p:cNvSpPr/>
          <p:nvPr/>
        </p:nvSpPr>
        <p:spPr>
          <a:xfrm>
            <a:off x="3136392" y="3441802"/>
            <a:ext cx="927202" cy="925373"/>
          </a:xfrm>
          <a:prstGeom prst="rect">
            <a:avLst/>
          </a:prstGeom>
          <a:noFill/>
          <a:ln/>
        </p:spPr>
        <p:txBody>
          <a:bodyPr wrap="square" rtlCol="0" anchor="ctr" lIns="0" rIns="0"/>
          <a:lstStyle/>
          <a:p>
            <a:pPr algn="ctr" indent="0" marL="0">
              <a:buNone/>
            </a:pPr>
            <a:r>
              <a:rPr lang="en-US" sz="1400" dirty="0" b="1">
                <a:solidFill>
                  <a:srgbClr val="121228"/>
                </a:solidFill>
                <a:latin typeface="Space Grotesk" pitchFamily="34" charset="0"/>
                <a:ea typeface="Space Grotesk" pitchFamily="34" charset="-122"/>
                <a:cs typeface="Space Grotesk" pitchFamily="34" charset="-120"/>
              </a:rPr>
              <a:t>teamId</a:t>
            </a:r>
            <a:endParaRPr lang="en-US" sz="2400" dirty="0"/>
          </a:p>
        </p:txBody>
      </p:sp>
      <p:sp>
        <p:nvSpPr>
          <p:cNvPr id="68" name="Shape 66"/>
          <p:cNvSpPr/>
          <p:nvPr/>
        </p:nvSpPr>
        <p:spPr>
          <a:xfrm>
            <a:off x="4705502" y="3344875"/>
            <a:ext cx="1127455" cy="1125626"/>
          </a:xfrm>
          <a:prstGeom prst="ellipse">
            <a:avLst/>
          </a:prstGeom>
          <a:solidFill>
            <a:srgbClr val="C4ECFF"/>
          </a:solidFill>
          <a:ln/>
        </p:spPr>
      </p:sp>
      <p:sp>
        <p:nvSpPr>
          <p:cNvPr id="69" name="Shape 67"/>
          <p:cNvSpPr/>
          <p:nvPr/>
        </p:nvSpPr>
        <p:spPr>
          <a:xfrm>
            <a:off x="4803343" y="3441802"/>
            <a:ext cx="927202" cy="925373"/>
          </a:xfrm>
          <a:prstGeom prst="ellipse">
            <a:avLst/>
          </a:prstGeom>
          <a:solidFill>
            <a:srgbClr val="C4ECFF"/>
          </a:solidFill>
          <a:ln w="12700">
            <a:solidFill>
              <a:srgbClr val="111A7E"/>
            </a:solidFill>
            <a:prstDash val="dash"/>
          </a:ln>
        </p:spPr>
      </p:sp>
      <p:sp>
        <p:nvSpPr>
          <p:cNvPr id="106" name="Label proof"/>
          <p:cNvSpPr/>
          <p:nvPr/>
        </p:nvSpPr>
        <p:spPr>
          <a:xfrm>
            <a:off x="4803343" y="3441802"/>
            <a:ext cx="927202" cy="925373"/>
          </a:xfrm>
          <a:prstGeom prst="rect">
            <a:avLst/>
          </a:prstGeom>
          <a:noFill/>
          <a:ln/>
        </p:spPr>
        <p:txBody>
          <a:bodyPr wrap="square" rtlCol="0" anchor="ctr" lIns="0" rIns="0"/>
          <a:lstStyle/>
          <a:p>
            <a:pPr algn="ctr" indent="0" marL="0">
              <a:buNone/>
            </a:pPr>
            <a:r>
              <a:rPr lang="en-US" sz="1400" dirty="0" b="1">
                <a:solidFill>
                  <a:srgbClr val="121228"/>
                </a:solidFill>
                <a:latin typeface="Space Grotesk" pitchFamily="34" charset="0"/>
                <a:ea typeface="Space Grotesk" pitchFamily="34" charset="-122"/>
                <a:cs typeface="Space Grotesk" pitchFamily="34" charset="-120"/>
              </a:rPr>
              <a:t>proof</a:t>
            </a:r>
            <a:endParaRPr lang="en-US" sz="2400" dirty="0"/>
          </a:p>
        </p:txBody>
      </p:sp>
      <p:sp>
        <p:nvSpPr>
          <p:cNvPr id="71" name="Shape 69"/>
          <p:cNvSpPr/>
          <p:nvPr/>
        </p:nvSpPr>
        <p:spPr>
          <a:xfrm>
            <a:off x="6367882" y="3344875"/>
            <a:ext cx="1127455" cy="1125626"/>
          </a:xfrm>
          <a:prstGeom prst="ellipse">
            <a:avLst/>
          </a:prstGeom>
          <a:solidFill>
            <a:srgbClr val="C4ECFF"/>
          </a:solidFill>
          <a:ln/>
        </p:spPr>
      </p:sp>
      <p:sp>
        <p:nvSpPr>
          <p:cNvPr id="72" name="Shape 70"/>
          <p:cNvSpPr/>
          <p:nvPr/>
        </p:nvSpPr>
        <p:spPr>
          <a:xfrm>
            <a:off x="6465722" y="3441802"/>
            <a:ext cx="927202" cy="925373"/>
          </a:xfrm>
          <a:prstGeom prst="ellipse">
            <a:avLst/>
          </a:prstGeom>
          <a:solidFill>
            <a:srgbClr val="C4ECFF"/>
          </a:solidFill>
          <a:ln w="12700">
            <a:solidFill>
              <a:srgbClr val="111A7E"/>
            </a:solidFill>
            <a:prstDash val="dash"/>
          </a:ln>
        </p:spPr>
      </p:sp>
      <p:sp>
        <p:nvSpPr>
          <p:cNvPr id="107" name="Label accept"/>
          <p:cNvSpPr/>
          <p:nvPr/>
        </p:nvSpPr>
        <p:spPr>
          <a:xfrm>
            <a:off x="6465722" y="3441802"/>
            <a:ext cx="927202" cy="925373"/>
          </a:xfrm>
          <a:prstGeom prst="rect">
            <a:avLst/>
          </a:prstGeom>
          <a:noFill/>
          <a:ln/>
        </p:spPr>
        <p:txBody>
          <a:bodyPr wrap="square" rtlCol="0" anchor="ctr" lIns="0" rIns="0"/>
          <a:lstStyle/>
          <a:p>
            <a:pPr algn="ctr" indent="0" marL="0">
              <a:buNone/>
            </a:pPr>
            <a:r>
              <a:rPr lang="en-US" sz="1400" dirty="0" b="1">
                <a:solidFill>
                  <a:srgbClr val="121228"/>
                </a:solidFill>
                <a:latin typeface="Space Grotesk" pitchFamily="34" charset="0"/>
                <a:ea typeface="Space Grotesk" pitchFamily="34" charset="-122"/>
                <a:cs typeface="Space Grotesk" pitchFamily="34" charset="-120"/>
              </a:rPr>
              <a:t>accept</a:t>
            </a:r>
            <a:endParaRPr lang="en-US" sz="2400" dirty="0"/>
          </a:p>
        </p:txBody>
      </p:sp>
      <p:sp>
        <p:nvSpPr>
          <p:cNvPr id="74" name="Shape 72"/>
          <p:cNvSpPr/>
          <p:nvPr/>
        </p:nvSpPr>
        <p:spPr>
          <a:xfrm>
            <a:off x="7979054" y="3344875"/>
            <a:ext cx="1127455" cy="1125626"/>
          </a:xfrm>
          <a:prstGeom prst="ellipse">
            <a:avLst/>
          </a:prstGeom>
          <a:solidFill>
            <a:srgbClr val="C4ECFF"/>
          </a:solidFill>
          <a:ln/>
        </p:spPr>
      </p:sp>
      <p:sp>
        <p:nvSpPr>
          <p:cNvPr id="75" name="Shape 73"/>
          <p:cNvSpPr/>
          <p:nvPr/>
        </p:nvSpPr>
        <p:spPr>
          <a:xfrm>
            <a:off x="8076895" y="3441802"/>
            <a:ext cx="927202" cy="925373"/>
          </a:xfrm>
          <a:prstGeom prst="ellipse">
            <a:avLst/>
          </a:prstGeom>
          <a:solidFill>
            <a:srgbClr val="C4ECFF"/>
          </a:solidFill>
          <a:ln w="12700">
            <a:solidFill>
              <a:srgbClr val="111A7E"/>
            </a:solidFill>
            <a:prstDash val="dash"/>
          </a:ln>
        </p:spPr>
      </p:sp>
      <p:sp>
        <p:nvSpPr>
          <p:cNvPr id="108" name="Label root"/>
          <p:cNvSpPr/>
          <p:nvPr/>
        </p:nvSpPr>
        <p:spPr>
          <a:xfrm>
            <a:off x="8076895" y="3441802"/>
            <a:ext cx="927202" cy="925373"/>
          </a:xfrm>
          <a:prstGeom prst="rect">
            <a:avLst/>
          </a:prstGeom>
          <a:noFill/>
          <a:ln/>
        </p:spPr>
        <p:txBody>
          <a:bodyPr wrap="square" rtlCol="0" anchor="ctr" lIns="0" rIns="0"/>
          <a:lstStyle/>
          <a:p>
            <a:pPr algn="ctr" indent="0" marL="0">
              <a:buNone/>
            </a:pPr>
            <a:r>
              <a:rPr lang="en-US" sz="1400" dirty="0" b="1">
                <a:solidFill>
                  <a:srgbClr val="121228"/>
                </a:solidFill>
                <a:latin typeface="Space Grotesk" pitchFamily="34" charset="0"/>
                <a:ea typeface="Space Grotesk" pitchFamily="34" charset="-122"/>
                <a:cs typeface="Space Grotesk" pitchFamily="34" charset="-120"/>
              </a:rPr>
              <a:t>root</a:t>
            </a:r>
            <a:endParaRPr lang="en-US" sz="2400" dirty="0"/>
          </a:p>
        </p:txBody>
      </p:sp>
      <p:sp>
        <p:nvSpPr>
          <p:cNvPr id="77" name="Shape 75"/>
          <p:cNvSpPr/>
          <p:nvPr/>
        </p:nvSpPr>
        <p:spPr>
          <a:xfrm>
            <a:off x="9603029" y="3344875"/>
            <a:ext cx="1127455" cy="1125626"/>
          </a:xfrm>
          <a:prstGeom prst="ellipse">
            <a:avLst/>
          </a:prstGeom>
          <a:solidFill>
            <a:srgbClr val="C4ECFF"/>
          </a:solidFill>
          <a:ln/>
        </p:spPr>
      </p:sp>
      <p:sp>
        <p:nvSpPr>
          <p:cNvPr id="78" name="Shape 76"/>
          <p:cNvSpPr/>
          <p:nvPr/>
        </p:nvSpPr>
        <p:spPr>
          <a:xfrm>
            <a:off x="9700870" y="3441802"/>
            <a:ext cx="927202" cy="925373"/>
          </a:xfrm>
          <a:prstGeom prst="ellipse">
            <a:avLst/>
          </a:prstGeom>
          <a:solidFill>
            <a:srgbClr val="C4ECFF"/>
          </a:solidFill>
          <a:ln w="12700">
            <a:solidFill>
              <a:srgbClr val="111A7E"/>
            </a:solidFill>
            <a:prstDash val="dash"/>
          </a:ln>
        </p:spPr>
      </p:sp>
      <p:sp>
        <p:nvSpPr>
          <p:cNvPr id="109" name="Label NFT"/>
          <p:cNvSpPr/>
          <p:nvPr/>
        </p:nvSpPr>
        <p:spPr>
          <a:xfrm>
            <a:off x="9700870" y="3441802"/>
            <a:ext cx="927202" cy="925373"/>
          </a:xfrm>
          <a:prstGeom prst="rect">
            <a:avLst/>
          </a:prstGeom>
          <a:noFill/>
          <a:ln/>
        </p:spPr>
        <p:txBody>
          <a:bodyPr wrap="square" rtlCol="0" anchor="ctr" lIns="0" rIns="0"/>
          <a:lstStyle/>
          <a:p>
            <a:pPr algn="ctr" indent="0" marL="0">
              <a:buNone/>
            </a:pPr>
            <a:r>
              <a:rPr lang="en-US" sz="1400" dirty="0" b="1">
                <a:solidFill>
                  <a:srgbClr val="121228"/>
                </a:solidFill>
                <a:latin typeface="Space Grotesk" pitchFamily="34" charset="0"/>
                <a:ea typeface="Space Grotesk" pitchFamily="34" charset="-122"/>
                <a:cs typeface="Space Grotesk" pitchFamily="34" charset="-120"/>
              </a:rPr>
              <a:t>NFT</a:t>
            </a:r>
            <a:endParaRPr lang="en-US" sz="2400" dirty="0"/>
          </a:p>
        </p:txBody>
      </p:sp>
      <p:sp>
        <p:nvSpPr>
          <p:cNvPr id="80" name="Text 78"/>
          <p:cNvSpPr/>
          <p:nvPr/>
        </p:nvSpPr>
        <p:spPr>
          <a:xfrm>
            <a:off x="1547165" y="2675534"/>
            <a:ext cx="778154" cy="461772"/>
          </a:xfrm>
          <a:prstGeom prst="rect">
            <a:avLst/>
          </a:prstGeom>
          <a:noFill/>
          <a:ln/>
        </p:spPr>
        <p:txBody>
          <a:bodyPr wrap="square" rtlCol="0" anchor="t"/>
          <a:lstStyle/>
          <a:p>
            <a:pPr algn="ctr" indent="0" marL="0">
              <a:buNone/>
            </a:pPr>
            <a:r>
              <a:rPr lang="en-US" sz="2400" dirty="0">
                <a:solidFill>
                  <a:srgbClr val="C4ECFF"/>
                </a:solidFill>
                <a:latin typeface="Space Grotesk" pitchFamily="34" charset="0"/>
                <a:ea typeface="Space Grotesk" pitchFamily="34" charset="-122"/>
                <a:cs typeface="Space Grotesk" pitchFamily="34" charset="-120"/>
              </a:rPr>
              <a:t>01</a:t>
            </a:r>
            <a:endParaRPr lang="en-US" sz="2400" dirty="0"/>
          </a:p>
        </p:txBody>
      </p:sp>
      <p:sp>
        <p:nvSpPr>
          <p:cNvPr id="81" name="Shape 79"/>
          <p:cNvSpPr/>
          <p:nvPr/>
        </p:nvSpPr>
        <p:spPr>
          <a:xfrm>
            <a:off x="1930298" y="4593946"/>
            <a:ext cx="0" cy="428854"/>
          </a:xfrm>
          <a:prstGeom prst="line">
            <a:avLst/>
          </a:prstGeom>
          <a:noFill/>
          <a:ln w="12700">
            <a:solidFill>
              <a:srgbClr val="808080"/>
            </a:solidFill>
            <a:prstDash val="sysDash"/>
            <a:tailEnd type="oval"/>
          </a:ln>
        </p:spPr>
      </p:sp>
      <p:sp>
        <p:nvSpPr>
          <p:cNvPr id="82" name="Text 80"/>
          <p:cNvSpPr/>
          <p:nvPr/>
        </p:nvSpPr>
        <p:spPr>
          <a:xfrm>
            <a:off x="1063447" y="5175504"/>
            <a:ext cx="1673352" cy="276149"/>
          </a:xfrm>
          <a:prstGeom prst="rect">
            <a:avLst/>
          </a:prstGeom>
          <a:noFill/>
          <a:ln/>
        </p:spPr>
        <p:txBody>
          <a:bodyPr wrap="square" rtlCol="0" anchor="t"/>
          <a:lstStyle/>
          <a:p>
            <a:pPr algn="ctr" indent="0" marL="0">
              <a:buNone/>
            </a:pPr>
            <a:r>
              <a:rPr lang="en-US" sz="1300" dirty="0">
                <a:solidFill>
                  <a:srgbClr val="C4ECFF"/>
                </a:solidFill>
                <a:latin typeface="Space Grotesk" pitchFamily="34" charset="0"/>
                <a:ea typeface="Space Grotesk" pitchFamily="34" charset="-122"/>
                <a:cs typeface="Space Grotesk" pitchFamily="34" charset="-120"/>
              </a:rPr>
              <a:t>INSCRIPCIÓN</a:t>
            </a:r>
            <a:endParaRPr lang="en-US" sz="1300" dirty="0"/>
          </a:p>
        </p:txBody>
      </p:sp>
      <p:sp>
        <p:nvSpPr>
          <p:cNvPr id="83" name="Text 81"/>
          <p:cNvSpPr/>
          <p:nvPr/>
        </p:nvSpPr>
        <p:spPr>
          <a:xfrm>
            <a:off x="894282" y="5454396"/>
            <a:ext cx="2011680" cy="731520"/>
          </a:xfrm>
          <a:prstGeom prst="rect">
            <a:avLst/>
          </a:prstGeom>
          <a:noFill/>
          <a:ln/>
        </p:spPr>
        <p:txBody>
          <a:bodyPr wrap="square" rtlCol="0" anchor="t"/>
          <a:lstStyle/>
          <a:p>
            <a:pPr algn="ctr" indent="0" marL="0">
              <a:lnSpc>
                <a:spcPct val="130000"/>
              </a:lnSpc>
              <a:buNone/>
            </a:pPr>
            <a:r>
              <a:rPr lang="en-US" sz="1200" dirty="0">
                <a:solidFill>
                  <a:srgbClr val="C2C5CC"/>
                </a:solidFill>
                <a:latin typeface="Roboto" pitchFamily="34" charset="0"/>
                <a:ea typeface="Roboto" pitchFamily="34" charset="-122"/>
                <a:cs typeface="Roboto" pitchFamily="34" charset="-120"/>
              </a:rPr>
              <a:t>El docente agrega los commitments de identidad.</a:t>
            </a:r>
            <a:endParaRPr lang="en-US" sz="1200" dirty="0"/>
          </a:p>
        </p:txBody>
      </p:sp>
      <p:sp>
        <p:nvSpPr>
          <p:cNvPr id="84" name="Text 82"/>
          <p:cNvSpPr/>
          <p:nvPr/>
        </p:nvSpPr>
        <p:spPr>
          <a:xfrm>
            <a:off x="3212287" y="4714646"/>
            <a:ext cx="778154" cy="461772"/>
          </a:xfrm>
          <a:prstGeom prst="rect">
            <a:avLst/>
          </a:prstGeom>
          <a:noFill/>
          <a:ln/>
        </p:spPr>
        <p:txBody>
          <a:bodyPr wrap="square" rtlCol="0" anchor="t"/>
          <a:lstStyle/>
          <a:p>
            <a:pPr algn="ctr" indent="0" marL="0">
              <a:buNone/>
            </a:pPr>
            <a:r>
              <a:rPr lang="en-US" sz="2400" dirty="0">
                <a:solidFill>
                  <a:srgbClr val="C4ECFF"/>
                </a:solidFill>
                <a:latin typeface="Space Grotesk" pitchFamily="34" charset="0"/>
                <a:ea typeface="Space Grotesk" pitchFamily="34" charset="-122"/>
                <a:cs typeface="Space Grotesk" pitchFamily="34" charset="-120"/>
              </a:rPr>
              <a:t>02</a:t>
            </a:r>
            <a:endParaRPr lang="en-US" sz="2400" dirty="0"/>
          </a:p>
        </p:txBody>
      </p:sp>
      <p:sp>
        <p:nvSpPr>
          <p:cNvPr id="85" name="Shape 83"/>
          <p:cNvSpPr/>
          <p:nvPr/>
        </p:nvSpPr>
        <p:spPr>
          <a:xfrm>
            <a:off x="3581705" y="2845613"/>
            <a:ext cx="0" cy="374904"/>
          </a:xfrm>
          <a:prstGeom prst="line">
            <a:avLst/>
          </a:prstGeom>
          <a:noFill/>
          <a:ln w="12700">
            <a:solidFill>
              <a:srgbClr val="808080"/>
            </a:solidFill>
            <a:prstDash val="sysDash"/>
            <a:headEnd type="oval"/>
          </a:ln>
        </p:spPr>
      </p:sp>
      <p:sp>
        <p:nvSpPr>
          <p:cNvPr id="86" name="Text 84"/>
          <p:cNvSpPr/>
          <p:nvPr/>
        </p:nvSpPr>
        <p:spPr>
          <a:xfrm>
            <a:off x="2819095" y="1783080"/>
            <a:ext cx="1673352" cy="277063"/>
          </a:xfrm>
          <a:prstGeom prst="rect">
            <a:avLst/>
          </a:prstGeom>
          <a:noFill/>
          <a:ln/>
        </p:spPr>
        <p:txBody>
          <a:bodyPr wrap="square" rtlCol="0" anchor="t"/>
          <a:lstStyle/>
          <a:p>
            <a:pPr algn="ctr" indent="0" marL="0">
              <a:buNone/>
            </a:pPr>
            <a:r>
              <a:rPr lang="en-US" sz="1300" dirty="0">
                <a:solidFill>
                  <a:srgbClr val="C4ECFF"/>
                </a:solidFill>
                <a:latin typeface="Space Grotesk" pitchFamily="34" charset="0"/>
                <a:ea typeface="Space Grotesk" pitchFamily="34" charset="-122"/>
                <a:cs typeface="Space Grotesk" pitchFamily="34" charset="-120"/>
              </a:rPr>
              <a:t>CREAR EQUIPO</a:t>
            </a:r>
            <a:endParaRPr lang="en-US" sz="1300" dirty="0"/>
          </a:p>
        </p:txBody>
      </p:sp>
      <p:sp>
        <p:nvSpPr>
          <p:cNvPr id="87" name="Text 85"/>
          <p:cNvSpPr/>
          <p:nvPr/>
        </p:nvSpPr>
        <p:spPr>
          <a:xfrm>
            <a:off x="2649931" y="2057400"/>
            <a:ext cx="2011680" cy="731520"/>
          </a:xfrm>
          <a:prstGeom prst="rect">
            <a:avLst/>
          </a:prstGeom>
          <a:noFill/>
          <a:ln/>
        </p:spPr>
        <p:txBody>
          <a:bodyPr wrap="square" rtlCol="0" anchor="t"/>
          <a:lstStyle/>
          <a:p>
            <a:pPr algn="ctr" indent="0" marL="0">
              <a:lnSpc>
                <a:spcPct val="130000"/>
              </a:lnSpc>
              <a:buNone/>
            </a:pPr>
            <a:r>
              <a:rPr lang="en-US" sz="1200" dirty="0">
                <a:solidFill>
                  <a:srgbClr val="C2C5CC"/>
                </a:solidFill>
                <a:latin typeface="Roboto" pitchFamily="34" charset="0"/>
                <a:ea typeface="Roboto" pitchFamily="34" charset="-122"/>
                <a:cs typeface="Roboto" pitchFamily="34" charset="-120"/>
              </a:rPr>
              <a:t>Un miembro envía prueba ZK con scope = teamId.</a:t>
            </a:r>
            <a:endParaRPr lang="en-US" sz="1200" dirty="0"/>
          </a:p>
        </p:txBody>
      </p:sp>
      <p:sp>
        <p:nvSpPr>
          <p:cNvPr id="88" name="Text 86"/>
          <p:cNvSpPr/>
          <p:nvPr/>
        </p:nvSpPr>
        <p:spPr>
          <a:xfrm>
            <a:off x="4879238" y="2675534"/>
            <a:ext cx="778154" cy="461772"/>
          </a:xfrm>
          <a:prstGeom prst="rect">
            <a:avLst/>
          </a:prstGeom>
          <a:noFill/>
          <a:ln/>
        </p:spPr>
        <p:txBody>
          <a:bodyPr wrap="square" rtlCol="0" anchor="t"/>
          <a:lstStyle/>
          <a:p>
            <a:pPr algn="ctr" indent="0" marL="0">
              <a:buNone/>
            </a:pPr>
            <a:r>
              <a:rPr lang="en-US" sz="2400" dirty="0">
                <a:solidFill>
                  <a:srgbClr val="C4ECFF"/>
                </a:solidFill>
                <a:latin typeface="Space Grotesk" pitchFamily="34" charset="0"/>
                <a:ea typeface="Space Grotesk" pitchFamily="34" charset="-122"/>
                <a:cs typeface="Space Grotesk" pitchFamily="34" charset="-120"/>
              </a:rPr>
              <a:t>03</a:t>
            </a:r>
            <a:endParaRPr lang="en-US" sz="2400" dirty="0"/>
          </a:p>
        </p:txBody>
      </p:sp>
      <p:sp>
        <p:nvSpPr>
          <p:cNvPr id="89" name="Shape 87"/>
          <p:cNvSpPr/>
          <p:nvPr/>
        </p:nvSpPr>
        <p:spPr>
          <a:xfrm>
            <a:off x="5264201" y="4593946"/>
            <a:ext cx="0" cy="428854"/>
          </a:xfrm>
          <a:prstGeom prst="line">
            <a:avLst/>
          </a:prstGeom>
          <a:noFill/>
          <a:ln w="12700">
            <a:solidFill>
              <a:srgbClr val="808080"/>
            </a:solidFill>
            <a:prstDash val="sysDash"/>
            <a:tailEnd type="oval"/>
          </a:ln>
        </p:spPr>
      </p:sp>
      <p:sp>
        <p:nvSpPr>
          <p:cNvPr id="90" name="Text 88"/>
          <p:cNvSpPr/>
          <p:nvPr/>
        </p:nvSpPr>
        <p:spPr>
          <a:xfrm>
            <a:off x="4427525" y="5175504"/>
            <a:ext cx="1673352" cy="276149"/>
          </a:xfrm>
          <a:prstGeom prst="rect">
            <a:avLst/>
          </a:prstGeom>
          <a:noFill/>
          <a:ln/>
        </p:spPr>
        <p:txBody>
          <a:bodyPr wrap="square" rtlCol="0" anchor="t"/>
          <a:lstStyle/>
          <a:p>
            <a:pPr algn="ctr" indent="0" marL="0">
              <a:buNone/>
            </a:pPr>
            <a:r>
              <a:rPr lang="en-US" sz="1300" dirty="0">
                <a:solidFill>
                  <a:srgbClr val="C4ECFF"/>
                </a:solidFill>
                <a:latin typeface="Space Grotesk" pitchFamily="34" charset="0"/>
                <a:ea typeface="Space Grotesk" pitchFamily="34" charset="-122"/>
                <a:cs typeface="Space Grotesk" pitchFamily="34" charset="-120"/>
              </a:rPr>
              <a:t>POSTULARSE</a:t>
            </a:r>
            <a:endParaRPr lang="en-US" sz="1300" dirty="0"/>
          </a:p>
        </p:txBody>
      </p:sp>
      <p:sp>
        <p:nvSpPr>
          <p:cNvPr id="91" name="Text 89"/>
          <p:cNvSpPr/>
          <p:nvPr/>
        </p:nvSpPr>
        <p:spPr>
          <a:xfrm>
            <a:off x="4258361" y="5454396"/>
            <a:ext cx="2011680" cy="731520"/>
          </a:xfrm>
          <a:prstGeom prst="rect">
            <a:avLst/>
          </a:prstGeom>
          <a:noFill/>
          <a:ln/>
        </p:spPr>
        <p:txBody>
          <a:bodyPr wrap="square" rtlCol="0" anchor="t"/>
          <a:lstStyle/>
          <a:p>
            <a:pPr algn="ctr" indent="0" marL="0">
              <a:lnSpc>
                <a:spcPct val="130000"/>
              </a:lnSpc>
              <a:buNone/>
            </a:pPr>
            <a:r>
              <a:rPr lang="en-US" sz="1200" dirty="0">
                <a:solidFill>
                  <a:srgbClr val="C2C5CC"/>
                </a:solidFill>
                <a:latin typeface="Roboto" pitchFamily="34" charset="0"/>
                <a:ea typeface="Roboto" pitchFamily="34" charset="-122"/>
                <a:cs typeface="Roboto" pitchFamily="34" charset="-120"/>
              </a:rPr>
              <a:t>Prueba ZK anónima; se guarda por nullifier, sin msg.sender.</a:t>
            </a:r>
            <a:endParaRPr lang="en-US" sz="1200" dirty="0"/>
          </a:p>
        </p:txBody>
      </p:sp>
      <p:sp>
        <p:nvSpPr>
          <p:cNvPr id="92" name="Text 90"/>
          <p:cNvSpPr/>
          <p:nvPr/>
        </p:nvSpPr>
        <p:spPr>
          <a:xfrm>
            <a:off x="6541618" y="4714646"/>
            <a:ext cx="778154" cy="461772"/>
          </a:xfrm>
          <a:prstGeom prst="rect">
            <a:avLst/>
          </a:prstGeom>
          <a:noFill/>
          <a:ln/>
        </p:spPr>
        <p:txBody>
          <a:bodyPr wrap="square" rtlCol="0" anchor="t"/>
          <a:lstStyle/>
          <a:p>
            <a:pPr algn="ctr" indent="0" marL="0">
              <a:buNone/>
            </a:pPr>
            <a:r>
              <a:rPr lang="en-US" sz="2400" dirty="0">
                <a:solidFill>
                  <a:srgbClr val="C4ECFF"/>
                </a:solidFill>
                <a:latin typeface="Space Grotesk" pitchFamily="34" charset="0"/>
                <a:ea typeface="Space Grotesk" pitchFamily="34" charset="-122"/>
                <a:cs typeface="Space Grotesk" pitchFamily="34" charset="-120"/>
              </a:rPr>
              <a:t>04</a:t>
            </a:r>
            <a:endParaRPr lang="en-US" sz="2400" dirty="0"/>
          </a:p>
        </p:txBody>
      </p:sp>
      <p:sp>
        <p:nvSpPr>
          <p:cNvPr id="93" name="Shape 91"/>
          <p:cNvSpPr/>
          <p:nvPr/>
        </p:nvSpPr>
        <p:spPr>
          <a:xfrm>
            <a:off x="6942125" y="2845613"/>
            <a:ext cx="0" cy="374904"/>
          </a:xfrm>
          <a:prstGeom prst="line">
            <a:avLst/>
          </a:prstGeom>
          <a:noFill/>
          <a:ln w="12700">
            <a:solidFill>
              <a:srgbClr val="808080"/>
            </a:solidFill>
            <a:prstDash val="sysDash"/>
            <a:headEnd type="oval"/>
          </a:ln>
        </p:spPr>
      </p:sp>
      <p:sp>
        <p:nvSpPr>
          <p:cNvPr id="94" name="Text 92"/>
          <p:cNvSpPr/>
          <p:nvPr/>
        </p:nvSpPr>
        <p:spPr>
          <a:xfrm>
            <a:off x="6113678" y="1783080"/>
            <a:ext cx="1673352" cy="277063"/>
          </a:xfrm>
          <a:prstGeom prst="rect">
            <a:avLst/>
          </a:prstGeom>
          <a:noFill/>
          <a:ln/>
        </p:spPr>
        <p:txBody>
          <a:bodyPr wrap="square" rtlCol="0" anchor="t"/>
          <a:lstStyle/>
          <a:p>
            <a:pPr algn="ctr" indent="0" marL="0">
              <a:buNone/>
            </a:pPr>
            <a:r>
              <a:rPr lang="en-US" sz="1300" dirty="0">
                <a:solidFill>
                  <a:srgbClr val="C4ECFF"/>
                </a:solidFill>
                <a:latin typeface="Space Grotesk" pitchFamily="34" charset="0"/>
                <a:ea typeface="Space Grotesk" pitchFamily="34" charset="-122"/>
                <a:cs typeface="Space Grotesk" pitchFamily="34" charset="-120"/>
              </a:rPr>
              <a:t>ACEPTAR</a:t>
            </a:r>
            <a:endParaRPr lang="en-US" sz="1300" dirty="0"/>
          </a:p>
        </p:txBody>
      </p:sp>
      <p:sp>
        <p:nvSpPr>
          <p:cNvPr id="95" name="Text 93"/>
          <p:cNvSpPr/>
          <p:nvPr/>
        </p:nvSpPr>
        <p:spPr>
          <a:xfrm>
            <a:off x="5944514" y="2057400"/>
            <a:ext cx="2011680" cy="731520"/>
          </a:xfrm>
          <a:prstGeom prst="rect">
            <a:avLst/>
          </a:prstGeom>
          <a:noFill/>
          <a:ln/>
        </p:spPr>
        <p:txBody>
          <a:bodyPr wrap="square" rtlCol="0" anchor="t"/>
          <a:lstStyle/>
          <a:p>
            <a:pPr algn="ctr" indent="0" marL="0">
              <a:lnSpc>
                <a:spcPct val="130000"/>
              </a:lnSpc>
              <a:buNone/>
            </a:pPr>
            <a:r>
              <a:rPr lang="en-US" sz="1200" dirty="0">
                <a:solidFill>
                  <a:srgbClr val="C2C5CC"/>
                </a:solidFill>
                <a:latin typeface="Roboto" pitchFamily="34" charset="0"/>
                <a:ea typeface="Roboto" pitchFamily="34" charset="-122"/>
                <a:cs typeface="Roboto" pitchFamily="34" charset="-120"/>
              </a:rPr>
              <a:t>El admin del equipo acepta por nullifier.</a:t>
            </a:r>
            <a:endParaRPr lang="en-US" sz="1200" dirty="0"/>
          </a:p>
        </p:txBody>
      </p:sp>
      <p:sp>
        <p:nvSpPr>
          <p:cNvPr id="96" name="Text 94"/>
          <p:cNvSpPr/>
          <p:nvPr/>
        </p:nvSpPr>
        <p:spPr>
          <a:xfrm>
            <a:off x="8152790" y="2675534"/>
            <a:ext cx="778154" cy="461772"/>
          </a:xfrm>
          <a:prstGeom prst="rect">
            <a:avLst/>
          </a:prstGeom>
          <a:noFill/>
          <a:ln/>
        </p:spPr>
        <p:txBody>
          <a:bodyPr wrap="square" rtlCol="0" anchor="t"/>
          <a:lstStyle/>
          <a:p>
            <a:pPr algn="ctr" indent="0" marL="0">
              <a:buNone/>
            </a:pPr>
            <a:r>
              <a:rPr lang="en-US" sz="2400" dirty="0">
                <a:solidFill>
                  <a:srgbClr val="C4ECFF"/>
                </a:solidFill>
                <a:latin typeface="Space Grotesk" pitchFamily="34" charset="0"/>
                <a:ea typeface="Space Grotesk" pitchFamily="34" charset="-122"/>
                <a:cs typeface="Space Grotesk" pitchFamily="34" charset="-120"/>
              </a:rPr>
              <a:t>05</a:t>
            </a:r>
            <a:endParaRPr lang="en-US" sz="2400" dirty="0"/>
          </a:p>
        </p:txBody>
      </p:sp>
      <p:sp>
        <p:nvSpPr>
          <p:cNvPr id="97" name="Shape 95"/>
          <p:cNvSpPr/>
          <p:nvPr/>
        </p:nvSpPr>
        <p:spPr>
          <a:xfrm>
            <a:off x="8510321" y="4593946"/>
            <a:ext cx="0" cy="428854"/>
          </a:xfrm>
          <a:prstGeom prst="line">
            <a:avLst/>
          </a:prstGeom>
          <a:noFill/>
          <a:ln w="12700">
            <a:solidFill>
              <a:srgbClr val="808080"/>
            </a:solidFill>
            <a:prstDash val="sysDash"/>
            <a:tailEnd type="oval"/>
          </a:ln>
        </p:spPr>
      </p:sp>
      <p:sp>
        <p:nvSpPr>
          <p:cNvPr id="98" name="Text 96"/>
          <p:cNvSpPr/>
          <p:nvPr/>
        </p:nvSpPr>
        <p:spPr>
          <a:xfrm>
            <a:off x="7673645" y="5175504"/>
            <a:ext cx="1673352" cy="276149"/>
          </a:xfrm>
          <a:prstGeom prst="rect">
            <a:avLst/>
          </a:prstGeom>
          <a:noFill/>
          <a:ln/>
        </p:spPr>
        <p:txBody>
          <a:bodyPr wrap="square" rtlCol="0" anchor="t"/>
          <a:lstStyle/>
          <a:p>
            <a:pPr algn="ctr" indent="0" marL="0">
              <a:buNone/>
            </a:pPr>
            <a:r>
              <a:rPr lang="en-US" sz="1300" dirty="0">
                <a:solidFill>
                  <a:srgbClr val="C4ECFF"/>
                </a:solidFill>
                <a:latin typeface="Space Grotesk" pitchFamily="34" charset="0"/>
                <a:ea typeface="Space Grotesk" pitchFamily="34" charset="-122"/>
                <a:cs typeface="Space Grotesk" pitchFamily="34" charset="-120"/>
              </a:rPr>
              <a:t>REVEAL</a:t>
            </a:r>
            <a:endParaRPr lang="en-US" sz="1300" dirty="0"/>
          </a:p>
        </p:txBody>
      </p:sp>
      <p:sp>
        <p:nvSpPr>
          <p:cNvPr id="99" name="Text 97"/>
          <p:cNvSpPr/>
          <p:nvPr/>
        </p:nvSpPr>
        <p:spPr>
          <a:xfrm>
            <a:off x="7504481" y="5454396"/>
            <a:ext cx="2011680" cy="731520"/>
          </a:xfrm>
          <a:prstGeom prst="rect">
            <a:avLst/>
          </a:prstGeom>
          <a:noFill/>
          <a:ln/>
        </p:spPr>
        <p:txBody>
          <a:bodyPr wrap="square" rtlCol="0" anchor="t"/>
          <a:lstStyle/>
          <a:p>
            <a:pPr algn="ctr" indent="0" marL="0">
              <a:lnSpc>
                <a:spcPct val="130000"/>
              </a:lnSpc>
              <a:buNone/>
            </a:pPr>
            <a:r>
              <a:rPr lang="en-US" sz="1200" dirty="0">
                <a:solidFill>
                  <a:srgbClr val="C2C5CC"/>
                </a:solidFill>
                <a:latin typeface="Roboto" pitchFamily="34" charset="0"/>
                <a:ea typeface="Roboto" pitchFamily="34" charset="-122"/>
                <a:cs typeface="Roboto" pitchFamily="34" charset="-120"/>
              </a:rPr>
              <a:t>Equipo completo o bloque límite: se congela y se guarda rosterRoot.</a:t>
            </a:r>
            <a:endParaRPr lang="en-US" sz="1200" dirty="0"/>
          </a:p>
        </p:txBody>
      </p:sp>
      <p:sp>
        <p:nvSpPr>
          <p:cNvPr id="100" name="Text 98"/>
          <p:cNvSpPr/>
          <p:nvPr/>
        </p:nvSpPr>
        <p:spPr>
          <a:xfrm>
            <a:off x="9776765" y="4714646"/>
            <a:ext cx="778154" cy="461772"/>
          </a:xfrm>
          <a:prstGeom prst="rect">
            <a:avLst/>
          </a:prstGeom>
          <a:noFill/>
          <a:ln/>
        </p:spPr>
        <p:txBody>
          <a:bodyPr wrap="square" rtlCol="0" anchor="t"/>
          <a:lstStyle/>
          <a:p>
            <a:pPr algn="ctr" indent="0" marL="0">
              <a:buNone/>
            </a:pPr>
            <a:r>
              <a:rPr lang="en-US" sz="2400" dirty="0">
                <a:solidFill>
                  <a:srgbClr val="C4ECFF"/>
                </a:solidFill>
                <a:latin typeface="Space Grotesk" pitchFamily="34" charset="0"/>
                <a:ea typeface="Space Grotesk" pitchFamily="34" charset="-122"/>
                <a:cs typeface="Space Grotesk" pitchFamily="34" charset="-120"/>
              </a:rPr>
              <a:t>06</a:t>
            </a:r>
            <a:endParaRPr lang="en-US" sz="2400" dirty="0"/>
          </a:p>
        </p:txBody>
      </p:sp>
      <p:sp>
        <p:nvSpPr>
          <p:cNvPr id="101" name="Shape 99"/>
          <p:cNvSpPr/>
          <p:nvPr/>
        </p:nvSpPr>
        <p:spPr>
          <a:xfrm>
            <a:off x="10129723" y="2845613"/>
            <a:ext cx="0" cy="374904"/>
          </a:xfrm>
          <a:prstGeom prst="line">
            <a:avLst/>
          </a:prstGeom>
          <a:noFill/>
          <a:ln w="12700">
            <a:solidFill>
              <a:srgbClr val="808080"/>
            </a:solidFill>
            <a:prstDash val="sysDash"/>
            <a:headEnd type="oval"/>
          </a:ln>
        </p:spPr>
      </p:sp>
      <p:sp>
        <p:nvSpPr>
          <p:cNvPr id="102" name="Text 100"/>
          <p:cNvSpPr/>
          <p:nvPr/>
        </p:nvSpPr>
        <p:spPr>
          <a:xfrm>
            <a:off x="9301277" y="1783080"/>
            <a:ext cx="1673352" cy="277063"/>
          </a:xfrm>
          <a:prstGeom prst="rect">
            <a:avLst/>
          </a:prstGeom>
          <a:noFill/>
          <a:ln/>
        </p:spPr>
        <p:txBody>
          <a:bodyPr wrap="square" rtlCol="0" anchor="t"/>
          <a:lstStyle/>
          <a:p>
            <a:pPr algn="ctr" indent="0" marL="0">
              <a:buNone/>
            </a:pPr>
            <a:r>
              <a:rPr lang="en-US" sz="1300" dirty="0">
                <a:solidFill>
                  <a:srgbClr val="C4ECFF"/>
                </a:solidFill>
                <a:latin typeface="Space Grotesk" pitchFamily="34" charset="0"/>
                <a:ea typeface="Space Grotesk" pitchFamily="34" charset="-122"/>
                <a:cs typeface="Space Grotesk" pitchFamily="34" charset="-120"/>
              </a:rPr>
              <a:t>CLAIM</a:t>
            </a:r>
            <a:endParaRPr lang="en-US" sz="1300" dirty="0"/>
          </a:p>
        </p:txBody>
      </p:sp>
      <p:sp>
        <p:nvSpPr>
          <p:cNvPr id="103" name="Text 101"/>
          <p:cNvSpPr/>
          <p:nvPr/>
        </p:nvSpPr>
        <p:spPr>
          <a:xfrm>
            <a:off x="9132113" y="2057400"/>
            <a:ext cx="2011680" cy="731520"/>
          </a:xfrm>
          <a:prstGeom prst="rect">
            <a:avLst/>
          </a:prstGeom>
          <a:noFill/>
          <a:ln/>
        </p:spPr>
        <p:txBody>
          <a:bodyPr wrap="square" rtlCol="0" anchor="t"/>
          <a:lstStyle/>
          <a:p>
            <a:pPr algn="ctr" indent="0" marL="0">
              <a:lnSpc>
                <a:spcPct val="130000"/>
              </a:lnSpc>
              <a:buNone/>
            </a:pPr>
            <a:r>
              <a:rPr lang="en-US" sz="1200" dirty="0">
                <a:solidFill>
                  <a:srgbClr val="C2C5CC"/>
                </a:solidFill>
                <a:latin typeface="Roboto" pitchFamily="34" charset="0"/>
                <a:ea typeface="Roboto" pitchFamily="34" charset="-122"/>
                <a:cs typeface="Roboto" pitchFamily="34" charset="-120"/>
              </a:rPr>
              <a:t>Mint del NFT a la dirección comprometida; cualquiera puede pagar el gas.</a:t>
            </a:r>
            <a:endParaRPr lang="en-US" sz="1200" dirty="0"/>
          </a:p>
        </p:txBody>
      </p:sp>
      <p:sp>
        <p:nvSpPr>
          <p:cNvPr id="115" name="Make label 6"/>
          <p:cNvSpPr/>
          <p:nvPr/>
        </p:nvSpPr>
        <p:spPr>
          <a:xfrm>
            <a:off x="9481414" y="5212080"/>
            <a:ext cx="1371600" cy="384048"/>
          </a:xfrm>
          <a:prstGeom prst="rect">
            <a:avLst/>
          </a:prstGeom>
          <a:noFill/>
          <a:ln/>
        </p:spPr>
        <p:txBody>
          <a:bodyPr wrap="none" lIns="0" rIns="0" tIns="0" bIns="0" rtlCol="0" anchor="t"/>
          <a:lstStyle/>
          <a:p>
            <a:pPr algn="ctr" indent="0" marL="0">
              <a:buNone/>
            </a:pPr>
            <a:r>
              <a:rPr lang="es-AR" sz="1000" dirty="0">
                <a:solidFill>
                  <a:srgbClr val="9FAAC0"/>
                </a:solidFill>
                <a:latin typeface="DM Mono"/>
                <a:ea typeface="DM Mono"/>
                <a:cs typeface="DM Mono"/>
              </a:rPr>
              <a:t>make</a:t>
            </a:r>
            <a:endParaRPr lang="es-AR" sz="1000" dirty="0"/>
          </a:p>
          <a:p>
            <a:pPr algn="ctr" indent="0" marL="0">
              <a:buNone/>
            </a:pPr>
            <a:r>
              <a:rPr lang="es-AR" sz="1100" dirty="0">
                <a:solidFill>
                  <a:srgbClr val="D585DF"/>
                </a:solidFill>
                <a:latin typeface="DM Mono"/>
                <a:ea typeface="DM Mono"/>
                <a:cs typeface="DM Mono"/>
              </a:rPr>
              <a:t>sepolia-claim-*</a:t>
            </a:r>
            <a:endParaRPr lang="es-AR" sz="1100" dirty="0"/>
          </a:p>
        </p:txBody>
      </p:sp>
      <p:sp>
        <p:nvSpPr>
          <p:cNvPr id="114" name="Make label 5"/>
          <p:cNvSpPr/>
          <p:nvPr/>
        </p:nvSpPr>
        <p:spPr>
          <a:xfrm>
            <a:off x="7857439" y="2212848"/>
            <a:ext cx="1371600" cy="384048"/>
          </a:xfrm>
          <a:prstGeom prst="rect">
            <a:avLst/>
          </a:prstGeom>
          <a:noFill/>
          <a:ln/>
        </p:spPr>
        <p:txBody>
          <a:bodyPr wrap="none" lIns="0" rIns="0" tIns="0" bIns="0" rtlCol="0" anchor="t"/>
          <a:lstStyle/>
          <a:p>
            <a:pPr algn="ctr" indent="0" marL="0">
              <a:buNone/>
            </a:pPr>
            <a:r>
              <a:rPr lang="es-AR" sz="1000" dirty="0">
                <a:solidFill>
                  <a:srgbClr val="9FAAC0"/>
                </a:solidFill>
                <a:latin typeface="DM Mono"/>
                <a:ea typeface="DM Mono"/>
                <a:cs typeface="DM Mono"/>
              </a:rPr>
              <a:t>make</a:t>
            </a:r>
            <a:endParaRPr lang="es-AR" sz="1000" dirty="0"/>
          </a:p>
          <a:p>
            <a:pPr algn="ctr" indent="0" marL="0">
              <a:buNone/>
            </a:pPr>
            <a:r>
              <a:rPr lang="es-AR" sz="1100" dirty="0">
                <a:solidFill>
                  <a:srgbClr val="D585DF"/>
                </a:solidFill>
                <a:latin typeface="DM Mono"/>
                <a:ea typeface="DM Mono"/>
                <a:cs typeface="DM Mono"/>
              </a:rPr>
              <a:t>sepolia-reveal</a:t>
            </a:r>
            <a:endParaRPr lang="es-AR" sz="1100" dirty="0"/>
          </a:p>
        </p:txBody>
      </p:sp>
      <p:sp>
        <p:nvSpPr>
          <p:cNvPr id="113" name="Make label 4"/>
          <p:cNvSpPr/>
          <p:nvPr/>
        </p:nvSpPr>
        <p:spPr>
          <a:xfrm>
            <a:off x="6246266" y="5212080"/>
            <a:ext cx="1371600" cy="384048"/>
          </a:xfrm>
          <a:prstGeom prst="rect">
            <a:avLst/>
          </a:prstGeom>
          <a:noFill/>
          <a:ln/>
        </p:spPr>
        <p:txBody>
          <a:bodyPr wrap="none" lIns="0" rIns="0" tIns="0" bIns="0" rtlCol="0" anchor="t"/>
          <a:lstStyle/>
          <a:p>
            <a:pPr algn="ctr" indent="0" marL="0">
              <a:buNone/>
            </a:pPr>
            <a:r>
              <a:rPr lang="es-AR" sz="1000" dirty="0">
                <a:solidFill>
                  <a:srgbClr val="9FAAC0"/>
                </a:solidFill>
                <a:latin typeface="DM Mono"/>
                <a:ea typeface="DM Mono"/>
                <a:cs typeface="DM Mono"/>
              </a:rPr>
              <a:t>make</a:t>
            </a:r>
            <a:endParaRPr lang="es-AR" sz="1000" dirty="0"/>
          </a:p>
          <a:p>
            <a:pPr algn="ctr" indent="0" marL="0">
              <a:buNone/>
            </a:pPr>
            <a:r>
              <a:rPr lang="es-AR" sz="1100" dirty="0">
                <a:solidFill>
                  <a:srgbClr val="D585DF"/>
                </a:solidFill>
                <a:latin typeface="DM Mono"/>
                <a:ea typeface="DM Mono"/>
                <a:cs typeface="DM Mono"/>
              </a:rPr>
              <a:t>sepolia-accept-*</a:t>
            </a:r>
            <a:endParaRPr lang="es-AR" sz="1100" dirty="0"/>
          </a:p>
        </p:txBody>
      </p:sp>
      <p:sp>
        <p:nvSpPr>
          <p:cNvPr id="112" name="Make label 3"/>
          <p:cNvSpPr/>
          <p:nvPr/>
        </p:nvSpPr>
        <p:spPr>
          <a:xfrm>
            <a:off x="4583887" y="2212848"/>
            <a:ext cx="1371600" cy="384048"/>
          </a:xfrm>
          <a:prstGeom prst="rect">
            <a:avLst/>
          </a:prstGeom>
          <a:noFill/>
          <a:ln/>
        </p:spPr>
        <p:txBody>
          <a:bodyPr wrap="none" lIns="0" rIns="0" tIns="0" bIns="0" rtlCol="0" anchor="t"/>
          <a:lstStyle/>
          <a:p>
            <a:pPr algn="ctr" indent="0" marL="0">
              <a:buNone/>
            </a:pPr>
            <a:r>
              <a:rPr lang="es-AR" sz="1000" dirty="0">
                <a:solidFill>
                  <a:srgbClr val="9FAAC0"/>
                </a:solidFill>
                <a:latin typeface="DM Mono"/>
                <a:ea typeface="DM Mono"/>
                <a:cs typeface="DM Mono"/>
              </a:rPr>
              <a:t>make</a:t>
            </a:r>
            <a:endParaRPr lang="es-AR" sz="1000" dirty="0"/>
          </a:p>
          <a:p>
            <a:pPr algn="ctr" indent="0" marL="0">
              <a:buNone/>
            </a:pPr>
            <a:r>
              <a:rPr lang="es-AR" sz="1100" dirty="0">
                <a:solidFill>
                  <a:srgbClr val="D585DF"/>
                </a:solidFill>
                <a:latin typeface="DM Mono"/>
                <a:ea typeface="DM Mono"/>
                <a:cs typeface="DM Mono"/>
              </a:rPr>
              <a:t>sepolia-apply-*</a:t>
            </a:r>
            <a:endParaRPr lang="es-AR" sz="1100" dirty="0"/>
          </a:p>
        </p:txBody>
      </p:sp>
      <p:sp>
        <p:nvSpPr>
          <p:cNvPr id="111" name="Make label 2"/>
          <p:cNvSpPr/>
          <p:nvPr/>
        </p:nvSpPr>
        <p:spPr>
          <a:xfrm>
            <a:off x="2916936" y="5212080"/>
            <a:ext cx="1371600" cy="384048"/>
          </a:xfrm>
          <a:prstGeom prst="rect">
            <a:avLst/>
          </a:prstGeom>
          <a:noFill/>
          <a:ln/>
        </p:spPr>
        <p:txBody>
          <a:bodyPr wrap="none" lIns="0" rIns="0" tIns="0" bIns="0" rtlCol="0" anchor="t"/>
          <a:lstStyle/>
          <a:p>
            <a:pPr algn="ctr" indent="0" marL="0">
              <a:buNone/>
            </a:pPr>
            <a:r>
              <a:rPr lang="es-AR" sz="1000" dirty="0">
                <a:solidFill>
                  <a:srgbClr val="9FAAC0"/>
                </a:solidFill>
                <a:latin typeface="DM Mono"/>
                <a:ea typeface="DM Mono"/>
                <a:cs typeface="DM Mono"/>
              </a:rPr>
              <a:t>make</a:t>
            </a:r>
            <a:endParaRPr lang="es-AR" sz="1000" dirty="0"/>
          </a:p>
          <a:p>
            <a:pPr algn="ctr" indent="0" marL="0">
              <a:buNone/>
            </a:pPr>
            <a:r>
              <a:rPr lang="es-AR" sz="1100" dirty="0">
                <a:solidFill>
                  <a:srgbClr val="D585DF"/>
                </a:solidFill>
                <a:latin typeface="DM Mono"/>
                <a:ea typeface="DM Mono"/>
                <a:cs typeface="DM Mono"/>
              </a:rPr>
              <a:t>sepolia-create</a:t>
            </a:r>
            <a:endParaRPr lang="es-AR" sz="1100" dirty="0"/>
          </a:p>
        </p:txBody>
      </p:sp>
      <p:sp>
        <p:nvSpPr>
          <p:cNvPr id="110" name="Make label 1"/>
          <p:cNvSpPr/>
          <p:nvPr/>
        </p:nvSpPr>
        <p:spPr>
          <a:xfrm>
            <a:off x="1251814" y="2212848"/>
            <a:ext cx="1371600" cy="384048"/>
          </a:xfrm>
          <a:prstGeom prst="rect">
            <a:avLst/>
          </a:prstGeom>
          <a:noFill/>
          <a:ln/>
        </p:spPr>
        <p:txBody>
          <a:bodyPr wrap="none" lIns="0" rIns="0" tIns="0" bIns="0" rtlCol="0" anchor="t"/>
          <a:lstStyle/>
          <a:p>
            <a:pPr algn="ctr" indent="0" marL="0">
              <a:buNone/>
            </a:pPr>
            <a:r>
              <a:rPr lang="es-AR" sz="1000" dirty="0">
                <a:solidFill>
                  <a:srgbClr val="9FAAC0"/>
                </a:solidFill>
                <a:latin typeface="DM Mono"/>
                <a:ea typeface="DM Mono"/>
                <a:cs typeface="DM Mono"/>
              </a:rPr>
              <a:t>make</a:t>
            </a:r>
            <a:endParaRPr lang="es-AR" sz="1000" dirty="0"/>
          </a:p>
          <a:p>
            <a:pPr algn="ctr" indent="0" marL="0">
              <a:buNone/>
            </a:pPr>
            <a:r>
              <a:rPr lang="es-AR" sz="1100" dirty="0">
                <a:solidFill>
                  <a:srgbClr val="D585DF"/>
                </a:solidFill>
                <a:latin typeface="DM Mono"/>
                <a:ea typeface="DM Mono"/>
                <a:cs typeface="DM Mono"/>
              </a:rPr>
              <a:t>sepolia-enroll</a:t>
            </a:r>
            <a:endParaRPr lang="es-AR"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421112" y="2116531"/>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012223" y="170764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603334" y="129875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194444" y="88986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785555" y="480974"/>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785555" y="480974"/>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785555" y="480974"/>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785555" y="480974"/>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785555" y="480974"/>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785555" y="480974"/>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785555" y="480974"/>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015777" y="1642262"/>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0824667" y="1451153"/>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633558" y="1260043"/>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442448" y="1068934"/>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251338" y="877824"/>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251338" y="877824"/>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251338" y="877824"/>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251338" y="877824"/>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251338" y="877824"/>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251338" y="877824"/>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251338" y="877824"/>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2816352" y="563270"/>
            <a:ext cx="6559906" cy="769925"/>
          </a:xfrm>
          <a:prstGeom prst="rect">
            <a:avLst/>
          </a:prstGeom>
          <a:noFill/>
          <a:ln/>
        </p:spPr>
        <p:txBody>
          <a:bodyPr wrap="square" rtlCol="0" anchor="t"/>
          <a:lstStyle/>
          <a:p>
            <a:pPr algn="ctr" indent="0" marL="0">
              <a:buNone/>
            </a:pPr>
            <a:r>
              <a:rPr lang="en-US" sz="4400" dirty="0">
                <a:solidFill>
                  <a:srgbClr val="C4ECFF"/>
                </a:solidFill>
                <a:latin typeface="Space Grotesk" pitchFamily="34" charset="0"/>
                <a:ea typeface="Space Grotesk" pitchFamily="34" charset="-122"/>
                <a:cs typeface="Space Grotesk" pitchFamily="34" charset="-120"/>
              </a:rPr>
              <a:t>Arquitectura en Sepolia</a:t>
            </a:r>
            <a:endParaRPr lang="en-US" sz="4400" dirty="0"/>
          </a:p>
        </p:txBody>
      </p:sp>
      <p:sp>
        <p:nvSpPr>
          <p:cNvPr id="56" name="Shape 54"/>
          <p:cNvSpPr/>
          <p:nvPr/>
        </p:nvSpPr>
        <p:spPr>
          <a:xfrm>
            <a:off x="4273906" y="1922983"/>
            <a:ext cx="1507846" cy="1420063"/>
          </a:xfrm>
          <a:custGeom>
            <a:avLst/>
            <a:gdLst/>
            <a:ahLst/>
            <a:cxnLst/>
            <a:rect l="l" t="t" r="r" b="b"/>
            <a:pathLst>
              <a:path w="1507846" h="1420063">
                <a:moveTo>
                  <a:pt x="44806" y="1006754"/>
                </a:moveTo>
                <a:cubicBezTo>
                  <a:pt x="754380" y="1420063"/>
                  <a:pt x="754380" y="1420063"/>
                  <a:pt x="754380" y="1420063"/>
                </a:cubicBezTo>
                <a:cubicBezTo>
                  <a:pt x="820217" y="1321308"/>
                  <a:pt x="902513" y="1238098"/>
                  <a:pt x="1002182" y="1166774"/>
                </a:cubicBezTo>
                <a:cubicBezTo>
                  <a:pt x="1177747" y="1271016"/>
                  <a:pt x="1177747" y="1271016"/>
                  <a:pt x="1177747" y="1271016"/>
                </a:cubicBezTo>
                <a:cubicBezTo>
                  <a:pt x="1177747" y="1068019"/>
                  <a:pt x="1177747" y="1068019"/>
                  <a:pt x="1177747" y="1068019"/>
                </a:cubicBezTo>
                <a:cubicBezTo>
                  <a:pt x="1277417" y="1017727"/>
                  <a:pt x="1392631" y="990295"/>
                  <a:pt x="1507846" y="984809"/>
                </a:cubicBezTo>
                <a:cubicBezTo>
                  <a:pt x="1507846" y="164592"/>
                  <a:pt x="1507846" y="164592"/>
                  <a:pt x="1507846" y="164592"/>
                </a:cubicBezTo>
                <a:cubicBezTo>
                  <a:pt x="1507846" y="65837"/>
                  <a:pt x="1420063" y="-11887"/>
                  <a:pt x="1321308" y="0"/>
                </a:cubicBezTo>
                <a:cubicBezTo>
                  <a:pt x="781812" y="71323"/>
                  <a:pt x="313639" y="357530"/>
                  <a:pt x="0" y="764438"/>
                </a:cubicBezTo>
                <a:cubicBezTo>
                  <a:pt x="-60350" y="847649"/>
                  <a:pt x="-38405" y="957377"/>
                  <a:pt x="44806" y="1006754"/>
                </a:cubicBezTo>
                <a:close/>
              </a:path>
            </a:pathLst>
          </a:custGeom>
          <a:solidFill>
            <a:srgbClr val="1E2EA1"/>
          </a:solidFill>
          <a:ln w="9525">
            <a:solidFill>
              <a:srgbClr val="283EBD"/>
            </a:solidFill>
            <a:prstDash val="solid"/>
          </a:ln>
        </p:spPr>
      </p:sp>
      <p:sp>
        <p:nvSpPr>
          <p:cNvPr id="57" name="Shape 55"/>
          <p:cNvSpPr/>
          <p:nvPr/>
        </p:nvSpPr>
        <p:spPr>
          <a:xfrm>
            <a:off x="5914339" y="1922983"/>
            <a:ext cx="1507846" cy="1420063"/>
          </a:xfrm>
          <a:custGeom>
            <a:avLst/>
            <a:gdLst/>
            <a:ahLst/>
            <a:cxnLst/>
            <a:rect l="l" t="t" r="r" b="b"/>
            <a:pathLst>
              <a:path w="1507846" h="1420063">
                <a:moveTo>
                  <a:pt x="0" y="164592"/>
                </a:moveTo>
                <a:cubicBezTo>
                  <a:pt x="0" y="984809"/>
                  <a:pt x="0" y="984809"/>
                  <a:pt x="0" y="984809"/>
                </a:cubicBezTo>
                <a:cubicBezTo>
                  <a:pt x="120701" y="990295"/>
                  <a:pt x="236830" y="1023214"/>
                  <a:pt x="341071" y="1073506"/>
                </a:cubicBezTo>
                <a:cubicBezTo>
                  <a:pt x="341071" y="1271016"/>
                  <a:pt x="341071" y="1271016"/>
                  <a:pt x="341071" y="1271016"/>
                </a:cubicBezTo>
                <a:cubicBezTo>
                  <a:pt x="512064" y="1172261"/>
                  <a:pt x="512064" y="1172261"/>
                  <a:pt x="512064" y="1172261"/>
                </a:cubicBezTo>
                <a:cubicBezTo>
                  <a:pt x="605333" y="1238098"/>
                  <a:pt x="687629" y="1321308"/>
                  <a:pt x="753466" y="1420063"/>
                </a:cubicBezTo>
                <a:cubicBezTo>
                  <a:pt x="1463954" y="1006754"/>
                  <a:pt x="1463954" y="1006754"/>
                  <a:pt x="1463954" y="1006754"/>
                </a:cubicBezTo>
                <a:cubicBezTo>
                  <a:pt x="1546250" y="957377"/>
                  <a:pt x="1568196" y="847649"/>
                  <a:pt x="1507846" y="764438"/>
                </a:cubicBezTo>
                <a:cubicBezTo>
                  <a:pt x="1194206" y="357530"/>
                  <a:pt x="726034" y="71323"/>
                  <a:pt x="187452" y="0"/>
                </a:cubicBezTo>
                <a:cubicBezTo>
                  <a:pt x="87782" y="-11887"/>
                  <a:pt x="0" y="65837"/>
                  <a:pt x="0" y="164592"/>
                </a:cubicBezTo>
                <a:close/>
              </a:path>
            </a:pathLst>
          </a:custGeom>
          <a:solidFill>
            <a:srgbClr val="1E2EA1"/>
          </a:solidFill>
          <a:ln w="9525">
            <a:solidFill>
              <a:srgbClr val="283EBD"/>
            </a:solidFill>
            <a:prstDash val="solid"/>
          </a:ln>
        </p:spPr>
      </p:sp>
      <p:sp>
        <p:nvSpPr>
          <p:cNvPr id="58" name="Shape 56"/>
          <p:cNvSpPr/>
          <p:nvPr/>
        </p:nvSpPr>
        <p:spPr>
          <a:xfrm>
            <a:off x="3866083" y="3044038"/>
            <a:ext cx="1183234" cy="1689811"/>
          </a:xfrm>
          <a:custGeom>
            <a:avLst/>
            <a:gdLst/>
            <a:ahLst/>
            <a:cxnLst/>
            <a:rect l="l" t="t" r="r" b="b"/>
            <a:pathLst>
              <a:path w="1183234" h="1689811">
                <a:moveTo>
                  <a:pt x="1183234" y="842162"/>
                </a:moveTo>
                <a:cubicBezTo>
                  <a:pt x="1001268" y="743407"/>
                  <a:pt x="1001268" y="743407"/>
                  <a:pt x="1001268" y="743407"/>
                </a:cubicBezTo>
                <a:cubicBezTo>
                  <a:pt x="1012241" y="622706"/>
                  <a:pt x="1045159" y="512064"/>
                  <a:pt x="1094537" y="413309"/>
                </a:cubicBezTo>
                <a:cubicBezTo>
                  <a:pt x="384962" y="0"/>
                  <a:pt x="384962" y="0"/>
                  <a:pt x="384962" y="0"/>
                </a:cubicBezTo>
                <a:cubicBezTo>
                  <a:pt x="302666" y="-49378"/>
                  <a:pt x="192024" y="-10973"/>
                  <a:pt x="153619" y="77724"/>
                </a:cubicBezTo>
                <a:cubicBezTo>
                  <a:pt x="54864" y="314554"/>
                  <a:pt x="0" y="572414"/>
                  <a:pt x="0" y="842162"/>
                </a:cubicBezTo>
                <a:cubicBezTo>
                  <a:pt x="0" y="1117397"/>
                  <a:pt x="54864" y="1376172"/>
                  <a:pt x="153619" y="1613002"/>
                </a:cubicBezTo>
                <a:cubicBezTo>
                  <a:pt x="192024" y="1700784"/>
                  <a:pt x="302666" y="1739189"/>
                  <a:pt x="384962" y="1689811"/>
                </a:cubicBezTo>
                <a:cubicBezTo>
                  <a:pt x="1094537" y="1277417"/>
                  <a:pt x="1094537" y="1277417"/>
                  <a:pt x="1094537" y="1277417"/>
                </a:cubicBezTo>
                <a:cubicBezTo>
                  <a:pt x="1045159" y="1177747"/>
                  <a:pt x="1012241" y="1068019"/>
                  <a:pt x="1001268" y="947318"/>
                </a:cubicBezTo>
                <a:lnTo>
                  <a:pt x="1183234" y="842162"/>
                </a:lnTo>
                <a:close/>
              </a:path>
            </a:pathLst>
          </a:custGeom>
          <a:solidFill>
            <a:srgbClr val="1E2EA1"/>
          </a:solidFill>
          <a:ln w="9525">
            <a:solidFill>
              <a:srgbClr val="283EBD"/>
            </a:solidFill>
            <a:prstDash val="solid"/>
          </a:ln>
        </p:spPr>
      </p:sp>
      <p:sp>
        <p:nvSpPr>
          <p:cNvPr id="59" name="Shape 57"/>
          <p:cNvSpPr/>
          <p:nvPr/>
        </p:nvSpPr>
        <p:spPr>
          <a:xfrm>
            <a:off x="6656832" y="3044038"/>
            <a:ext cx="1171346" cy="1689811"/>
          </a:xfrm>
          <a:custGeom>
            <a:avLst/>
            <a:gdLst/>
            <a:ahLst/>
            <a:cxnLst/>
            <a:rect l="l" t="t" r="r" b="b"/>
            <a:pathLst>
              <a:path w="1171346" h="1689811">
                <a:moveTo>
                  <a:pt x="786384" y="0"/>
                </a:moveTo>
                <a:cubicBezTo>
                  <a:pt x="76810" y="413309"/>
                  <a:pt x="76810" y="413309"/>
                  <a:pt x="76810" y="413309"/>
                </a:cubicBezTo>
                <a:cubicBezTo>
                  <a:pt x="126187" y="512064"/>
                  <a:pt x="159106" y="628193"/>
                  <a:pt x="170078" y="748894"/>
                </a:cubicBezTo>
                <a:cubicBezTo>
                  <a:pt x="0" y="842162"/>
                  <a:pt x="0" y="842162"/>
                  <a:pt x="0" y="842162"/>
                </a:cubicBezTo>
                <a:cubicBezTo>
                  <a:pt x="170078" y="941832"/>
                  <a:pt x="170078" y="941832"/>
                  <a:pt x="170078" y="941832"/>
                </a:cubicBezTo>
                <a:cubicBezTo>
                  <a:pt x="159106" y="1062533"/>
                  <a:pt x="126187" y="1177747"/>
                  <a:pt x="76810" y="1277417"/>
                </a:cubicBezTo>
                <a:cubicBezTo>
                  <a:pt x="786384" y="1689811"/>
                  <a:pt x="786384" y="1689811"/>
                  <a:pt x="786384" y="1689811"/>
                </a:cubicBezTo>
                <a:cubicBezTo>
                  <a:pt x="868680" y="1739189"/>
                  <a:pt x="978408" y="1700784"/>
                  <a:pt x="1017727" y="1613002"/>
                </a:cubicBezTo>
                <a:cubicBezTo>
                  <a:pt x="1116482" y="1376172"/>
                  <a:pt x="1171346" y="1117397"/>
                  <a:pt x="1171346" y="842162"/>
                </a:cubicBezTo>
                <a:cubicBezTo>
                  <a:pt x="1171346" y="572414"/>
                  <a:pt x="1116482" y="314554"/>
                  <a:pt x="1017727" y="77724"/>
                </a:cubicBezTo>
                <a:cubicBezTo>
                  <a:pt x="978408" y="-10973"/>
                  <a:pt x="868680" y="-49378"/>
                  <a:pt x="786384" y="0"/>
                </a:cubicBezTo>
                <a:close/>
              </a:path>
            </a:pathLst>
          </a:custGeom>
          <a:solidFill>
            <a:srgbClr val="1E2EA1"/>
          </a:solidFill>
          <a:ln w="9525">
            <a:solidFill>
              <a:srgbClr val="283EBD"/>
            </a:solidFill>
            <a:prstDash val="solid"/>
          </a:ln>
        </p:spPr>
      </p:sp>
      <p:sp>
        <p:nvSpPr>
          <p:cNvPr id="60" name="Shape 58"/>
          <p:cNvSpPr/>
          <p:nvPr/>
        </p:nvSpPr>
        <p:spPr>
          <a:xfrm>
            <a:off x="4273906" y="4437583"/>
            <a:ext cx="1507846" cy="1420978"/>
          </a:xfrm>
          <a:custGeom>
            <a:avLst/>
            <a:gdLst/>
            <a:ahLst/>
            <a:cxnLst/>
            <a:rect l="l" t="t" r="r" b="b"/>
            <a:pathLst>
              <a:path w="1507846" h="1420978">
                <a:moveTo>
                  <a:pt x="1177747" y="352958"/>
                </a:moveTo>
                <a:cubicBezTo>
                  <a:pt x="1177747" y="149047"/>
                  <a:pt x="1177747" y="149047"/>
                  <a:pt x="1177747" y="149047"/>
                </a:cubicBezTo>
                <a:cubicBezTo>
                  <a:pt x="1002182" y="253289"/>
                  <a:pt x="1002182" y="253289"/>
                  <a:pt x="1002182" y="253289"/>
                </a:cubicBezTo>
                <a:cubicBezTo>
                  <a:pt x="902513" y="181966"/>
                  <a:pt x="820217" y="99670"/>
                  <a:pt x="754380" y="0"/>
                </a:cubicBezTo>
                <a:cubicBezTo>
                  <a:pt x="44806" y="413309"/>
                  <a:pt x="44806" y="413309"/>
                  <a:pt x="44806" y="413309"/>
                </a:cubicBezTo>
                <a:cubicBezTo>
                  <a:pt x="-38405" y="462686"/>
                  <a:pt x="-60350" y="573329"/>
                  <a:pt x="0" y="650138"/>
                </a:cubicBezTo>
                <a:cubicBezTo>
                  <a:pt x="313639" y="1062533"/>
                  <a:pt x="781812" y="1348740"/>
                  <a:pt x="1321308" y="1420978"/>
                </a:cubicBezTo>
                <a:cubicBezTo>
                  <a:pt x="1420063" y="1431950"/>
                  <a:pt x="1507846" y="1354226"/>
                  <a:pt x="1507846" y="1255471"/>
                </a:cubicBezTo>
                <a:cubicBezTo>
                  <a:pt x="1507846" y="435254"/>
                  <a:pt x="1507846" y="435254"/>
                  <a:pt x="1507846" y="435254"/>
                </a:cubicBezTo>
                <a:cubicBezTo>
                  <a:pt x="1392631" y="429768"/>
                  <a:pt x="1277417" y="396850"/>
                  <a:pt x="1177747" y="352958"/>
                </a:cubicBezTo>
                <a:close/>
              </a:path>
            </a:pathLst>
          </a:custGeom>
          <a:solidFill>
            <a:srgbClr val="1E2EA1"/>
          </a:solidFill>
          <a:ln w="9525">
            <a:solidFill>
              <a:srgbClr val="283EBD"/>
            </a:solidFill>
            <a:prstDash val="solid"/>
          </a:ln>
        </p:spPr>
      </p:sp>
      <p:sp>
        <p:nvSpPr>
          <p:cNvPr id="61" name="Shape 59"/>
          <p:cNvSpPr/>
          <p:nvPr/>
        </p:nvSpPr>
        <p:spPr>
          <a:xfrm>
            <a:off x="5914339" y="4437583"/>
            <a:ext cx="1507846" cy="1420978"/>
          </a:xfrm>
          <a:custGeom>
            <a:avLst/>
            <a:gdLst/>
            <a:ahLst/>
            <a:cxnLst/>
            <a:rect l="l" t="t" r="r" b="b"/>
            <a:pathLst>
              <a:path w="1507846" h="1420978">
                <a:moveTo>
                  <a:pt x="753466" y="0"/>
                </a:moveTo>
                <a:cubicBezTo>
                  <a:pt x="687629" y="94183"/>
                  <a:pt x="605333" y="181966"/>
                  <a:pt x="512064" y="247802"/>
                </a:cubicBezTo>
                <a:cubicBezTo>
                  <a:pt x="341071" y="149047"/>
                  <a:pt x="341071" y="149047"/>
                  <a:pt x="341071" y="149047"/>
                </a:cubicBezTo>
                <a:cubicBezTo>
                  <a:pt x="341071" y="347472"/>
                  <a:pt x="341071" y="347472"/>
                  <a:pt x="341071" y="347472"/>
                </a:cubicBezTo>
                <a:cubicBezTo>
                  <a:pt x="236830" y="396850"/>
                  <a:pt x="120701" y="424282"/>
                  <a:pt x="0" y="435254"/>
                </a:cubicBezTo>
                <a:cubicBezTo>
                  <a:pt x="0" y="1255471"/>
                  <a:pt x="0" y="1255471"/>
                  <a:pt x="0" y="1255471"/>
                </a:cubicBezTo>
                <a:cubicBezTo>
                  <a:pt x="0" y="1354226"/>
                  <a:pt x="87782" y="1431950"/>
                  <a:pt x="187452" y="1420978"/>
                </a:cubicBezTo>
                <a:cubicBezTo>
                  <a:pt x="726034" y="1348740"/>
                  <a:pt x="1194206" y="1062533"/>
                  <a:pt x="1507846" y="650138"/>
                </a:cubicBezTo>
                <a:cubicBezTo>
                  <a:pt x="1568196" y="573329"/>
                  <a:pt x="1546250" y="462686"/>
                  <a:pt x="1463954" y="413309"/>
                </a:cubicBezTo>
                <a:lnTo>
                  <a:pt x="753466" y="0"/>
                </a:lnTo>
                <a:close/>
              </a:path>
            </a:pathLst>
          </a:custGeom>
          <a:solidFill>
            <a:srgbClr val="1E2EA1"/>
          </a:solidFill>
          <a:ln w="9525">
            <a:solidFill>
              <a:srgbClr val="283EBD"/>
            </a:solidFill>
            <a:prstDash val="solid"/>
          </a:ln>
        </p:spPr>
      </p:sp>
      <p:sp>
        <p:nvSpPr>
          <p:cNvPr id="68" name="Shape 66"/>
          <p:cNvSpPr/>
          <p:nvPr/>
        </p:nvSpPr>
        <p:spPr>
          <a:xfrm>
            <a:off x="5077663" y="3108046"/>
            <a:ext cx="1536192" cy="1536192"/>
          </a:xfrm>
          <a:prstGeom prst="ellipse">
            <a:avLst/>
          </a:prstGeom>
          <a:solidFill>
            <a:srgbClr val="C4ECFF">
              <a:alpha val="30000"/>
            </a:srgbClr>
          </a:solidFill>
          <a:ln/>
        </p:spPr>
      </p:sp>
      <p:sp>
        <p:nvSpPr>
          <p:cNvPr id="69" name="Shape 67"/>
          <p:cNvSpPr/>
          <p:nvPr/>
        </p:nvSpPr>
        <p:spPr>
          <a:xfrm>
            <a:off x="5216652" y="3247034"/>
            <a:ext cx="1257300" cy="1257300"/>
          </a:xfrm>
          <a:prstGeom prst="ellipse">
            <a:avLst/>
          </a:prstGeom>
          <a:solidFill>
            <a:srgbClr val="C4ECFF"/>
          </a:solidFill>
          <a:ln/>
        </p:spPr>
      </p:sp>
      <p:sp>
        <p:nvSpPr>
          <p:cNvPr id="70" name="Text 68"/>
          <p:cNvSpPr/>
          <p:nvPr/>
        </p:nvSpPr>
        <p:spPr>
          <a:xfrm>
            <a:off x="5157216" y="3576218"/>
            <a:ext cx="1371600" cy="739750"/>
          </a:xfrm>
          <a:prstGeom prst="rect">
            <a:avLst/>
          </a:prstGeom>
          <a:noFill/>
          <a:ln/>
        </p:spPr>
        <p:txBody>
          <a:bodyPr wrap="square" rtlCol="0" anchor="t"/>
          <a:lstStyle/>
          <a:p>
            <a:pPr algn="ctr" indent="0" marL="0">
              <a:buNone/>
            </a:pPr>
            <a:r>
              <a:rPr lang="en-US" sz="1200" b="1" dirty="0">
                <a:solidFill>
                  <a:srgbClr val="121228"/>
                </a:solidFill>
                <a:latin typeface="Space Grotesk" pitchFamily="34" charset="0"/>
                <a:ea typeface="Space Grotesk" pitchFamily="34" charset="-122"/>
                <a:cs typeface="Space Grotesk" pitchFamily="34" charset="-120"/>
              </a:rPr>
              <a:t>TeamRegistry</a:t>
            </a:r>
            <a:endParaRPr lang="en-US" sz="1400" dirty="0"/>
          </a:p>
        </p:txBody>
      </p:sp>
      <p:sp>
        <p:nvSpPr>
          <p:cNvPr id="71" name="Text 69"/>
          <p:cNvSpPr/>
          <p:nvPr/>
        </p:nvSpPr>
        <p:spPr>
          <a:xfrm>
            <a:off x="8051292" y="1921154"/>
            <a:ext cx="3100730" cy="338328"/>
          </a:xfrm>
          <a:prstGeom prst="rect">
            <a:avLst/>
          </a:prstGeom>
          <a:noFill/>
          <a:ln/>
        </p:spPr>
        <p:txBody>
          <a:bodyPr wrap="square" rtlCol="0" anchor="t"/>
          <a:lstStyle/>
          <a:p>
            <a:pPr algn="l" indent="0" marL="0">
              <a:buNone/>
            </a:pPr>
            <a:r>
              <a:rPr lang="en-US" sz="1600" b="1" dirty="0">
                <a:solidFill>
                  <a:srgbClr val="C4ECFF"/>
                </a:solidFill>
                <a:latin typeface="Space Grotesk" pitchFamily="34" charset="0"/>
                <a:ea typeface="Space Grotesk" pitchFamily="34" charset="-122"/>
                <a:cs typeface="Space Grotesk" pitchFamily="34" charset="-120"/>
              </a:rPr>
              <a:t>TeamRegistry · 0x13B6…4BEC</a:t>
            </a:r>
            <a:endParaRPr lang="en-US" sz="1600" dirty="0"/>
          </a:p>
        </p:txBody>
      </p:sp>
      <p:sp>
        <p:nvSpPr>
          <p:cNvPr id="72" name="Text 70"/>
          <p:cNvSpPr/>
          <p:nvPr/>
        </p:nvSpPr>
        <p:spPr>
          <a:xfrm>
            <a:off x="8051292" y="2222906"/>
            <a:ext cx="2773375" cy="868680"/>
          </a:xfrm>
          <a:prstGeom prst="rect">
            <a:avLst/>
          </a:prstGeom>
          <a:noFill/>
          <a:ln/>
        </p:spPr>
        <p:txBody>
          <a:bodyPr wrap="square" rtlCol="0" anchor="t"/>
          <a:lstStyle/>
          <a:p>
            <a:pPr algn="l" indent="0" marL="0">
              <a:lnSpc>
                <a:spcPct val="150000"/>
              </a:lnSpc>
              <a:buNone/>
            </a:pPr>
            <a:r>
              <a:rPr lang="en-US" sz="1200" dirty="0">
                <a:solidFill>
                  <a:srgbClr val="C4ECFF"/>
                </a:solidFill>
                <a:latin typeface="Roboto" pitchFamily="34" charset="0"/>
                <a:ea typeface="Roboto" pitchFamily="34" charset="-122"/>
                <a:cs typeface="Roboto" pitchFamily="34" charset="-120"/>
              </a:rPr>
              <a:t>Equipos, postulaciones, reveal y claim.</a:t>
            </a:r>
            <a:endParaRPr lang="en-US" sz="1200" dirty="0"/>
          </a:p>
        </p:txBody>
      </p:sp>
      <p:sp>
        <p:nvSpPr>
          <p:cNvPr id="73" name="Text 71"/>
          <p:cNvSpPr/>
          <p:nvPr/>
        </p:nvSpPr>
        <p:spPr>
          <a:xfrm>
            <a:off x="8515807" y="3493008"/>
            <a:ext cx="3100730" cy="338328"/>
          </a:xfrm>
          <a:prstGeom prst="rect">
            <a:avLst/>
          </a:prstGeom>
          <a:noFill/>
          <a:ln/>
        </p:spPr>
        <p:txBody>
          <a:bodyPr wrap="square" rtlCol="0" anchor="t"/>
          <a:lstStyle/>
          <a:p>
            <a:pPr algn="l" indent="0" marL="0">
              <a:buNone/>
            </a:pPr>
            <a:r>
              <a:rPr lang="en-US" sz="1600" b="1" dirty="0">
                <a:solidFill>
                  <a:srgbClr val="C4ECFF"/>
                </a:solidFill>
                <a:latin typeface="Space Grotesk" pitchFamily="34" charset="0"/>
                <a:ea typeface="Space Grotesk" pitchFamily="34" charset="-122"/>
                <a:cs typeface="Space Grotesk" pitchFamily="34" charset="-120"/>
              </a:rPr>
              <a:t>TeamCredential (ERC-721)</a:t>
            </a:r>
            <a:endParaRPr lang="en-US" sz="1600" dirty="0"/>
          </a:p>
        </p:txBody>
      </p:sp>
      <p:sp>
        <p:nvSpPr>
          <p:cNvPr id="74" name="Text 72"/>
          <p:cNvSpPr/>
          <p:nvPr/>
        </p:nvSpPr>
        <p:spPr>
          <a:xfrm>
            <a:off x="8515807" y="3794760"/>
            <a:ext cx="2773375" cy="868680"/>
          </a:xfrm>
          <a:prstGeom prst="rect">
            <a:avLst/>
          </a:prstGeom>
          <a:noFill/>
          <a:ln/>
        </p:spPr>
        <p:txBody>
          <a:bodyPr wrap="square" rtlCol="0" anchor="t"/>
          <a:lstStyle/>
          <a:p>
            <a:pPr algn="l" indent="0" marL="0">
              <a:lnSpc>
                <a:spcPct val="150000"/>
              </a:lnSpc>
              <a:buNone/>
            </a:pPr>
            <a:r>
              <a:rPr lang="en-US" sz="1200" dirty="0">
                <a:solidFill>
                  <a:srgbClr val="C4ECFF"/>
                </a:solidFill>
                <a:latin typeface="Roboto" pitchFamily="34" charset="0"/>
                <a:ea typeface="Roboto" pitchFamily="34" charset="-122"/>
                <a:cs typeface="Roboto" pitchFamily="34" charset="-120"/>
              </a:rPr>
              <a:t>NFT de membresía; solo el registry puede mintear · 0x403F…61F5</a:t>
            </a:r>
            <a:endParaRPr lang="en-US" sz="1200" dirty="0"/>
          </a:p>
        </p:txBody>
      </p:sp>
      <p:sp>
        <p:nvSpPr>
          <p:cNvPr id="75" name="Text 73"/>
          <p:cNvSpPr/>
          <p:nvPr/>
        </p:nvSpPr>
        <p:spPr>
          <a:xfrm>
            <a:off x="8051292" y="5063947"/>
            <a:ext cx="3100730" cy="338328"/>
          </a:xfrm>
          <a:prstGeom prst="rect">
            <a:avLst/>
          </a:prstGeom>
          <a:noFill/>
          <a:ln/>
        </p:spPr>
        <p:txBody>
          <a:bodyPr wrap="square" rtlCol="0" anchor="t"/>
          <a:lstStyle/>
          <a:p>
            <a:pPr algn="l" indent="0" marL="0">
              <a:buNone/>
            </a:pPr>
            <a:r>
              <a:rPr lang="en-US" sz="1600" b="1" dirty="0">
                <a:solidFill>
                  <a:srgbClr val="C4ECFF"/>
                </a:solidFill>
                <a:latin typeface="Space Grotesk" pitchFamily="34" charset="0"/>
                <a:ea typeface="Space Grotesk" pitchFamily="34" charset="-122"/>
                <a:cs typeface="Space Grotesk" pitchFamily="34" charset="-120"/>
              </a:rPr>
              <a:t>Frontend</a:t>
            </a:r>
            <a:endParaRPr lang="en-US" sz="1600" dirty="0"/>
          </a:p>
        </p:txBody>
      </p:sp>
      <p:sp>
        <p:nvSpPr>
          <p:cNvPr id="76" name="Text 74"/>
          <p:cNvSpPr/>
          <p:nvPr/>
        </p:nvSpPr>
        <p:spPr>
          <a:xfrm>
            <a:off x="8051292" y="5365699"/>
            <a:ext cx="2773375" cy="868680"/>
          </a:xfrm>
          <a:prstGeom prst="rect">
            <a:avLst/>
          </a:prstGeom>
          <a:noFill/>
          <a:ln/>
        </p:spPr>
        <p:txBody>
          <a:bodyPr wrap="square" rtlCol="0" anchor="t"/>
          <a:lstStyle/>
          <a:p>
            <a:pPr algn="l" indent="0" marL="0">
              <a:lnSpc>
                <a:spcPct val="150000"/>
              </a:lnSpc>
              <a:buNone/>
            </a:pPr>
            <a:r>
              <a:rPr lang="en-US" sz="1200" dirty="0">
                <a:solidFill>
                  <a:srgbClr val="C4ECFF"/>
                </a:solidFill>
                <a:latin typeface="Roboto" pitchFamily="34" charset="0"/>
                <a:ea typeface="Roboto" pitchFamily="34" charset="-122"/>
                <a:cs typeface="Roboto" pitchFamily="34" charset="-120"/>
              </a:rPr>
              <a:t>Next.js 16 + wagmi 3 · pruebas ZK en el navegador.</a:t>
            </a:r>
            <a:endParaRPr lang="en-US" sz="1200" dirty="0"/>
          </a:p>
        </p:txBody>
      </p:sp>
      <p:sp>
        <p:nvSpPr>
          <p:cNvPr id="77" name="Text 75"/>
          <p:cNvSpPr/>
          <p:nvPr/>
        </p:nvSpPr>
        <p:spPr>
          <a:xfrm>
            <a:off x="720547" y="1914754"/>
            <a:ext cx="3100730" cy="338328"/>
          </a:xfrm>
          <a:prstGeom prst="rect">
            <a:avLst/>
          </a:prstGeom>
          <a:noFill/>
          <a:ln/>
        </p:spPr>
        <p:txBody>
          <a:bodyPr wrap="square" rtlCol="0" anchor="t"/>
          <a:lstStyle/>
          <a:p>
            <a:pPr algn="r" indent="0" marL="0">
              <a:buNone/>
            </a:pPr>
            <a:r>
              <a:rPr lang="en-US" sz="1600" b="1" dirty="0">
                <a:solidFill>
                  <a:srgbClr val="C4ECFF"/>
                </a:solidFill>
                <a:latin typeface="Space Grotesk" pitchFamily="34" charset="0"/>
                <a:ea typeface="Space Grotesk" pitchFamily="34" charset="-122"/>
                <a:cs typeface="Space Grotesk" pitchFamily="34" charset="-120"/>
              </a:rPr>
              <a:t>Semaphore V4 (PSE)</a:t>
            </a:r>
            <a:endParaRPr lang="en-US" sz="1600" dirty="0"/>
          </a:p>
        </p:txBody>
      </p:sp>
      <p:sp>
        <p:nvSpPr>
          <p:cNvPr id="78" name="Text 76"/>
          <p:cNvSpPr/>
          <p:nvPr/>
        </p:nvSpPr>
        <p:spPr>
          <a:xfrm>
            <a:off x="644652" y="2216506"/>
            <a:ext cx="3176626" cy="868680"/>
          </a:xfrm>
          <a:prstGeom prst="rect">
            <a:avLst/>
          </a:prstGeom>
          <a:noFill/>
          <a:ln/>
        </p:spPr>
        <p:txBody>
          <a:bodyPr wrap="square" rtlCol="0" anchor="t"/>
          <a:lstStyle/>
          <a:p>
            <a:pPr algn="r" indent="0" marL="0">
              <a:lnSpc>
                <a:spcPct val="150000"/>
              </a:lnSpc>
              <a:buNone/>
            </a:pPr>
            <a:r>
              <a:rPr lang="en-US" sz="1200" dirty="0">
                <a:solidFill>
                  <a:srgbClr val="C4ECFF"/>
                </a:solidFill>
                <a:latin typeface="Roboto" pitchFamily="34" charset="0"/>
                <a:ea typeface="Roboto" pitchFamily="34" charset="-122"/>
                <a:cs typeface="Roboto" pitchFamily="34" charset="-120"/>
              </a:rPr>
              <a:t>Grupo del curso + verificación ZK con LeanIMT · 0xBB10…C691</a:t>
            </a:r>
            <a:endParaRPr lang="en-US" sz="1200" dirty="0"/>
          </a:p>
        </p:txBody>
      </p:sp>
      <p:sp>
        <p:nvSpPr>
          <p:cNvPr id="79" name="Text 77"/>
          <p:cNvSpPr/>
          <p:nvPr/>
        </p:nvSpPr>
        <p:spPr>
          <a:xfrm>
            <a:off x="256032" y="3413455"/>
            <a:ext cx="3100730" cy="338328"/>
          </a:xfrm>
          <a:prstGeom prst="rect">
            <a:avLst/>
          </a:prstGeom>
          <a:noFill/>
          <a:ln/>
        </p:spPr>
        <p:txBody>
          <a:bodyPr wrap="square" rtlCol="0" anchor="t"/>
          <a:lstStyle/>
          <a:p>
            <a:pPr algn="r" indent="0" marL="0">
              <a:buNone/>
            </a:pPr>
            <a:r>
              <a:rPr lang="en-US" sz="1600" b="1" dirty="0">
                <a:solidFill>
                  <a:srgbClr val="C4ECFF"/>
                </a:solidFill>
                <a:latin typeface="Space Grotesk" pitchFamily="34" charset="0"/>
                <a:ea typeface="Space Grotesk" pitchFamily="34" charset="-122"/>
                <a:cs typeface="Space Grotesk" pitchFamily="34" charset="-120"/>
              </a:rPr>
              <a:t>Llama a ISemaphore</a:t>
            </a:r>
            <a:endParaRPr lang="en-US" sz="1600" dirty="0"/>
          </a:p>
        </p:txBody>
      </p:sp>
      <p:sp>
        <p:nvSpPr>
          <p:cNvPr id="80" name="Text 78"/>
          <p:cNvSpPr/>
          <p:nvPr/>
        </p:nvSpPr>
        <p:spPr>
          <a:xfrm>
            <a:off x="583387" y="3715207"/>
            <a:ext cx="2773375" cy="868680"/>
          </a:xfrm>
          <a:prstGeom prst="rect">
            <a:avLst/>
          </a:prstGeom>
          <a:noFill/>
          <a:ln/>
        </p:spPr>
        <p:txBody>
          <a:bodyPr wrap="square" rtlCol="0" anchor="t"/>
          <a:lstStyle/>
          <a:p>
            <a:pPr algn="r" indent="0" marL="0">
              <a:lnSpc>
                <a:spcPct val="150000"/>
              </a:lnSpc>
              <a:buNone/>
            </a:pPr>
            <a:r>
              <a:rPr lang="en-US" sz="1200" dirty="0">
                <a:solidFill>
                  <a:srgbClr val="C4ECFF"/>
                </a:solidFill>
                <a:latin typeface="Roboto" pitchFamily="34" charset="0"/>
                <a:ea typeface="Roboto" pitchFamily="34" charset="-122"/>
                <a:cs typeface="Roboto" pitchFamily="34" charset="-120"/>
              </a:rPr>
              <a:t>No hereda Semaphore: nadie puede usar addMember y saltear al docente.</a:t>
            </a:r>
            <a:endParaRPr lang="en-US" sz="1200" dirty="0"/>
          </a:p>
        </p:txBody>
      </p:sp>
      <p:sp>
        <p:nvSpPr>
          <p:cNvPr id="81" name="Text 79"/>
          <p:cNvSpPr/>
          <p:nvPr/>
        </p:nvSpPr>
        <p:spPr>
          <a:xfrm>
            <a:off x="644652" y="4985309"/>
            <a:ext cx="3100730" cy="338328"/>
          </a:xfrm>
          <a:prstGeom prst="rect">
            <a:avLst/>
          </a:prstGeom>
          <a:noFill/>
          <a:ln/>
        </p:spPr>
        <p:txBody>
          <a:bodyPr wrap="square" rtlCol="0" anchor="t"/>
          <a:lstStyle/>
          <a:p>
            <a:pPr algn="r" indent="0" marL="0">
              <a:buNone/>
            </a:pPr>
            <a:r>
              <a:rPr lang="en-US" sz="1600" b="1" dirty="0">
                <a:solidFill>
                  <a:srgbClr val="C4ECFF"/>
                </a:solidFill>
                <a:latin typeface="Space Grotesk" pitchFamily="34" charset="0"/>
                <a:ea typeface="Space Grotesk" pitchFamily="34" charset="-122"/>
                <a:cs typeface="Space Grotesk" pitchFamily="34" charset="-120"/>
              </a:rPr>
              <a:t>Docente (owner)</a:t>
            </a:r>
            <a:endParaRPr lang="en-US" sz="1600" dirty="0"/>
          </a:p>
        </p:txBody>
      </p:sp>
      <p:sp>
        <p:nvSpPr>
          <p:cNvPr id="82" name="Text 80"/>
          <p:cNvSpPr/>
          <p:nvPr/>
        </p:nvSpPr>
        <p:spPr>
          <a:xfrm>
            <a:off x="972007" y="5287061"/>
            <a:ext cx="2773375" cy="868680"/>
          </a:xfrm>
          <a:prstGeom prst="rect">
            <a:avLst/>
          </a:prstGeom>
          <a:noFill/>
          <a:ln/>
        </p:spPr>
        <p:txBody>
          <a:bodyPr wrap="square" rtlCol="0" anchor="t"/>
          <a:lstStyle/>
          <a:p>
            <a:pPr algn="r" indent="0" marL="0">
              <a:lnSpc>
                <a:spcPct val="150000"/>
              </a:lnSpc>
              <a:buNone/>
            </a:pPr>
            <a:r>
              <a:rPr lang="en-US" sz="1200" dirty="0">
                <a:solidFill>
                  <a:srgbClr val="C4ECFF"/>
                </a:solidFill>
                <a:latin typeface="Roboto" pitchFamily="34" charset="0"/>
                <a:ea typeface="Roboto" pitchFamily="34" charset="-122"/>
                <a:cs typeface="Roboto" pitchFamily="34" charset="-120"/>
              </a:rPr>
              <a:t>Único que inscribe con addCourseMember(s); el registry es admin del grupo.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Contratos</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sepolia-contracts</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600" dirty="0">
                <a:solidFill>
                  <a:srgbClr val="C4ECFF"/>
                </a:solidFill>
                <a:latin typeface="Space Grotesk"/>
                <a:ea typeface="Space Grotesk"/>
                <a:cs typeface="Space Grotesk"/>
              </a:rPr>
              <a:t>TeamRegistry 0x13B6…4BEC · TeamCredential 0x403F…61F5</a:t>
            </a:r>
            <a:endParaRPr lang="es-AR" sz="16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600" dirty="0">
                <a:solidFill>
                  <a:srgbClr val="C4ECFF"/>
                </a:solidFill>
                <a:latin typeface="Space Grotesk"/>
                <a:ea typeface="Space Grotesk"/>
                <a:cs typeface="Space Grotesk"/>
              </a:rPr>
              <a:t>Semaphore 0xBB10…C691 · Verifier Groth16 0x1eE0…cC5a</a:t>
            </a:r>
            <a:endParaRPr lang="es-AR" sz="16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600" dirty="0">
                <a:solidFill>
                  <a:srgbClr val="C4ECFF"/>
                </a:solidFill>
                <a:latin typeface="Space Grotesk"/>
                <a:ea typeface="Space Grotesk"/>
                <a:cs typeface="Space Grotesk"/>
              </a:rPr>
              <a:t>PoseidonT3 0x8F53…8c4B · chainId 11155111 · grupo 1</a:t>
            </a:r>
            <a:endParaRPr lang="es-AR" sz="16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ANTES DE EMPEZAR</a:t>
            </a:r>
            <a:endParaRPr lang="es-AR" sz="1600" dirty="0"/>
          </a:p>
          <a:p>
            <a:pPr algn="l" indent="0" marL="0">
              <a:lnSpc>
                <a:spcPct val="90000"/>
              </a:lnSpc>
              <a:buNone/>
            </a:pPr>
            <a:r>
              <a:rPr lang="es-AR" sz="9600" dirty="0">
                <a:solidFill>
                  <a:srgbClr val="EDF0F5"/>
                </a:solidFill>
                <a:latin typeface="Space Grotesk"/>
                <a:ea typeface="Space Grotesk"/>
                <a:cs typeface="Space Grotesk"/>
              </a:rPr>
              <a:t>5</a:t>
            </a:r>
            <a:endParaRPr lang="es-AR" sz="9600" dirty="0"/>
          </a:p>
          <a:p>
            <a:pPr algn="l" indent="0" marL="0">
              <a:spcAft>
                <a:spcPts val="1200"/>
              </a:spcAft>
              <a:buNone/>
            </a:pPr>
            <a:r>
              <a:rPr lang="es-AR" sz="2000" dirty="0">
                <a:solidFill>
                  <a:srgbClr val="C4ECFF"/>
                </a:solidFill>
                <a:latin typeface="Space Grotesk"/>
                <a:ea typeface="Space Grotesk"/>
                <a:cs typeface="Space Grotesk"/>
              </a:rPr>
              <a:t>contratos</a:t>
            </a:r>
            <a:endParaRPr lang="es-AR" sz="2000" dirty="0"/>
          </a:p>
          <a:p>
            <a:pPr algn="l" indent="0" marL="0">
              <a:buNone/>
            </a:pPr>
            <a:r>
              <a:rPr lang="es-AR" sz="1600" dirty="0">
                <a:solidFill>
                  <a:srgbClr val="D585DF"/>
                </a:solidFill>
                <a:latin typeface="DM Mono"/>
                <a:ea typeface="DM Mono"/>
                <a:cs typeface="DM Mono"/>
              </a:rPr>
              <a:t>owner 0x01BE…7aeA</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Inscripción</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sepolia-enroll</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El owner del curso inscribe los identity commitments</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Solo el owner puede hacerlo</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Cada commitment entra al grupo de Semaphore (LeanIMT)</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1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1</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0x90d0…38f4</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Crear equipo</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sepolia-create</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Un miembro prueba con ZK que es del curso</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Quien crea el equipo queda como admin</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La prueba va atada al teamId: no se reusa en otro equipo</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2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2</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0x7ff3…d48e</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Bob se postula</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sepolia-apply-bob</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Bob se postula con una prueba ZK</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El contrato guarda el nullifier, no la dirección</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El nullifier evita una doble postulación sin identificar a Bob</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3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3</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0x9f02…e381</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Aceptar a Bob</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sepolia-accept-bob</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El admin del equipo acepta a Bob por nullifier</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Nunca conoce la dirección de Bob</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4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4</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0xe4e0…92ea</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Charlie se postula</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sepolia-apply-charlie</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Igual que Bob: prueba ZK</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El contrato guarda el nullifier, no la dirección</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El nullifier evita una doble postulación</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5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5</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0xd2c2…9e77</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Aceptar a Charlie</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sepolia-accept-charlie</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El admin acepta a Charlie por nullifier</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Tampoco conoce su dirección</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6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6</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0xd879…d384</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Reveal</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sepolia-reveal</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Equipo completo: el roster se congela y se publica</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rosterRoot 0xe803…c2ac</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Nullifiers públicos; direcciones, no</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7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7</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0xae69…a68d</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Claim de Bob</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sepolia-claim-bob</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Bob reclama el NFT en otra dirección</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Destino: 0xD49E…8Ae8, no su cuenta principal</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Commit-reveal: destino fijado al postularse</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8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8</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0xabdd…4f73</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Claim de Charlie</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sepolia-claim-charlie</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Charlie reclama su NFT</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Destino: 0xeA48…F06E</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Mismo commit-reveal: fijado al postularse</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PASO 9 DE 9</a:t>
            </a:r>
            <a:endParaRPr lang="es-AR" sz="1600" dirty="0"/>
          </a:p>
          <a:p>
            <a:pPr algn="l" indent="0" marL="0">
              <a:lnSpc>
                <a:spcPct val="90000"/>
              </a:lnSpc>
              <a:buNone/>
            </a:pPr>
            <a:r>
              <a:rPr lang="es-AR" sz="9600" dirty="0">
                <a:solidFill>
                  <a:srgbClr val="EDF0F5"/>
                </a:solidFill>
                <a:latin typeface="Space Grotesk"/>
                <a:ea typeface="Space Grotesk"/>
                <a:cs typeface="Space Grotesk"/>
              </a:rPr>
              <a:t>9</a:t>
            </a:r>
            <a:endParaRPr lang="es-AR" sz="9600" dirty="0"/>
          </a:p>
          <a:p>
            <a:pPr algn="l" indent="0" marL="0">
              <a:spcAft>
                <a:spcPts val="1200"/>
              </a:spcAft>
              <a:buNone/>
            </a:pPr>
            <a:r>
              <a:rPr lang="es-AR" sz="2000" dirty="0">
                <a:solidFill>
                  <a:srgbClr val="C4ECFF"/>
                </a:solidFill>
                <a:latin typeface="Space Grotesk"/>
                <a:ea typeface="Space Grotesk"/>
                <a:cs typeface="Space Grotesk"/>
              </a:rPr>
              <a:t>de 9</a:t>
            </a:r>
            <a:endParaRPr lang="es-AR" sz="2000" dirty="0"/>
          </a:p>
          <a:p>
            <a:pPr algn="l" indent="0" marL="0">
              <a:buNone/>
            </a:pPr>
            <a:r>
              <a:rPr lang="es-AR" sz="1600" dirty="0">
                <a:solidFill>
                  <a:srgbClr val="D585DF"/>
                </a:solidFill>
                <a:latin typeface="DM Mono"/>
                <a:ea typeface="DM Mono"/>
                <a:cs typeface="DM Mono"/>
              </a:rPr>
              <a:t>tx 0xa934…63d6</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734767" cy="729029"/>
          </a:xfrm>
          <a:custGeom>
            <a:avLst/>
            <a:gdLst/>
            <a:ahLst/>
            <a:cxnLst/>
            <a:rect l="l" t="t" r="r" b="b"/>
            <a:pathLst>
              <a:path w="734767" h="729029">
                <a:moveTo>
                  <a:pt x="0" y="0"/>
                </a:moveTo>
                <a:lnTo>
                  <a:pt x="734767" y="0"/>
                </a:lnTo>
                <a:lnTo>
                  <a:pt x="0" y="729029"/>
                </a:lnTo>
                <a:close/>
              </a:path>
            </a:pathLst>
          </a:custGeom>
          <a:solidFill>
            <a:srgbClr val="283DBC"/>
          </a:solidFill>
          <a:ln/>
        </p:spPr>
      </p:sp>
      <p:sp>
        <p:nvSpPr>
          <p:cNvPr id="3" name="Shape 1"/>
          <p:cNvSpPr/>
          <p:nvPr/>
        </p:nvSpPr>
        <p:spPr>
          <a:xfrm>
            <a:off x="0" y="0"/>
            <a:ext cx="1469535" cy="1458058"/>
          </a:xfrm>
          <a:custGeom>
            <a:avLst/>
            <a:gdLst/>
            <a:ahLst/>
            <a:cxnLst/>
            <a:rect l="l" t="t" r="r" b="b"/>
            <a:pathLst>
              <a:path w="1469535" h="1458058">
                <a:moveTo>
                  <a:pt x="220430" y="0"/>
                </a:moveTo>
                <a:lnTo>
                  <a:pt x="1469535" y="0"/>
                </a:lnTo>
                <a:lnTo>
                  <a:pt x="0" y="1458058"/>
                </a:lnTo>
                <a:lnTo>
                  <a:pt x="0" y="218709"/>
                </a:lnTo>
                <a:close/>
              </a:path>
            </a:pathLst>
          </a:custGeom>
          <a:solidFill>
            <a:srgbClr val="273CB9"/>
          </a:solidFill>
          <a:ln/>
        </p:spPr>
      </p:sp>
      <p:sp>
        <p:nvSpPr>
          <p:cNvPr id="4" name="Shape 2"/>
          <p:cNvSpPr/>
          <p:nvPr/>
        </p:nvSpPr>
        <p:spPr>
          <a:xfrm>
            <a:off x="0" y="0"/>
            <a:ext cx="2204302" cy="2187087"/>
          </a:xfrm>
          <a:custGeom>
            <a:avLst/>
            <a:gdLst/>
            <a:ahLst/>
            <a:cxnLst/>
            <a:rect l="l" t="t" r="r" b="b"/>
            <a:pathLst>
              <a:path w="2204302" h="2187087">
                <a:moveTo>
                  <a:pt x="955198" y="0"/>
                </a:moveTo>
                <a:lnTo>
                  <a:pt x="2204302" y="0"/>
                </a:lnTo>
                <a:lnTo>
                  <a:pt x="0" y="2187087"/>
                </a:lnTo>
                <a:lnTo>
                  <a:pt x="0" y="947738"/>
                </a:lnTo>
                <a:close/>
              </a:path>
            </a:pathLst>
          </a:custGeom>
          <a:solidFill>
            <a:srgbClr val="263BB7"/>
          </a:solidFill>
          <a:ln/>
        </p:spPr>
      </p:sp>
      <p:sp>
        <p:nvSpPr>
          <p:cNvPr id="5" name="Shape 3"/>
          <p:cNvSpPr/>
          <p:nvPr/>
        </p:nvSpPr>
        <p:spPr>
          <a:xfrm>
            <a:off x="0" y="0"/>
            <a:ext cx="2939070" cy="2916115"/>
          </a:xfrm>
          <a:custGeom>
            <a:avLst/>
            <a:gdLst/>
            <a:ahLst/>
            <a:cxnLst/>
            <a:rect l="l" t="t" r="r" b="b"/>
            <a:pathLst>
              <a:path w="2939070" h="2916115">
                <a:moveTo>
                  <a:pt x="1689965" y="0"/>
                </a:moveTo>
                <a:lnTo>
                  <a:pt x="2939070" y="0"/>
                </a:lnTo>
                <a:lnTo>
                  <a:pt x="0" y="2916115"/>
                </a:lnTo>
                <a:lnTo>
                  <a:pt x="0" y="1676766"/>
                </a:lnTo>
                <a:close/>
              </a:path>
            </a:pathLst>
          </a:custGeom>
          <a:solidFill>
            <a:srgbClr val="2539B5"/>
          </a:solidFill>
          <a:ln/>
        </p:spPr>
      </p:sp>
      <p:sp>
        <p:nvSpPr>
          <p:cNvPr id="6" name="Shape 4"/>
          <p:cNvSpPr/>
          <p:nvPr/>
        </p:nvSpPr>
        <p:spPr>
          <a:xfrm>
            <a:off x="0" y="0"/>
            <a:ext cx="3673837" cy="3645144"/>
          </a:xfrm>
          <a:custGeom>
            <a:avLst/>
            <a:gdLst/>
            <a:ahLst/>
            <a:cxnLst/>
            <a:rect l="l" t="t" r="r" b="b"/>
            <a:pathLst>
              <a:path w="3673837" h="3645144">
                <a:moveTo>
                  <a:pt x="2424732" y="0"/>
                </a:moveTo>
                <a:lnTo>
                  <a:pt x="3673837" y="0"/>
                </a:lnTo>
                <a:lnTo>
                  <a:pt x="0" y="3645144"/>
                </a:lnTo>
                <a:lnTo>
                  <a:pt x="0" y="2405795"/>
                </a:lnTo>
                <a:close/>
              </a:path>
            </a:pathLst>
          </a:custGeom>
          <a:solidFill>
            <a:srgbClr val="2438B2"/>
          </a:solidFill>
          <a:ln/>
        </p:spPr>
      </p:sp>
      <p:sp>
        <p:nvSpPr>
          <p:cNvPr id="7" name="Shape 5"/>
          <p:cNvSpPr/>
          <p:nvPr/>
        </p:nvSpPr>
        <p:spPr>
          <a:xfrm>
            <a:off x="0" y="0"/>
            <a:ext cx="4408604" cy="4374173"/>
          </a:xfrm>
          <a:custGeom>
            <a:avLst/>
            <a:gdLst/>
            <a:ahLst/>
            <a:cxnLst/>
            <a:rect l="l" t="t" r="r" b="b"/>
            <a:pathLst>
              <a:path w="4408604" h="4374173">
                <a:moveTo>
                  <a:pt x="3159500" y="0"/>
                </a:moveTo>
                <a:lnTo>
                  <a:pt x="4408604" y="0"/>
                </a:lnTo>
                <a:lnTo>
                  <a:pt x="0" y="4374173"/>
                </a:lnTo>
                <a:lnTo>
                  <a:pt x="0" y="3134824"/>
                </a:lnTo>
                <a:close/>
              </a:path>
            </a:pathLst>
          </a:custGeom>
          <a:solidFill>
            <a:srgbClr val="2336B0"/>
          </a:solidFill>
          <a:ln/>
        </p:spPr>
      </p:sp>
      <p:sp>
        <p:nvSpPr>
          <p:cNvPr id="8" name="Shape 6"/>
          <p:cNvSpPr/>
          <p:nvPr/>
        </p:nvSpPr>
        <p:spPr>
          <a:xfrm>
            <a:off x="0" y="0"/>
            <a:ext cx="5143372" cy="5103202"/>
          </a:xfrm>
          <a:custGeom>
            <a:avLst/>
            <a:gdLst/>
            <a:ahLst/>
            <a:cxnLst/>
            <a:rect l="l" t="t" r="r" b="b"/>
            <a:pathLst>
              <a:path w="5143372" h="5103202">
                <a:moveTo>
                  <a:pt x="3894267" y="0"/>
                </a:moveTo>
                <a:lnTo>
                  <a:pt x="5143372" y="0"/>
                </a:lnTo>
                <a:lnTo>
                  <a:pt x="0" y="5103202"/>
                </a:lnTo>
                <a:lnTo>
                  <a:pt x="0" y="3863853"/>
                </a:lnTo>
                <a:close/>
              </a:path>
            </a:pathLst>
          </a:custGeom>
          <a:solidFill>
            <a:srgbClr val="2235AD"/>
          </a:solidFill>
          <a:ln/>
        </p:spPr>
      </p:sp>
      <p:sp>
        <p:nvSpPr>
          <p:cNvPr id="9" name="Shape 7"/>
          <p:cNvSpPr/>
          <p:nvPr/>
        </p:nvSpPr>
        <p:spPr>
          <a:xfrm>
            <a:off x="0" y="0"/>
            <a:ext cx="5878139" cy="5832231"/>
          </a:xfrm>
          <a:custGeom>
            <a:avLst/>
            <a:gdLst/>
            <a:ahLst/>
            <a:cxnLst/>
            <a:rect l="l" t="t" r="r" b="b"/>
            <a:pathLst>
              <a:path w="5878139" h="5832231">
                <a:moveTo>
                  <a:pt x="4629035" y="0"/>
                </a:moveTo>
                <a:lnTo>
                  <a:pt x="5878139" y="0"/>
                </a:lnTo>
                <a:lnTo>
                  <a:pt x="0" y="5832231"/>
                </a:lnTo>
                <a:lnTo>
                  <a:pt x="0" y="4592882"/>
                </a:lnTo>
                <a:close/>
              </a:path>
            </a:pathLst>
          </a:custGeom>
          <a:solidFill>
            <a:srgbClr val="2134AB"/>
          </a:solidFill>
          <a:ln/>
        </p:spPr>
      </p:sp>
      <p:sp>
        <p:nvSpPr>
          <p:cNvPr id="10" name="Shape 8"/>
          <p:cNvSpPr/>
          <p:nvPr/>
        </p:nvSpPr>
        <p:spPr>
          <a:xfrm>
            <a:off x="0" y="0"/>
            <a:ext cx="6612907" cy="6561260"/>
          </a:xfrm>
          <a:custGeom>
            <a:avLst/>
            <a:gdLst/>
            <a:ahLst/>
            <a:cxnLst/>
            <a:rect l="l" t="t" r="r" b="b"/>
            <a:pathLst>
              <a:path w="6612907" h="6561260">
                <a:moveTo>
                  <a:pt x="5363802" y="0"/>
                </a:moveTo>
                <a:lnTo>
                  <a:pt x="6612907" y="0"/>
                </a:lnTo>
                <a:lnTo>
                  <a:pt x="0" y="6561260"/>
                </a:lnTo>
                <a:lnTo>
                  <a:pt x="0" y="5321911"/>
                </a:lnTo>
                <a:close/>
              </a:path>
            </a:pathLst>
          </a:custGeom>
          <a:solidFill>
            <a:srgbClr val="2032A8"/>
          </a:solidFill>
          <a:ln/>
        </p:spPr>
      </p:sp>
      <p:sp>
        <p:nvSpPr>
          <p:cNvPr id="11" name="Shape 9"/>
          <p:cNvSpPr/>
          <p:nvPr/>
        </p:nvSpPr>
        <p:spPr>
          <a:xfrm>
            <a:off x="0" y="0"/>
            <a:ext cx="7347674" cy="6858000"/>
          </a:xfrm>
          <a:custGeom>
            <a:avLst/>
            <a:gdLst/>
            <a:ahLst/>
            <a:cxnLst/>
            <a:rect l="l" t="t" r="r" b="b"/>
            <a:pathLst>
              <a:path w="7347674" h="6858000">
                <a:moveTo>
                  <a:pt x="6098569" y="0"/>
                </a:moveTo>
                <a:lnTo>
                  <a:pt x="7347674" y="0"/>
                </a:lnTo>
                <a:lnTo>
                  <a:pt x="435691" y="6858000"/>
                </a:lnTo>
                <a:lnTo>
                  <a:pt x="0" y="6858000"/>
                </a:lnTo>
                <a:lnTo>
                  <a:pt x="0" y="6050939"/>
                </a:lnTo>
                <a:close/>
              </a:path>
            </a:pathLst>
          </a:custGeom>
          <a:solidFill>
            <a:srgbClr val="2031A6"/>
          </a:solidFill>
          <a:ln/>
        </p:spPr>
      </p:sp>
      <p:sp>
        <p:nvSpPr>
          <p:cNvPr id="12" name="Shape 10"/>
          <p:cNvSpPr/>
          <p:nvPr/>
        </p:nvSpPr>
        <p:spPr>
          <a:xfrm>
            <a:off x="0" y="0"/>
            <a:ext cx="8082441" cy="6858000"/>
          </a:xfrm>
          <a:custGeom>
            <a:avLst/>
            <a:gdLst/>
            <a:ahLst/>
            <a:cxnLst/>
            <a:rect l="l" t="t" r="r" b="b"/>
            <a:pathLst>
              <a:path w="8082441" h="6858000">
                <a:moveTo>
                  <a:pt x="6833337" y="0"/>
                </a:moveTo>
                <a:lnTo>
                  <a:pt x="8082441" y="0"/>
                </a:lnTo>
                <a:lnTo>
                  <a:pt x="1170459" y="6858000"/>
                </a:lnTo>
                <a:lnTo>
                  <a:pt x="0" y="6858000"/>
                </a:lnTo>
                <a:lnTo>
                  <a:pt x="0" y="6779968"/>
                </a:lnTo>
                <a:close/>
              </a:path>
            </a:pathLst>
          </a:custGeom>
          <a:solidFill>
            <a:srgbClr val="1F2FA4"/>
          </a:solidFill>
          <a:ln/>
        </p:spPr>
      </p:sp>
      <p:sp>
        <p:nvSpPr>
          <p:cNvPr id="13" name="Shape 11"/>
          <p:cNvSpPr/>
          <p:nvPr/>
        </p:nvSpPr>
        <p:spPr>
          <a:xfrm>
            <a:off x="65612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E2EA1"/>
          </a:solidFill>
          <a:ln/>
        </p:spPr>
      </p:sp>
      <p:sp>
        <p:nvSpPr>
          <p:cNvPr id="14" name="Shape 12"/>
          <p:cNvSpPr/>
          <p:nvPr/>
        </p:nvSpPr>
        <p:spPr>
          <a:xfrm>
            <a:off x="1390889"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D2D9F"/>
          </a:solidFill>
          <a:ln/>
        </p:spPr>
      </p:sp>
      <p:sp>
        <p:nvSpPr>
          <p:cNvPr id="15" name="Shape 13"/>
          <p:cNvSpPr/>
          <p:nvPr/>
        </p:nvSpPr>
        <p:spPr>
          <a:xfrm>
            <a:off x="2125656"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C2B9C"/>
          </a:solidFill>
          <a:ln/>
        </p:spPr>
      </p:sp>
      <p:sp>
        <p:nvSpPr>
          <p:cNvPr id="16" name="Shape 14"/>
          <p:cNvSpPr/>
          <p:nvPr/>
        </p:nvSpPr>
        <p:spPr>
          <a:xfrm>
            <a:off x="2860424"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B2A9A"/>
          </a:solidFill>
          <a:ln/>
        </p:spPr>
      </p:sp>
      <p:sp>
        <p:nvSpPr>
          <p:cNvPr id="17" name="Shape 15"/>
          <p:cNvSpPr/>
          <p:nvPr/>
        </p:nvSpPr>
        <p:spPr>
          <a:xfrm>
            <a:off x="3595191" y="0"/>
            <a:ext cx="8161087" cy="6858000"/>
          </a:xfrm>
          <a:custGeom>
            <a:avLst/>
            <a:gdLst/>
            <a:ahLst/>
            <a:cxnLst/>
            <a:rect l="l" t="t" r="r" b="b"/>
            <a:pathLst>
              <a:path w="8161087" h="6858000">
                <a:moveTo>
                  <a:pt x="6911983" y="0"/>
                </a:moveTo>
                <a:lnTo>
                  <a:pt x="8161087" y="0"/>
                </a:lnTo>
                <a:lnTo>
                  <a:pt x="1249105" y="6858000"/>
                </a:lnTo>
                <a:lnTo>
                  <a:pt x="0" y="6858000"/>
                </a:lnTo>
                <a:close/>
              </a:path>
            </a:pathLst>
          </a:custGeom>
          <a:solidFill>
            <a:srgbClr val="1A2997"/>
          </a:solidFill>
          <a:ln/>
        </p:spPr>
      </p:sp>
      <p:sp>
        <p:nvSpPr>
          <p:cNvPr id="18" name="Shape 16"/>
          <p:cNvSpPr/>
          <p:nvPr/>
        </p:nvSpPr>
        <p:spPr>
          <a:xfrm>
            <a:off x="4329958" y="0"/>
            <a:ext cx="7862011" cy="6858000"/>
          </a:xfrm>
          <a:custGeom>
            <a:avLst/>
            <a:gdLst/>
            <a:ahLst/>
            <a:cxnLst/>
            <a:rect l="l" t="t" r="r" b="b"/>
            <a:pathLst>
              <a:path w="7862011" h="6858000">
                <a:moveTo>
                  <a:pt x="6911983" y="0"/>
                </a:moveTo>
                <a:lnTo>
                  <a:pt x="7862011" y="0"/>
                </a:lnTo>
                <a:lnTo>
                  <a:pt x="7862011" y="296740"/>
                </a:lnTo>
                <a:lnTo>
                  <a:pt x="1249105" y="6858000"/>
                </a:lnTo>
                <a:lnTo>
                  <a:pt x="0" y="6858000"/>
                </a:lnTo>
                <a:close/>
              </a:path>
            </a:pathLst>
          </a:custGeom>
          <a:solidFill>
            <a:srgbClr val="192795"/>
          </a:solidFill>
          <a:ln/>
        </p:spPr>
      </p:sp>
      <p:sp>
        <p:nvSpPr>
          <p:cNvPr id="19" name="Shape 17"/>
          <p:cNvSpPr/>
          <p:nvPr/>
        </p:nvSpPr>
        <p:spPr>
          <a:xfrm>
            <a:off x="5064726" y="0"/>
            <a:ext cx="7127244" cy="6858000"/>
          </a:xfrm>
          <a:custGeom>
            <a:avLst/>
            <a:gdLst/>
            <a:ahLst/>
            <a:cxnLst/>
            <a:rect l="l" t="t" r="r" b="b"/>
            <a:pathLst>
              <a:path w="7127244" h="6858000">
                <a:moveTo>
                  <a:pt x="6911983" y="0"/>
                </a:moveTo>
                <a:lnTo>
                  <a:pt x="7127244" y="0"/>
                </a:lnTo>
                <a:lnTo>
                  <a:pt x="7127244" y="1025769"/>
                </a:lnTo>
                <a:lnTo>
                  <a:pt x="1249105" y="6858000"/>
                </a:lnTo>
                <a:lnTo>
                  <a:pt x="0" y="6858000"/>
                </a:lnTo>
                <a:close/>
              </a:path>
            </a:pathLst>
          </a:custGeom>
          <a:solidFill>
            <a:srgbClr val="192693"/>
          </a:solidFill>
          <a:ln/>
        </p:spPr>
      </p:sp>
      <p:sp>
        <p:nvSpPr>
          <p:cNvPr id="20" name="Shape 18"/>
          <p:cNvSpPr/>
          <p:nvPr/>
        </p:nvSpPr>
        <p:spPr>
          <a:xfrm>
            <a:off x="5799493" y="515449"/>
            <a:ext cx="6392476" cy="6342551"/>
          </a:xfrm>
          <a:custGeom>
            <a:avLst/>
            <a:gdLst/>
            <a:ahLst/>
            <a:cxnLst/>
            <a:rect l="l" t="t" r="r" b="b"/>
            <a:pathLst>
              <a:path w="6392476" h="6342551">
                <a:moveTo>
                  <a:pt x="6392476" y="0"/>
                </a:moveTo>
                <a:lnTo>
                  <a:pt x="6392476" y="1239349"/>
                </a:lnTo>
                <a:lnTo>
                  <a:pt x="1249105" y="6342551"/>
                </a:lnTo>
                <a:lnTo>
                  <a:pt x="0" y="6342551"/>
                </a:lnTo>
                <a:close/>
              </a:path>
            </a:pathLst>
          </a:custGeom>
          <a:solidFill>
            <a:srgbClr val="182490"/>
          </a:solidFill>
          <a:ln/>
        </p:spPr>
      </p:sp>
      <p:sp>
        <p:nvSpPr>
          <p:cNvPr id="21" name="Shape 19"/>
          <p:cNvSpPr/>
          <p:nvPr/>
        </p:nvSpPr>
        <p:spPr>
          <a:xfrm>
            <a:off x="6534261" y="1244478"/>
            <a:ext cx="5657709" cy="5613522"/>
          </a:xfrm>
          <a:custGeom>
            <a:avLst/>
            <a:gdLst/>
            <a:ahLst/>
            <a:cxnLst/>
            <a:rect l="l" t="t" r="r" b="b"/>
            <a:pathLst>
              <a:path w="5657709" h="5613522">
                <a:moveTo>
                  <a:pt x="5657709" y="0"/>
                </a:moveTo>
                <a:lnTo>
                  <a:pt x="5657709" y="1239349"/>
                </a:lnTo>
                <a:lnTo>
                  <a:pt x="1249105" y="5613522"/>
                </a:lnTo>
                <a:lnTo>
                  <a:pt x="0" y="5613522"/>
                </a:lnTo>
                <a:close/>
              </a:path>
            </a:pathLst>
          </a:custGeom>
          <a:solidFill>
            <a:srgbClr val="17238E"/>
          </a:solidFill>
          <a:ln/>
        </p:spPr>
      </p:sp>
      <p:sp>
        <p:nvSpPr>
          <p:cNvPr id="22" name="Shape 20"/>
          <p:cNvSpPr/>
          <p:nvPr/>
        </p:nvSpPr>
        <p:spPr>
          <a:xfrm>
            <a:off x="7269028" y="1973507"/>
            <a:ext cx="4922942" cy="4884493"/>
          </a:xfrm>
          <a:custGeom>
            <a:avLst/>
            <a:gdLst/>
            <a:ahLst/>
            <a:cxnLst/>
            <a:rect l="l" t="t" r="r" b="b"/>
            <a:pathLst>
              <a:path w="4922942" h="4884493">
                <a:moveTo>
                  <a:pt x="4922942" y="0"/>
                </a:moveTo>
                <a:lnTo>
                  <a:pt x="4922942" y="1239349"/>
                </a:lnTo>
                <a:lnTo>
                  <a:pt x="1249105" y="4884493"/>
                </a:lnTo>
                <a:lnTo>
                  <a:pt x="0" y="4884493"/>
                </a:lnTo>
                <a:close/>
              </a:path>
            </a:pathLst>
          </a:custGeom>
          <a:solidFill>
            <a:srgbClr val="16228B"/>
          </a:solidFill>
          <a:ln/>
        </p:spPr>
      </p:sp>
      <p:sp>
        <p:nvSpPr>
          <p:cNvPr id="23" name="Shape 21"/>
          <p:cNvSpPr/>
          <p:nvPr/>
        </p:nvSpPr>
        <p:spPr>
          <a:xfrm>
            <a:off x="8003795" y="2702536"/>
            <a:ext cx="4188174" cy="4155464"/>
          </a:xfrm>
          <a:custGeom>
            <a:avLst/>
            <a:gdLst/>
            <a:ahLst/>
            <a:cxnLst/>
            <a:rect l="l" t="t" r="r" b="b"/>
            <a:pathLst>
              <a:path w="4188174" h="4155464">
                <a:moveTo>
                  <a:pt x="4188174" y="0"/>
                </a:moveTo>
                <a:lnTo>
                  <a:pt x="4188174" y="1239349"/>
                </a:lnTo>
                <a:lnTo>
                  <a:pt x="1249105" y="4155464"/>
                </a:lnTo>
                <a:lnTo>
                  <a:pt x="0" y="4155464"/>
                </a:lnTo>
                <a:close/>
              </a:path>
            </a:pathLst>
          </a:custGeom>
          <a:solidFill>
            <a:srgbClr val="152089"/>
          </a:solidFill>
          <a:ln/>
        </p:spPr>
      </p:sp>
      <p:sp>
        <p:nvSpPr>
          <p:cNvPr id="24" name="Shape 22"/>
          <p:cNvSpPr/>
          <p:nvPr/>
        </p:nvSpPr>
        <p:spPr>
          <a:xfrm>
            <a:off x="8738563" y="3431564"/>
            <a:ext cx="3453407" cy="3426436"/>
          </a:xfrm>
          <a:custGeom>
            <a:avLst/>
            <a:gdLst/>
            <a:ahLst/>
            <a:cxnLst/>
            <a:rect l="l" t="t" r="r" b="b"/>
            <a:pathLst>
              <a:path w="3453407" h="3426436">
                <a:moveTo>
                  <a:pt x="3453407" y="0"/>
                </a:moveTo>
                <a:lnTo>
                  <a:pt x="3453407" y="1239349"/>
                </a:lnTo>
                <a:lnTo>
                  <a:pt x="1249105" y="3426436"/>
                </a:lnTo>
                <a:lnTo>
                  <a:pt x="0" y="3426436"/>
                </a:lnTo>
                <a:close/>
              </a:path>
            </a:pathLst>
          </a:custGeom>
          <a:solidFill>
            <a:srgbClr val="141F86"/>
          </a:solidFill>
          <a:ln/>
        </p:spPr>
      </p:sp>
      <p:sp>
        <p:nvSpPr>
          <p:cNvPr id="25" name="Shape 23"/>
          <p:cNvSpPr/>
          <p:nvPr/>
        </p:nvSpPr>
        <p:spPr>
          <a:xfrm>
            <a:off x="9473330" y="4160593"/>
            <a:ext cx="2718639" cy="2697407"/>
          </a:xfrm>
          <a:custGeom>
            <a:avLst/>
            <a:gdLst/>
            <a:ahLst/>
            <a:cxnLst/>
            <a:rect l="l" t="t" r="r" b="b"/>
            <a:pathLst>
              <a:path w="2718639" h="2697407">
                <a:moveTo>
                  <a:pt x="2718639" y="0"/>
                </a:moveTo>
                <a:lnTo>
                  <a:pt x="2718639" y="1239349"/>
                </a:lnTo>
                <a:lnTo>
                  <a:pt x="1249105" y="2697407"/>
                </a:lnTo>
                <a:lnTo>
                  <a:pt x="0" y="2697407"/>
                </a:lnTo>
                <a:close/>
              </a:path>
            </a:pathLst>
          </a:custGeom>
          <a:solidFill>
            <a:srgbClr val="131D84"/>
          </a:solidFill>
          <a:ln/>
        </p:spPr>
      </p:sp>
      <p:sp>
        <p:nvSpPr>
          <p:cNvPr id="26" name="Shape 24"/>
          <p:cNvSpPr/>
          <p:nvPr/>
        </p:nvSpPr>
        <p:spPr>
          <a:xfrm>
            <a:off x="10208098" y="4889622"/>
            <a:ext cx="1983872" cy="1968378"/>
          </a:xfrm>
          <a:custGeom>
            <a:avLst/>
            <a:gdLst/>
            <a:ahLst/>
            <a:cxnLst/>
            <a:rect l="l" t="t" r="r" b="b"/>
            <a:pathLst>
              <a:path w="1983872" h="1968378">
                <a:moveTo>
                  <a:pt x="1983872" y="0"/>
                </a:moveTo>
                <a:lnTo>
                  <a:pt x="1983872" y="1239349"/>
                </a:lnTo>
                <a:lnTo>
                  <a:pt x="1249105" y="1968378"/>
                </a:lnTo>
                <a:lnTo>
                  <a:pt x="0" y="1968378"/>
                </a:lnTo>
                <a:close/>
              </a:path>
            </a:pathLst>
          </a:custGeom>
          <a:solidFill>
            <a:srgbClr val="121C82"/>
          </a:solidFill>
          <a:ln/>
        </p:spPr>
      </p:sp>
      <p:sp>
        <p:nvSpPr>
          <p:cNvPr id="27" name="Shape 25"/>
          <p:cNvSpPr/>
          <p:nvPr/>
        </p:nvSpPr>
        <p:spPr>
          <a:xfrm>
            <a:off x="10942865" y="5618651"/>
            <a:ext cx="1249105" cy="1239349"/>
          </a:xfrm>
          <a:custGeom>
            <a:avLst/>
            <a:gdLst/>
            <a:ahLst/>
            <a:cxnLst/>
            <a:rect l="l" t="t" r="r" b="b"/>
            <a:pathLst>
              <a:path w="1249105" h="1239349">
                <a:moveTo>
                  <a:pt x="1249105" y="0"/>
                </a:moveTo>
                <a:lnTo>
                  <a:pt x="1249105" y="1239349"/>
                </a:lnTo>
                <a:lnTo>
                  <a:pt x="0" y="1239349"/>
                </a:lnTo>
                <a:close/>
              </a:path>
            </a:pathLst>
          </a:custGeom>
          <a:solidFill>
            <a:srgbClr val="111B7F"/>
          </a:solidFill>
          <a:ln/>
        </p:spPr>
      </p:sp>
      <p:sp>
        <p:nvSpPr>
          <p:cNvPr id="28" name="Shape 26"/>
          <p:cNvSpPr/>
          <p:nvPr/>
        </p:nvSpPr>
        <p:spPr>
          <a:xfrm>
            <a:off x="10569245" y="2154022"/>
            <a:ext cx="817778" cy="817778"/>
          </a:xfrm>
          <a:custGeom>
            <a:avLst/>
            <a:gdLst/>
            <a:ahLst/>
            <a:cxnLst/>
            <a:rect l="l" t="t" r="r" b="b"/>
            <a:pathLst>
              <a:path w="817778" h="817778">
                <a:moveTo>
                  <a:pt x="817778" y="0"/>
                </a:moveTo>
                <a:lnTo>
                  <a:pt x="817778" y="408889"/>
                </a:lnTo>
                <a:lnTo>
                  <a:pt x="408889" y="817778"/>
                </a:lnTo>
                <a:lnTo>
                  <a:pt x="0" y="817778"/>
                </a:lnTo>
                <a:close/>
              </a:path>
            </a:pathLst>
          </a:custGeom>
          <a:solidFill>
            <a:srgbClr val="2634AC">
              <a:alpha val="80000"/>
            </a:srgbClr>
          </a:solidFill>
          <a:ln/>
        </p:spPr>
      </p:sp>
      <p:sp>
        <p:nvSpPr>
          <p:cNvPr id="29" name="Shape 27"/>
          <p:cNvSpPr/>
          <p:nvPr/>
        </p:nvSpPr>
        <p:spPr>
          <a:xfrm>
            <a:off x="10160356" y="1745132"/>
            <a:ext cx="1226668" cy="1226668"/>
          </a:xfrm>
          <a:custGeom>
            <a:avLst/>
            <a:gdLst/>
            <a:ahLst/>
            <a:cxnLst/>
            <a:rect l="l" t="t" r="r" b="b"/>
            <a:pathLst>
              <a:path w="1226668" h="1226668">
                <a:moveTo>
                  <a:pt x="1226668" y="0"/>
                </a:moveTo>
                <a:lnTo>
                  <a:pt x="1226668" y="695112"/>
                </a:lnTo>
                <a:lnTo>
                  <a:pt x="695112" y="1226668"/>
                </a:lnTo>
                <a:lnTo>
                  <a:pt x="0" y="1226668"/>
                </a:lnTo>
                <a:close/>
              </a:path>
            </a:pathLst>
          </a:custGeom>
          <a:solidFill>
            <a:srgbClr val="252EA1">
              <a:alpha val="67000"/>
            </a:srgbClr>
          </a:solidFill>
          <a:ln/>
        </p:spPr>
      </p:sp>
      <p:sp>
        <p:nvSpPr>
          <p:cNvPr id="30" name="Shape 28"/>
          <p:cNvSpPr/>
          <p:nvPr/>
        </p:nvSpPr>
        <p:spPr>
          <a:xfrm>
            <a:off x="9751466" y="1336243"/>
            <a:ext cx="1635557" cy="1635557"/>
          </a:xfrm>
          <a:custGeom>
            <a:avLst/>
            <a:gdLst/>
            <a:ahLst/>
            <a:cxnLst/>
            <a:rect l="l" t="t" r="r" b="b"/>
            <a:pathLst>
              <a:path w="1635557" h="1635557">
                <a:moveTo>
                  <a:pt x="1635557" y="0"/>
                </a:moveTo>
                <a:lnTo>
                  <a:pt x="1635557" y="695112"/>
                </a:lnTo>
                <a:lnTo>
                  <a:pt x="695112" y="1635557"/>
                </a:lnTo>
                <a:lnTo>
                  <a:pt x="0" y="1635557"/>
                </a:lnTo>
                <a:close/>
              </a:path>
            </a:pathLst>
          </a:custGeom>
          <a:solidFill>
            <a:srgbClr val="242796">
              <a:alpha val="54000"/>
            </a:srgbClr>
          </a:solidFill>
          <a:ln/>
        </p:spPr>
      </p:sp>
      <p:sp>
        <p:nvSpPr>
          <p:cNvPr id="31" name="Shape 29"/>
          <p:cNvSpPr/>
          <p:nvPr/>
        </p:nvSpPr>
        <p:spPr>
          <a:xfrm>
            <a:off x="9342577" y="927354"/>
            <a:ext cx="2044446" cy="2044446"/>
          </a:xfrm>
          <a:custGeom>
            <a:avLst/>
            <a:gdLst/>
            <a:ahLst/>
            <a:cxnLst/>
            <a:rect l="l" t="t" r="r" b="b"/>
            <a:pathLst>
              <a:path w="2044446" h="2044446">
                <a:moveTo>
                  <a:pt x="2044446" y="0"/>
                </a:moveTo>
                <a:lnTo>
                  <a:pt x="2044446" y="695112"/>
                </a:lnTo>
                <a:lnTo>
                  <a:pt x="695112" y="2044446"/>
                </a:lnTo>
                <a:lnTo>
                  <a:pt x="0" y="2044446"/>
                </a:lnTo>
                <a:close/>
              </a:path>
            </a:pathLst>
          </a:custGeom>
          <a:solidFill>
            <a:srgbClr val="23218A">
              <a:alpha val="40000"/>
            </a:srgbClr>
          </a:solidFill>
          <a:ln/>
        </p:spPr>
      </p:sp>
      <p:sp>
        <p:nvSpPr>
          <p:cNvPr id="32" name="Shape 30"/>
          <p:cNvSpPr/>
          <p:nvPr/>
        </p:nvSpPr>
        <p:spPr>
          <a:xfrm>
            <a:off x="8933688" y="518465"/>
            <a:ext cx="2453335" cy="2453335"/>
          </a:xfrm>
          <a:custGeom>
            <a:avLst/>
            <a:gdLst/>
            <a:ahLst/>
            <a:cxnLst/>
            <a:rect l="l" t="t" r="r" b="b"/>
            <a:pathLst>
              <a:path w="2453335" h="2453335">
                <a:moveTo>
                  <a:pt x="2453335" y="0"/>
                </a:moveTo>
                <a:lnTo>
                  <a:pt x="2453335" y="695112"/>
                </a:lnTo>
                <a:lnTo>
                  <a:pt x="695112" y="2453335"/>
                </a:lnTo>
                <a:lnTo>
                  <a:pt x="0" y="2453335"/>
                </a:lnTo>
                <a:close/>
              </a:path>
            </a:pathLst>
          </a:custGeom>
          <a:solidFill>
            <a:srgbClr val="211A7F">
              <a:alpha val="27000"/>
            </a:srgbClr>
          </a:solidFill>
          <a:ln/>
        </p:spPr>
      </p:sp>
      <p:sp>
        <p:nvSpPr>
          <p:cNvPr id="33" name="Shape 31"/>
          <p:cNvSpPr/>
          <p:nvPr/>
        </p:nvSpPr>
        <p:spPr>
          <a:xfrm>
            <a:off x="8933688" y="518465"/>
            <a:ext cx="2453335" cy="2453335"/>
          </a:xfrm>
          <a:custGeom>
            <a:avLst/>
            <a:gdLst/>
            <a:ahLst/>
            <a:cxnLst/>
            <a:rect l="l" t="t" r="r" b="b"/>
            <a:pathLst>
              <a:path w="2453335" h="2453335">
                <a:moveTo>
                  <a:pt x="2044446" y="0"/>
                </a:moveTo>
                <a:lnTo>
                  <a:pt x="2453335" y="0"/>
                </a:lnTo>
                <a:lnTo>
                  <a:pt x="2453335" y="286222"/>
                </a:lnTo>
                <a:lnTo>
                  <a:pt x="286222" y="2453335"/>
                </a:lnTo>
                <a:lnTo>
                  <a:pt x="0" y="2453335"/>
                </a:lnTo>
                <a:lnTo>
                  <a:pt x="0" y="2044446"/>
                </a:lnTo>
                <a:close/>
              </a:path>
            </a:pathLst>
          </a:custGeom>
          <a:solidFill>
            <a:srgbClr val="201474">
              <a:alpha val="14000"/>
            </a:srgbClr>
          </a:solidFill>
          <a:ln/>
        </p:spPr>
      </p:sp>
      <p:sp>
        <p:nvSpPr>
          <p:cNvPr id="34" name="Shape 32"/>
          <p:cNvSpPr/>
          <p:nvPr/>
        </p:nvSpPr>
        <p:spPr>
          <a:xfrm>
            <a:off x="8933688" y="518465"/>
            <a:ext cx="2330668" cy="2330668"/>
          </a:xfrm>
          <a:custGeom>
            <a:avLst/>
            <a:gdLst/>
            <a:ahLst/>
            <a:cxnLst/>
            <a:rect l="l" t="t" r="r" b="b"/>
            <a:pathLst>
              <a:path w="2330668" h="2330668">
                <a:moveTo>
                  <a:pt x="1635557" y="0"/>
                </a:moveTo>
                <a:lnTo>
                  <a:pt x="2330668" y="0"/>
                </a:lnTo>
                <a:lnTo>
                  <a:pt x="0" y="2330668"/>
                </a:lnTo>
                <a:lnTo>
                  <a:pt x="0" y="1635557"/>
                </a:lnTo>
                <a:close/>
              </a:path>
            </a:pathLst>
          </a:custGeom>
          <a:solidFill>
            <a:srgbClr val="1F0D69">
              <a:alpha val="1000"/>
            </a:srgbClr>
          </a:solidFill>
          <a:ln/>
        </p:spPr>
      </p:sp>
      <p:sp>
        <p:nvSpPr>
          <p:cNvPr id="35" name="Shape 33"/>
          <p:cNvSpPr/>
          <p:nvPr/>
        </p:nvSpPr>
        <p:spPr>
          <a:xfrm>
            <a:off x="8933688" y="518465"/>
            <a:ext cx="1921779" cy="1921779"/>
          </a:xfrm>
          <a:custGeom>
            <a:avLst/>
            <a:gdLst/>
            <a:ahLst/>
            <a:cxnLst/>
            <a:rect l="l" t="t" r="r" b="b"/>
            <a:pathLst>
              <a:path w="1921779" h="1921779">
                <a:moveTo>
                  <a:pt x="1226668" y="0"/>
                </a:moveTo>
                <a:lnTo>
                  <a:pt x="1921779" y="0"/>
                </a:lnTo>
                <a:lnTo>
                  <a:pt x="0" y="1921779"/>
                </a:lnTo>
                <a:lnTo>
                  <a:pt x="0" y="1226668"/>
                </a:lnTo>
                <a:close/>
              </a:path>
            </a:pathLst>
          </a:custGeom>
          <a:solidFill>
            <a:srgbClr val="1F0D68">
              <a:alpha val="0"/>
            </a:srgbClr>
          </a:solidFill>
          <a:ln/>
        </p:spPr>
      </p:sp>
      <p:sp>
        <p:nvSpPr>
          <p:cNvPr id="36" name="Shape 34"/>
          <p:cNvSpPr/>
          <p:nvPr/>
        </p:nvSpPr>
        <p:spPr>
          <a:xfrm>
            <a:off x="8933688" y="518465"/>
            <a:ext cx="1512890" cy="1512890"/>
          </a:xfrm>
          <a:custGeom>
            <a:avLst/>
            <a:gdLst/>
            <a:ahLst/>
            <a:cxnLst/>
            <a:rect l="l" t="t" r="r" b="b"/>
            <a:pathLst>
              <a:path w="1512890" h="1512890">
                <a:moveTo>
                  <a:pt x="817778" y="0"/>
                </a:moveTo>
                <a:lnTo>
                  <a:pt x="1512890" y="0"/>
                </a:lnTo>
                <a:lnTo>
                  <a:pt x="0" y="1512890"/>
                </a:lnTo>
                <a:lnTo>
                  <a:pt x="0" y="817778"/>
                </a:lnTo>
                <a:close/>
              </a:path>
            </a:pathLst>
          </a:custGeom>
          <a:solidFill>
            <a:srgbClr val="1F0D68">
              <a:alpha val="0"/>
            </a:srgbClr>
          </a:solidFill>
          <a:ln/>
        </p:spPr>
      </p:sp>
      <p:sp>
        <p:nvSpPr>
          <p:cNvPr id="37" name="Shape 35"/>
          <p:cNvSpPr/>
          <p:nvPr/>
        </p:nvSpPr>
        <p:spPr>
          <a:xfrm>
            <a:off x="8933688" y="518465"/>
            <a:ext cx="1104001" cy="1104001"/>
          </a:xfrm>
          <a:custGeom>
            <a:avLst/>
            <a:gdLst/>
            <a:ahLst/>
            <a:cxnLst/>
            <a:rect l="l" t="t" r="r" b="b"/>
            <a:pathLst>
              <a:path w="1104001" h="1104001">
                <a:moveTo>
                  <a:pt x="408889" y="0"/>
                </a:moveTo>
                <a:lnTo>
                  <a:pt x="1104001" y="0"/>
                </a:lnTo>
                <a:lnTo>
                  <a:pt x="0" y="1104001"/>
                </a:lnTo>
                <a:lnTo>
                  <a:pt x="0" y="408889"/>
                </a:lnTo>
                <a:close/>
              </a:path>
            </a:pathLst>
          </a:custGeom>
          <a:solidFill>
            <a:srgbClr val="1F0D68">
              <a:alpha val="0"/>
            </a:srgbClr>
          </a:solidFill>
          <a:ln/>
        </p:spPr>
      </p:sp>
      <p:sp>
        <p:nvSpPr>
          <p:cNvPr id="38" name="Shape 36"/>
          <p:cNvSpPr/>
          <p:nvPr/>
        </p:nvSpPr>
        <p:spPr>
          <a:xfrm>
            <a:off x="8933688" y="518465"/>
            <a:ext cx="695112" cy="695112"/>
          </a:xfrm>
          <a:custGeom>
            <a:avLst/>
            <a:gdLst/>
            <a:ahLst/>
            <a:cxnLst/>
            <a:rect l="l" t="t" r="r" b="b"/>
            <a:pathLst>
              <a:path w="695112" h="695112">
                <a:moveTo>
                  <a:pt x="408889" y="0"/>
                </a:moveTo>
                <a:lnTo>
                  <a:pt x="695112" y="0"/>
                </a:lnTo>
                <a:lnTo>
                  <a:pt x="0" y="695112"/>
                </a:lnTo>
                <a:lnTo>
                  <a:pt x="0" y="408889"/>
                </a:lnTo>
                <a:close/>
              </a:path>
            </a:pathLst>
          </a:custGeom>
          <a:solidFill>
            <a:srgbClr val="1F0D68">
              <a:alpha val="0"/>
            </a:srgbClr>
          </a:solidFill>
          <a:ln/>
        </p:spPr>
      </p:sp>
      <p:sp>
        <p:nvSpPr>
          <p:cNvPr id="39" name="Shape 37"/>
          <p:cNvSpPr/>
          <p:nvPr/>
        </p:nvSpPr>
        <p:spPr>
          <a:xfrm>
            <a:off x="11309299" y="1632204"/>
            <a:ext cx="382219" cy="382219"/>
          </a:xfrm>
          <a:custGeom>
            <a:avLst/>
            <a:gdLst/>
            <a:ahLst/>
            <a:cxnLst/>
            <a:rect l="l" t="t" r="r" b="b"/>
            <a:pathLst>
              <a:path w="382219" h="382219">
                <a:moveTo>
                  <a:pt x="382219" y="0"/>
                </a:moveTo>
                <a:lnTo>
                  <a:pt x="382219" y="191110"/>
                </a:lnTo>
                <a:lnTo>
                  <a:pt x="191110" y="382219"/>
                </a:lnTo>
                <a:lnTo>
                  <a:pt x="0" y="382219"/>
                </a:lnTo>
                <a:close/>
              </a:path>
            </a:pathLst>
          </a:custGeom>
          <a:solidFill>
            <a:srgbClr val="2634AC">
              <a:alpha val="80000"/>
            </a:srgbClr>
          </a:solidFill>
          <a:ln/>
        </p:spPr>
      </p:sp>
      <p:sp>
        <p:nvSpPr>
          <p:cNvPr id="40" name="Shape 38"/>
          <p:cNvSpPr/>
          <p:nvPr/>
        </p:nvSpPr>
        <p:spPr>
          <a:xfrm>
            <a:off x="11118190" y="1441094"/>
            <a:ext cx="573329" cy="573329"/>
          </a:xfrm>
          <a:custGeom>
            <a:avLst/>
            <a:gdLst/>
            <a:ahLst/>
            <a:cxnLst/>
            <a:rect l="l" t="t" r="r" b="b"/>
            <a:pathLst>
              <a:path w="573329" h="573329">
                <a:moveTo>
                  <a:pt x="573329" y="0"/>
                </a:moveTo>
                <a:lnTo>
                  <a:pt x="573329" y="324886"/>
                </a:lnTo>
                <a:lnTo>
                  <a:pt x="324886" y="573329"/>
                </a:lnTo>
                <a:lnTo>
                  <a:pt x="0" y="573329"/>
                </a:lnTo>
                <a:close/>
              </a:path>
            </a:pathLst>
          </a:custGeom>
          <a:solidFill>
            <a:srgbClr val="252EA1">
              <a:alpha val="67000"/>
            </a:srgbClr>
          </a:solidFill>
          <a:ln/>
        </p:spPr>
      </p:sp>
      <p:sp>
        <p:nvSpPr>
          <p:cNvPr id="41" name="Shape 39"/>
          <p:cNvSpPr/>
          <p:nvPr/>
        </p:nvSpPr>
        <p:spPr>
          <a:xfrm>
            <a:off x="10927080" y="1249985"/>
            <a:ext cx="764438" cy="764438"/>
          </a:xfrm>
          <a:custGeom>
            <a:avLst/>
            <a:gdLst/>
            <a:ahLst/>
            <a:cxnLst/>
            <a:rect l="l" t="t" r="r" b="b"/>
            <a:pathLst>
              <a:path w="764438" h="764438">
                <a:moveTo>
                  <a:pt x="764438" y="0"/>
                </a:moveTo>
                <a:lnTo>
                  <a:pt x="764438" y="324886"/>
                </a:lnTo>
                <a:lnTo>
                  <a:pt x="324886" y="764438"/>
                </a:lnTo>
                <a:lnTo>
                  <a:pt x="0" y="764438"/>
                </a:lnTo>
                <a:close/>
              </a:path>
            </a:pathLst>
          </a:custGeom>
          <a:solidFill>
            <a:srgbClr val="242796">
              <a:alpha val="54000"/>
            </a:srgbClr>
          </a:solidFill>
          <a:ln/>
        </p:spPr>
      </p:sp>
      <p:sp>
        <p:nvSpPr>
          <p:cNvPr id="42" name="Shape 40"/>
          <p:cNvSpPr/>
          <p:nvPr/>
        </p:nvSpPr>
        <p:spPr>
          <a:xfrm>
            <a:off x="10735970" y="1058875"/>
            <a:ext cx="955548" cy="955548"/>
          </a:xfrm>
          <a:custGeom>
            <a:avLst/>
            <a:gdLst/>
            <a:ahLst/>
            <a:cxnLst/>
            <a:rect l="l" t="t" r="r" b="b"/>
            <a:pathLst>
              <a:path w="955548" h="955548">
                <a:moveTo>
                  <a:pt x="955548" y="0"/>
                </a:moveTo>
                <a:lnTo>
                  <a:pt x="955548" y="324886"/>
                </a:lnTo>
                <a:lnTo>
                  <a:pt x="324886" y="955548"/>
                </a:lnTo>
                <a:lnTo>
                  <a:pt x="0" y="955548"/>
                </a:lnTo>
                <a:close/>
              </a:path>
            </a:pathLst>
          </a:custGeom>
          <a:solidFill>
            <a:srgbClr val="23218A">
              <a:alpha val="40000"/>
            </a:srgbClr>
          </a:solidFill>
          <a:ln/>
        </p:spPr>
      </p:sp>
      <p:sp>
        <p:nvSpPr>
          <p:cNvPr id="43" name="Shape 41"/>
          <p:cNvSpPr/>
          <p:nvPr/>
        </p:nvSpPr>
        <p:spPr>
          <a:xfrm>
            <a:off x="10544861" y="867766"/>
            <a:ext cx="1146658" cy="1146658"/>
          </a:xfrm>
          <a:custGeom>
            <a:avLst/>
            <a:gdLst/>
            <a:ahLst/>
            <a:cxnLst/>
            <a:rect l="l" t="t" r="r" b="b"/>
            <a:pathLst>
              <a:path w="1146658" h="1146658">
                <a:moveTo>
                  <a:pt x="1146658" y="0"/>
                </a:moveTo>
                <a:lnTo>
                  <a:pt x="1146658" y="324886"/>
                </a:lnTo>
                <a:lnTo>
                  <a:pt x="324886" y="1146658"/>
                </a:lnTo>
                <a:lnTo>
                  <a:pt x="0" y="1146658"/>
                </a:lnTo>
                <a:close/>
              </a:path>
            </a:pathLst>
          </a:custGeom>
          <a:solidFill>
            <a:srgbClr val="211A7F">
              <a:alpha val="27000"/>
            </a:srgbClr>
          </a:solidFill>
          <a:ln/>
        </p:spPr>
      </p:sp>
      <p:sp>
        <p:nvSpPr>
          <p:cNvPr id="44" name="Shape 42"/>
          <p:cNvSpPr/>
          <p:nvPr/>
        </p:nvSpPr>
        <p:spPr>
          <a:xfrm>
            <a:off x="10544861" y="867766"/>
            <a:ext cx="1146658" cy="1146658"/>
          </a:xfrm>
          <a:custGeom>
            <a:avLst/>
            <a:gdLst/>
            <a:ahLst/>
            <a:cxnLst/>
            <a:rect l="l" t="t" r="r" b="b"/>
            <a:pathLst>
              <a:path w="1146658" h="1146658">
                <a:moveTo>
                  <a:pt x="955548" y="0"/>
                </a:moveTo>
                <a:lnTo>
                  <a:pt x="1146658" y="0"/>
                </a:lnTo>
                <a:lnTo>
                  <a:pt x="1146658" y="133777"/>
                </a:lnTo>
                <a:lnTo>
                  <a:pt x="133777" y="1146658"/>
                </a:lnTo>
                <a:lnTo>
                  <a:pt x="0" y="1146658"/>
                </a:lnTo>
                <a:lnTo>
                  <a:pt x="0" y="955548"/>
                </a:lnTo>
                <a:close/>
              </a:path>
            </a:pathLst>
          </a:custGeom>
          <a:solidFill>
            <a:srgbClr val="201474">
              <a:alpha val="14000"/>
            </a:srgbClr>
          </a:solidFill>
          <a:ln/>
        </p:spPr>
      </p:sp>
      <p:sp>
        <p:nvSpPr>
          <p:cNvPr id="45" name="Shape 43"/>
          <p:cNvSpPr/>
          <p:nvPr/>
        </p:nvSpPr>
        <p:spPr>
          <a:xfrm>
            <a:off x="10544861" y="867766"/>
            <a:ext cx="1089325" cy="1089325"/>
          </a:xfrm>
          <a:custGeom>
            <a:avLst/>
            <a:gdLst/>
            <a:ahLst/>
            <a:cxnLst/>
            <a:rect l="l" t="t" r="r" b="b"/>
            <a:pathLst>
              <a:path w="1089325" h="1089325">
                <a:moveTo>
                  <a:pt x="764438" y="0"/>
                </a:moveTo>
                <a:lnTo>
                  <a:pt x="1089325" y="0"/>
                </a:lnTo>
                <a:lnTo>
                  <a:pt x="0" y="1089325"/>
                </a:lnTo>
                <a:lnTo>
                  <a:pt x="0" y="764438"/>
                </a:lnTo>
                <a:close/>
              </a:path>
            </a:pathLst>
          </a:custGeom>
          <a:solidFill>
            <a:srgbClr val="1F0D69">
              <a:alpha val="1000"/>
            </a:srgbClr>
          </a:solidFill>
          <a:ln/>
        </p:spPr>
      </p:sp>
      <p:sp>
        <p:nvSpPr>
          <p:cNvPr id="46" name="Shape 44"/>
          <p:cNvSpPr/>
          <p:nvPr/>
        </p:nvSpPr>
        <p:spPr>
          <a:xfrm>
            <a:off x="10544861" y="867766"/>
            <a:ext cx="898215" cy="898215"/>
          </a:xfrm>
          <a:custGeom>
            <a:avLst/>
            <a:gdLst/>
            <a:ahLst/>
            <a:cxnLst/>
            <a:rect l="l" t="t" r="r" b="b"/>
            <a:pathLst>
              <a:path w="898215" h="898215">
                <a:moveTo>
                  <a:pt x="573329" y="0"/>
                </a:moveTo>
                <a:lnTo>
                  <a:pt x="898215" y="0"/>
                </a:lnTo>
                <a:lnTo>
                  <a:pt x="0" y="898215"/>
                </a:lnTo>
                <a:lnTo>
                  <a:pt x="0" y="573329"/>
                </a:lnTo>
                <a:close/>
              </a:path>
            </a:pathLst>
          </a:custGeom>
          <a:solidFill>
            <a:srgbClr val="1F0D68">
              <a:alpha val="0"/>
            </a:srgbClr>
          </a:solidFill>
          <a:ln/>
        </p:spPr>
      </p:sp>
      <p:sp>
        <p:nvSpPr>
          <p:cNvPr id="47" name="Shape 45"/>
          <p:cNvSpPr/>
          <p:nvPr/>
        </p:nvSpPr>
        <p:spPr>
          <a:xfrm>
            <a:off x="10544861" y="867766"/>
            <a:ext cx="707106" cy="707106"/>
          </a:xfrm>
          <a:custGeom>
            <a:avLst/>
            <a:gdLst/>
            <a:ahLst/>
            <a:cxnLst/>
            <a:rect l="l" t="t" r="r" b="b"/>
            <a:pathLst>
              <a:path w="707106" h="707106">
                <a:moveTo>
                  <a:pt x="382219" y="0"/>
                </a:moveTo>
                <a:lnTo>
                  <a:pt x="707106" y="0"/>
                </a:lnTo>
                <a:lnTo>
                  <a:pt x="0" y="707106"/>
                </a:lnTo>
                <a:lnTo>
                  <a:pt x="0" y="382219"/>
                </a:lnTo>
                <a:close/>
              </a:path>
            </a:pathLst>
          </a:custGeom>
          <a:solidFill>
            <a:srgbClr val="1F0D68">
              <a:alpha val="0"/>
            </a:srgbClr>
          </a:solidFill>
          <a:ln/>
        </p:spPr>
      </p:sp>
      <p:sp>
        <p:nvSpPr>
          <p:cNvPr id="48" name="Shape 46"/>
          <p:cNvSpPr/>
          <p:nvPr/>
        </p:nvSpPr>
        <p:spPr>
          <a:xfrm>
            <a:off x="10544861" y="867766"/>
            <a:ext cx="515996" cy="515996"/>
          </a:xfrm>
          <a:custGeom>
            <a:avLst/>
            <a:gdLst/>
            <a:ahLst/>
            <a:cxnLst/>
            <a:rect l="l" t="t" r="r" b="b"/>
            <a:pathLst>
              <a:path w="515996" h="515996">
                <a:moveTo>
                  <a:pt x="191110" y="0"/>
                </a:moveTo>
                <a:lnTo>
                  <a:pt x="515996" y="0"/>
                </a:lnTo>
                <a:lnTo>
                  <a:pt x="0" y="515996"/>
                </a:lnTo>
                <a:lnTo>
                  <a:pt x="0" y="191110"/>
                </a:lnTo>
                <a:close/>
              </a:path>
            </a:pathLst>
          </a:custGeom>
          <a:solidFill>
            <a:srgbClr val="1F0D68">
              <a:alpha val="0"/>
            </a:srgbClr>
          </a:solidFill>
          <a:ln/>
        </p:spPr>
      </p:sp>
      <p:sp>
        <p:nvSpPr>
          <p:cNvPr id="49" name="Shape 47"/>
          <p:cNvSpPr/>
          <p:nvPr/>
        </p:nvSpPr>
        <p:spPr>
          <a:xfrm>
            <a:off x="10544861" y="867766"/>
            <a:ext cx="324886" cy="324886"/>
          </a:xfrm>
          <a:custGeom>
            <a:avLst/>
            <a:gdLst/>
            <a:ahLst/>
            <a:cxnLst/>
            <a:rect l="l" t="t" r="r" b="b"/>
            <a:pathLst>
              <a:path w="324886" h="324886">
                <a:moveTo>
                  <a:pt x="191110" y="0"/>
                </a:moveTo>
                <a:lnTo>
                  <a:pt x="324886" y="0"/>
                </a:lnTo>
                <a:lnTo>
                  <a:pt x="0" y="324886"/>
                </a:lnTo>
                <a:lnTo>
                  <a:pt x="0" y="191110"/>
                </a:lnTo>
                <a:close/>
              </a:path>
            </a:pathLst>
          </a:custGeom>
          <a:solidFill>
            <a:srgbClr val="1F0D68">
              <a:alpha val="0"/>
            </a:srgbClr>
          </a:solidFill>
          <a:ln/>
        </p:spPr>
      </p:sp>
      <p:sp>
        <p:nvSpPr>
          <p:cNvPr id="50" name="Shape 48"/>
          <p:cNvSpPr/>
          <p:nvPr/>
        </p:nvSpPr>
        <p:spPr>
          <a:xfrm>
            <a:off x="377647" y="261518"/>
            <a:ext cx="253289" cy="303947"/>
          </a:xfrm>
          <a:custGeom>
            <a:avLst/>
            <a:gdLst/>
            <a:ahLst/>
            <a:cxnLst/>
            <a:rect l="l" t="t" r="r" b="b"/>
            <a:pathLst>
              <a:path w="253289" h="303947">
                <a:moveTo>
                  <a:pt x="126644" y="25329"/>
                </a:moveTo>
                <a:lnTo>
                  <a:pt x="126644" y="103598"/>
                </a:lnTo>
                <a:cubicBezTo>
                  <a:pt x="126644" y="120863"/>
                  <a:pt x="105475" y="129176"/>
                  <a:pt x="93727" y="116524"/>
                </a:cubicBezTo>
                <a:lnTo>
                  <a:pt x="44326" y="63322"/>
                </a:lnTo>
              </a:path>
            </a:pathLst>
          </a:custGeom>
          <a:noFill/>
          <a:ln w="25329">
            <a:solidFill>
              <a:srgbClr val="C4ECFF"/>
            </a:solidFill>
            <a:prstDash val="solid"/>
          </a:ln>
        </p:spPr>
      </p:sp>
      <p:sp>
        <p:nvSpPr>
          <p:cNvPr id="51" name="Shape 49"/>
          <p:cNvSpPr/>
          <p:nvPr/>
        </p:nvSpPr>
        <p:spPr>
          <a:xfrm>
            <a:off x="377647" y="261518"/>
            <a:ext cx="253289" cy="303947"/>
          </a:xfrm>
          <a:custGeom>
            <a:avLst/>
            <a:gdLst/>
            <a:ahLst/>
            <a:cxnLst/>
            <a:rect l="l" t="t" r="r" b="b"/>
            <a:pathLst>
              <a:path w="253289" h="303947">
                <a:moveTo>
                  <a:pt x="253289" y="151973"/>
                </a:moveTo>
                <a:lnTo>
                  <a:pt x="175020" y="151973"/>
                </a:lnTo>
                <a:cubicBezTo>
                  <a:pt x="157755" y="151973"/>
                  <a:pt x="149442" y="130804"/>
                  <a:pt x="162094" y="119056"/>
                </a:cubicBezTo>
                <a:lnTo>
                  <a:pt x="215295" y="69654"/>
                </a:lnTo>
              </a:path>
            </a:pathLst>
          </a:custGeom>
          <a:noFill/>
          <a:ln w="25329">
            <a:solidFill>
              <a:srgbClr val="C4ECFF"/>
            </a:solidFill>
            <a:prstDash val="solid"/>
          </a:ln>
        </p:spPr>
      </p:sp>
      <p:sp>
        <p:nvSpPr>
          <p:cNvPr id="52" name="Shape 50"/>
          <p:cNvSpPr/>
          <p:nvPr/>
        </p:nvSpPr>
        <p:spPr>
          <a:xfrm>
            <a:off x="377647" y="261518"/>
            <a:ext cx="253289" cy="303947"/>
          </a:xfrm>
          <a:custGeom>
            <a:avLst/>
            <a:gdLst/>
            <a:ahLst/>
            <a:cxnLst/>
            <a:rect l="l" t="t" r="r" b="b"/>
            <a:pathLst>
              <a:path w="253289" h="303947">
                <a:moveTo>
                  <a:pt x="126644" y="278618"/>
                </a:moveTo>
                <a:lnTo>
                  <a:pt x="126644" y="200349"/>
                </a:lnTo>
                <a:cubicBezTo>
                  <a:pt x="126644" y="183083"/>
                  <a:pt x="147814" y="174771"/>
                  <a:pt x="159562" y="187423"/>
                </a:cubicBezTo>
                <a:lnTo>
                  <a:pt x="208963" y="240624"/>
                </a:lnTo>
              </a:path>
            </a:pathLst>
          </a:custGeom>
          <a:noFill/>
          <a:ln w="25329">
            <a:solidFill>
              <a:srgbClr val="C4ECFF"/>
            </a:solidFill>
            <a:prstDash val="solid"/>
          </a:ln>
        </p:spPr>
      </p:sp>
      <p:sp>
        <p:nvSpPr>
          <p:cNvPr id="53" name="Shape 51"/>
          <p:cNvSpPr/>
          <p:nvPr/>
        </p:nvSpPr>
        <p:spPr>
          <a:xfrm>
            <a:off x="377647" y="261518"/>
            <a:ext cx="253289" cy="303947"/>
          </a:xfrm>
          <a:custGeom>
            <a:avLst/>
            <a:gdLst/>
            <a:ahLst/>
            <a:cxnLst/>
            <a:rect l="l" t="t" r="r" b="b"/>
            <a:pathLst>
              <a:path w="253289" h="303947">
                <a:moveTo>
                  <a:pt x="0" y="151973"/>
                </a:moveTo>
                <a:lnTo>
                  <a:pt x="78269" y="151973"/>
                </a:lnTo>
                <a:cubicBezTo>
                  <a:pt x="95534" y="151973"/>
                  <a:pt x="103847" y="173143"/>
                  <a:pt x="91195" y="184891"/>
                </a:cubicBezTo>
                <a:lnTo>
                  <a:pt x="37993" y="234292"/>
                </a:lnTo>
              </a:path>
            </a:pathLst>
          </a:custGeom>
          <a:noFill/>
          <a:ln w="25329">
            <a:solidFill>
              <a:srgbClr val="C4ECFF"/>
            </a:solidFill>
            <a:prstDash val="solid"/>
          </a:ln>
        </p:spPr>
      </p:sp>
      <p:sp>
        <p:nvSpPr>
          <p:cNvPr id="54" name="Text 52"/>
          <p:cNvSpPr/>
          <p:nvPr/>
        </p:nvSpPr>
        <p:spPr>
          <a:xfrm>
            <a:off x="631850" y="275234"/>
            <a:ext cx="1463040" cy="274320"/>
          </a:xfrm>
          <a:prstGeom prst="rect">
            <a:avLst/>
          </a:prstGeom>
          <a:noFill/>
          <a:ln/>
        </p:spPr>
        <p:txBody>
          <a:bodyPr wrap="square" rtlCol="0" anchor="t"/>
          <a:lstStyle/>
          <a:p>
            <a:pPr algn="l" indent="0" marL="0">
              <a:buNone/>
            </a:pPr>
            <a:r>
              <a:rPr lang="en-US" sz="1200" dirty="0">
                <a:solidFill>
                  <a:srgbClr val="C4ECFF"/>
                </a:solidFill>
                <a:latin typeface="Space Grotesk" pitchFamily="34" charset="0"/>
                <a:ea typeface="Space Grotesk" pitchFamily="34" charset="-122"/>
                <a:cs typeface="Space Grotesk" pitchFamily="34" charset="-120"/>
              </a:rPr>
              <a:t>TeamUp ZK</a:t>
            </a:r>
            <a:endParaRPr lang="en-US" sz="1200" dirty="0"/>
          </a:p>
        </p:txBody>
      </p:sp>
      <p:sp>
        <p:nvSpPr>
          <p:cNvPr id="55" name="Text 53"/>
          <p:cNvSpPr/>
          <p:nvPr/>
        </p:nvSpPr>
        <p:spPr>
          <a:xfrm>
            <a:off x="5749747" y="713232"/>
            <a:ext cx="5029200" cy="329184"/>
          </a:xfrm>
          <a:prstGeom prst="rect">
            <a:avLst/>
          </a:prstGeom>
          <a:noFill/>
          <a:ln/>
        </p:spPr>
        <p:txBody>
          <a:bodyPr wrap="square" rtlCol="0" anchor="t"/>
          <a:lstStyle/>
          <a:p>
            <a:pPr algn="l" indent="0" marL="0">
              <a:buNone/>
            </a:pPr>
            <a:r>
              <a:rPr lang="es-AR" sz="1600" dirty="0">
                <a:solidFill>
                  <a:srgbClr val="C4ECFF"/>
                </a:solidFill>
                <a:latin typeface="DM Sans"/>
                <a:ea typeface="DM Sans"/>
                <a:cs typeface="DM Sans"/>
              </a:rPr>
              <a:t>DEMO EN SEPOLIA</a:t>
            </a:r>
            <a:endParaRPr lang="es-AR" sz="1600" dirty="0"/>
          </a:p>
        </p:txBody>
      </p:sp>
      <p:sp>
        <p:nvSpPr>
          <p:cNvPr id="56" name="Text 54"/>
          <p:cNvSpPr/>
          <p:nvPr/>
        </p:nvSpPr>
        <p:spPr>
          <a:xfrm>
            <a:off x="5749747" y="1042416"/>
            <a:ext cx="5669280" cy="731520"/>
          </a:xfrm>
          <a:prstGeom prst="rect">
            <a:avLst/>
          </a:prstGeom>
          <a:noFill/>
          <a:ln/>
        </p:spPr>
        <p:txBody>
          <a:bodyPr wrap="square" rtlCol="0" anchor="t"/>
          <a:lstStyle/>
          <a:p>
            <a:pPr algn="l" indent="0" marL="0">
              <a:buNone/>
            </a:pPr>
            <a:r>
              <a:rPr lang="es-AR" sz="4000" dirty="0">
                <a:solidFill>
                  <a:srgbClr val="C4ECFF"/>
                </a:solidFill>
                <a:latin typeface="Space Grotesk"/>
                <a:ea typeface="Space Grotesk"/>
                <a:cs typeface="Space Grotesk"/>
              </a:rPr>
              <a:t>Verificación</a:t>
            </a:r>
            <a:endParaRPr lang="es-AR" sz="4000" dirty="0"/>
          </a:p>
        </p:txBody>
      </p:sp>
      <p:sp>
        <p:nvSpPr>
          <p:cNvPr id="900" name="Command pill"/>
          <p:cNvSpPr/>
          <p:nvPr/>
        </p:nvSpPr>
        <p:spPr>
          <a:xfrm>
            <a:off x="5781751" y="1874520"/>
            <a:ext cx="4897526" cy="603504"/>
          </a:xfrm>
          <a:prstGeom prst="roundRect">
            <a:avLst>
              <a:gd name="adj" fmla="val 50000"/>
            </a:avLst>
          </a:prstGeom>
          <a:solidFill>
            <a:srgbClr val="0B1020"/>
          </a:solidFill>
          <a:ln w="19050">
            <a:solidFill>
              <a:srgbClr val="D585DF"/>
            </a:solidFill>
          </a:ln>
        </p:spPr>
        <p:txBody>
          <a:bodyPr wrap="none" rtlCol="0" anchor="ctr" lIns="109728" rIns="109728" tIns="109728" bIns="109728"/>
          <a:lstStyle/>
          <a:p>
            <a:pPr algn="ctr" indent="0" marL="0">
              <a:buNone/>
            </a:pPr>
            <a:r>
              <a:rPr lang="es-AR" sz="2000" dirty="0">
                <a:solidFill>
                  <a:srgbClr val="D585DF"/>
                </a:solidFill>
                <a:latin typeface="DM Mono"/>
                <a:ea typeface="DM Mono"/>
                <a:cs typeface="DM Mono"/>
              </a:rPr>
              <a:t>$ </a:t>
            </a:r>
            <a:r>
              <a:rPr lang="es-AR" sz="2000" dirty="0">
                <a:solidFill>
                  <a:srgbClr val="C4ECFF"/>
                </a:solidFill>
                <a:latin typeface="DM Mono"/>
                <a:ea typeface="DM Mono"/>
                <a:cs typeface="DM Mono"/>
              </a:rPr>
              <a:t>make sepolia-nft</a:t>
            </a:r>
            <a:endParaRPr lang="es-AR" sz="2000" dirty="0"/>
          </a:p>
        </p:txBody>
      </p:sp>
      <p:sp>
        <p:nvSpPr>
          <p:cNvPr id="57" name="Shape 55"/>
          <p:cNvSpPr/>
          <p:nvPr/>
        </p:nvSpPr>
        <p:spPr>
          <a:xfrm>
            <a:off x="5781751" y="2662733"/>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58" name="Shape 56"/>
          <p:cNvSpPr/>
          <p:nvPr/>
        </p:nvSpPr>
        <p:spPr>
          <a:xfrm>
            <a:off x="5781751" y="2662733"/>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59" name="Shape 57"/>
          <p:cNvSpPr/>
          <p:nvPr/>
        </p:nvSpPr>
        <p:spPr>
          <a:xfrm>
            <a:off x="5781751" y="2662733"/>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60" name="Shape 58"/>
          <p:cNvSpPr/>
          <p:nvPr/>
        </p:nvSpPr>
        <p:spPr>
          <a:xfrm>
            <a:off x="5781751" y="2662733"/>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61" name="Shape 59"/>
          <p:cNvSpPr/>
          <p:nvPr/>
        </p:nvSpPr>
        <p:spPr>
          <a:xfrm>
            <a:off x="5781751" y="2662733"/>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62" name="Shape 60"/>
          <p:cNvSpPr/>
          <p:nvPr/>
        </p:nvSpPr>
        <p:spPr>
          <a:xfrm>
            <a:off x="5781751" y="2662733"/>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63" name="Shape 61"/>
          <p:cNvSpPr/>
          <p:nvPr/>
        </p:nvSpPr>
        <p:spPr>
          <a:xfrm>
            <a:off x="5781751" y="2662733"/>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64" name="Shape 62"/>
          <p:cNvSpPr/>
          <p:nvPr/>
        </p:nvSpPr>
        <p:spPr>
          <a:xfrm>
            <a:off x="5890051" y="2663583"/>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65" name="Shape 63"/>
          <p:cNvSpPr/>
          <p:nvPr/>
        </p:nvSpPr>
        <p:spPr>
          <a:xfrm>
            <a:off x="6393302" y="2786186"/>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66" name="Shape 64"/>
          <p:cNvSpPr/>
          <p:nvPr/>
        </p:nvSpPr>
        <p:spPr>
          <a:xfrm>
            <a:off x="7157740" y="2925574"/>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67" name="Shape 65"/>
          <p:cNvSpPr/>
          <p:nvPr/>
        </p:nvSpPr>
        <p:spPr>
          <a:xfrm>
            <a:off x="7922179" y="3071596"/>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68" name="Shape 66"/>
          <p:cNvSpPr/>
          <p:nvPr/>
        </p:nvSpPr>
        <p:spPr>
          <a:xfrm>
            <a:off x="8686617" y="3217619"/>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69" name="Shape 67"/>
          <p:cNvSpPr/>
          <p:nvPr/>
        </p:nvSpPr>
        <p:spPr>
          <a:xfrm>
            <a:off x="9451056" y="3363642"/>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70" name="Shape 68"/>
          <p:cNvSpPr/>
          <p:nvPr/>
        </p:nvSpPr>
        <p:spPr>
          <a:xfrm>
            <a:off x="6015838" y="2820010"/>
            <a:ext cx="616306" cy="616306"/>
          </a:xfrm>
          <a:prstGeom prst="ellipse">
            <a:avLst/>
          </a:prstGeom>
          <a:solidFill>
            <a:srgbClr val="1F0D68"/>
          </a:solidFill>
          <a:ln/>
        </p:spPr>
      </p:sp>
      <p:sp>
        <p:nvSpPr>
          <p:cNvPr id="71" name="Text 69"/>
          <p:cNvSpPr/>
          <p:nvPr/>
        </p:nvSpPr>
        <p:spPr>
          <a:xfrm>
            <a:off x="6070702" y="2946197"/>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72" name="Text 70"/>
          <p:cNvSpPr/>
          <p:nvPr/>
        </p:nvSpPr>
        <p:spPr>
          <a:xfrm>
            <a:off x="6812280" y="2708453"/>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TeamCredential en Etherscan → Read contract</a:t>
            </a:r>
            <a:endParaRPr lang="es-AR" sz="1800" dirty="0"/>
          </a:p>
        </p:txBody>
      </p:sp>
      <p:sp>
        <p:nvSpPr>
          <p:cNvPr id="74" name="Shape 72"/>
          <p:cNvSpPr/>
          <p:nvPr/>
        </p:nvSpPr>
        <p:spPr>
          <a:xfrm>
            <a:off x="5781751" y="3749040"/>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75" name="Shape 73"/>
          <p:cNvSpPr/>
          <p:nvPr/>
        </p:nvSpPr>
        <p:spPr>
          <a:xfrm>
            <a:off x="5781751" y="3749040"/>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76" name="Shape 74"/>
          <p:cNvSpPr/>
          <p:nvPr/>
        </p:nvSpPr>
        <p:spPr>
          <a:xfrm>
            <a:off x="5781751" y="3749040"/>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77" name="Shape 75"/>
          <p:cNvSpPr/>
          <p:nvPr/>
        </p:nvSpPr>
        <p:spPr>
          <a:xfrm>
            <a:off x="5781751" y="3749040"/>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78" name="Shape 76"/>
          <p:cNvSpPr/>
          <p:nvPr/>
        </p:nvSpPr>
        <p:spPr>
          <a:xfrm>
            <a:off x="5781751" y="3749040"/>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79" name="Shape 77"/>
          <p:cNvSpPr/>
          <p:nvPr/>
        </p:nvSpPr>
        <p:spPr>
          <a:xfrm>
            <a:off x="5781751" y="3749040"/>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80" name="Shape 78"/>
          <p:cNvSpPr/>
          <p:nvPr/>
        </p:nvSpPr>
        <p:spPr>
          <a:xfrm>
            <a:off x="5781751" y="3749040"/>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81" name="Shape 79"/>
          <p:cNvSpPr/>
          <p:nvPr/>
        </p:nvSpPr>
        <p:spPr>
          <a:xfrm>
            <a:off x="5890051" y="3749891"/>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82" name="Shape 80"/>
          <p:cNvSpPr/>
          <p:nvPr/>
        </p:nvSpPr>
        <p:spPr>
          <a:xfrm>
            <a:off x="6393302" y="3872494"/>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83" name="Shape 81"/>
          <p:cNvSpPr/>
          <p:nvPr/>
        </p:nvSpPr>
        <p:spPr>
          <a:xfrm>
            <a:off x="7157740" y="4011881"/>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84" name="Shape 82"/>
          <p:cNvSpPr/>
          <p:nvPr/>
        </p:nvSpPr>
        <p:spPr>
          <a:xfrm>
            <a:off x="7922179" y="4157903"/>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85" name="Shape 83"/>
          <p:cNvSpPr/>
          <p:nvPr/>
        </p:nvSpPr>
        <p:spPr>
          <a:xfrm>
            <a:off x="8686617" y="4303926"/>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86" name="Shape 84"/>
          <p:cNvSpPr/>
          <p:nvPr/>
        </p:nvSpPr>
        <p:spPr>
          <a:xfrm>
            <a:off x="9451056" y="4449949"/>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87" name="Shape 85"/>
          <p:cNvSpPr/>
          <p:nvPr/>
        </p:nvSpPr>
        <p:spPr>
          <a:xfrm>
            <a:off x="6015838" y="3906317"/>
            <a:ext cx="616306" cy="616306"/>
          </a:xfrm>
          <a:prstGeom prst="ellipse">
            <a:avLst/>
          </a:prstGeom>
          <a:solidFill>
            <a:srgbClr val="1F0D68"/>
          </a:solidFill>
          <a:ln/>
        </p:spPr>
      </p:sp>
      <p:sp>
        <p:nvSpPr>
          <p:cNvPr id="88" name="Text 86"/>
          <p:cNvSpPr/>
          <p:nvPr/>
        </p:nvSpPr>
        <p:spPr>
          <a:xfrm>
            <a:off x="6070702" y="4032504"/>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89" name="Text 87"/>
          <p:cNvSpPr/>
          <p:nvPr/>
        </p:nvSpPr>
        <p:spPr>
          <a:xfrm>
            <a:off x="6812280" y="3794760"/>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ownerOf(1) = 0xD49E…8Ae8 (Bob)</a:t>
            </a:r>
            <a:endParaRPr lang="es-AR" sz="1800" dirty="0"/>
          </a:p>
        </p:txBody>
      </p:sp>
      <p:sp>
        <p:nvSpPr>
          <p:cNvPr id="91" name="Shape 89"/>
          <p:cNvSpPr/>
          <p:nvPr/>
        </p:nvSpPr>
        <p:spPr>
          <a:xfrm>
            <a:off x="5781751" y="4833518"/>
            <a:ext cx="764438" cy="146023"/>
          </a:xfrm>
          <a:custGeom>
            <a:avLst/>
            <a:gdLst/>
            <a:ahLst/>
            <a:cxnLst/>
            <a:rect l="l" t="t" r="r" b="b"/>
            <a:pathLst>
              <a:path w="764438" h="146023">
                <a:moveTo>
                  <a:pt x="0" y="0"/>
                </a:moveTo>
                <a:lnTo>
                  <a:pt x="764438" y="0"/>
                </a:lnTo>
                <a:lnTo>
                  <a:pt x="0" y="146023"/>
                </a:lnTo>
                <a:close/>
              </a:path>
            </a:pathLst>
          </a:custGeom>
          <a:solidFill>
            <a:srgbClr val="273DBB"/>
          </a:solidFill>
          <a:ln/>
        </p:spPr>
      </p:sp>
      <p:sp>
        <p:nvSpPr>
          <p:cNvPr id="92" name="Shape 90"/>
          <p:cNvSpPr/>
          <p:nvPr/>
        </p:nvSpPr>
        <p:spPr>
          <a:xfrm>
            <a:off x="5781751" y="4833518"/>
            <a:ext cx="1528877" cy="292045"/>
          </a:xfrm>
          <a:custGeom>
            <a:avLst/>
            <a:gdLst/>
            <a:ahLst/>
            <a:cxnLst/>
            <a:rect l="l" t="t" r="r" b="b"/>
            <a:pathLst>
              <a:path w="1528877" h="292045">
                <a:moveTo>
                  <a:pt x="229332" y="0"/>
                </a:moveTo>
                <a:lnTo>
                  <a:pt x="1528877" y="0"/>
                </a:lnTo>
                <a:lnTo>
                  <a:pt x="0" y="292045"/>
                </a:lnTo>
                <a:lnTo>
                  <a:pt x="0" y="43807"/>
                </a:lnTo>
                <a:close/>
              </a:path>
            </a:pathLst>
          </a:custGeom>
          <a:solidFill>
            <a:srgbClr val="253AB6"/>
          </a:solidFill>
          <a:ln/>
        </p:spPr>
      </p:sp>
      <p:sp>
        <p:nvSpPr>
          <p:cNvPr id="93" name="Shape 91"/>
          <p:cNvSpPr/>
          <p:nvPr/>
        </p:nvSpPr>
        <p:spPr>
          <a:xfrm>
            <a:off x="5781751" y="4833518"/>
            <a:ext cx="2293315" cy="438068"/>
          </a:xfrm>
          <a:custGeom>
            <a:avLst/>
            <a:gdLst/>
            <a:ahLst/>
            <a:cxnLst/>
            <a:rect l="l" t="t" r="r" b="b"/>
            <a:pathLst>
              <a:path w="2293315" h="438068">
                <a:moveTo>
                  <a:pt x="993770" y="0"/>
                </a:moveTo>
                <a:lnTo>
                  <a:pt x="2293315" y="0"/>
                </a:lnTo>
                <a:lnTo>
                  <a:pt x="0" y="438068"/>
                </a:lnTo>
                <a:lnTo>
                  <a:pt x="0" y="189829"/>
                </a:lnTo>
                <a:close/>
              </a:path>
            </a:pathLst>
          </a:custGeom>
          <a:solidFill>
            <a:srgbClr val="2437B1"/>
          </a:solidFill>
          <a:ln/>
        </p:spPr>
      </p:sp>
      <p:sp>
        <p:nvSpPr>
          <p:cNvPr id="94" name="Shape 92"/>
          <p:cNvSpPr/>
          <p:nvPr/>
        </p:nvSpPr>
        <p:spPr>
          <a:xfrm>
            <a:off x="5781751" y="4833518"/>
            <a:ext cx="3057754" cy="584091"/>
          </a:xfrm>
          <a:custGeom>
            <a:avLst/>
            <a:gdLst/>
            <a:ahLst/>
            <a:cxnLst/>
            <a:rect l="l" t="t" r="r" b="b"/>
            <a:pathLst>
              <a:path w="3057754" h="584091">
                <a:moveTo>
                  <a:pt x="1758208" y="0"/>
                </a:moveTo>
                <a:lnTo>
                  <a:pt x="3057754" y="0"/>
                </a:lnTo>
                <a:lnTo>
                  <a:pt x="0" y="584091"/>
                </a:lnTo>
                <a:lnTo>
                  <a:pt x="0" y="335852"/>
                </a:lnTo>
                <a:close/>
              </a:path>
            </a:pathLst>
          </a:custGeom>
          <a:solidFill>
            <a:srgbClr val="2234AC"/>
          </a:solidFill>
          <a:ln/>
        </p:spPr>
      </p:sp>
      <p:sp>
        <p:nvSpPr>
          <p:cNvPr id="95" name="Shape 93"/>
          <p:cNvSpPr/>
          <p:nvPr/>
        </p:nvSpPr>
        <p:spPr>
          <a:xfrm>
            <a:off x="5781751" y="4833518"/>
            <a:ext cx="3822192" cy="730113"/>
          </a:xfrm>
          <a:custGeom>
            <a:avLst/>
            <a:gdLst/>
            <a:ahLst/>
            <a:cxnLst/>
            <a:rect l="l" t="t" r="r" b="b"/>
            <a:pathLst>
              <a:path w="3822192" h="730113">
                <a:moveTo>
                  <a:pt x="2522647" y="0"/>
                </a:moveTo>
                <a:lnTo>
                  <a:pt x="3822192" y="0"/>
                </a:lnTo>
                <a:lnTo>
                  <a:pt x="0" y="730113"/>
                </a:lnTo>
                <a:lnTo>
                  <a:pt x="0" y="481875"/>
                </a:lnTo>
                <a:close/>
              </a:path>
            </a:pathLst>
          </a:custGeom>
          <a:solidFill>
            <a:srgbClr val="2032A7"/>
          </a:solidFill>
          <a:ln/>
        </p:spPr>
      </p:sp>
      <p:sp>
        <p:nvSpPr>
          <p:cNvPr id="96" name="Shape 94"/>
          <p:cNvSpPr/>
          <p:nvPr/>
        </p:nvSpPr>
        <p:spPr>
          <a:xfrm>
            <a:off x="5781751" y="4833518"/>
            <a:ext cx="4586630" cy="862474"/>
          </a:xfrm>
          <a:custGeom>
            <a:avLst/>
            <a:gdLst/>
            <a:ahLst/>
            <a:cxnLst/>
            <a:rect l="l" t="t" r="r" b="b"/>
            <a:pathLst>
              <a:path w="4586630" h="862474">
                <a:moveTo>
                  <a:pt x="3287085" y="0"/>
                </a:moveTo>
                <a:lnTo>
                  <a:pt x="4586630" y="0"/>
                </a:lnTo>
                <a:lnTo>
                  <a:pt x="71518" y="862474"/>
                </a:lnTo>
                <a:lnTo>
                  <a:pt x="0" y="790956"/>
                </a:lnTo>
                <a:lnTo>
                  <a:pt x="0" y="627897"/>
                </a:lnTo>
                <a:close/>
              </a:path>
            </a:pathLst>
          </a:custGeom>
          <a:solidFill>
            <a:srgbClr val="1E2FA2"/>
          </a:solidFill>
          <a:ln/>
        </p:spPr>
      </p:sp>
      <p:sp>
        <p:nvSpPr>
          <p:cNvPr id="97" name="Shape 95"/>
          <p:cNvSpPr/>
          <p:nvPr/>
        </p:nvSpPr>
        <p:spPr>
          <a:xfrm>
            <a:off x="5781751" y="4833518"/>
            <a:ext cx="4897331" cy="949147"/>
          </a:xfrm>
          <a:custGeom>
            <a:avLst/>
            <a:gdLst/>
            <a:ahLst/>
            <a:cxnLst/>
            <a:rect l="l" t="t" r="r" b="b"/>
            <a:pathLst>
              <a:path w="4897331" h="949147">
                <a:moveTo>
                  <a:pt x="4051524" y="0"/>
                </a:moveTo>
                <a:lnTo>
                  <a:pt x="4810658" y="0"/>
                </a:lnTo>
                <a:lnTo>
                  <a:pt x="4897331" y="86673"/>
                </a:lnTo>
                <a:lnTo>
                  <a:pt x="382219" y="949147"/>
                </a:lnTo>
                <a:lnTo>
                  <a:pt x="158191" y="949147"/>
                </a:lnTo>
                <a:lnTo>
                  <a:pt x="0" y="790956"/>
                </a:lnTo>
                <a:lnTo>
                  <a:pt x="0" y="773920"/>
                </a:lnTo>
                <a:close/>
              </a:path>
            </a:pathLst>
          </a:custGeom>
          <a:solidFill>
            <a:srgbClr val="1D2C9E"/>
          </a:solidFill>
          <a:ln/>
        </p:spPr>
      </p:sp>
      <p:sp>
        <p:nvSpPr>
          <p:cNvPr id="98" name="Shape 96"/>
          <p:cNvSpPr/>
          <p:nvPr/>
        </p:nvSpPr>
        <p:spPr>
          <a:xfrm>
            <a:off x="5890051" y="4834369"/>
            <a:ext cx="4860550" cy="948297"/>
          </a:xfrm>
          <a:custGeom>
            <a:avLst/>
            <a:gdLst/>
            <a:ahLst/>
            <a:cxnLst/>
            <a:rect l="l" t="t" r="r" b="b"/>
            <a:pathLst>
              <a:path w="4860550" h="948297">
                <a:moveTo>
                  <a:pt x="4703210" y="0"/>
                </a:moveTo>
                <a:lnTo>
                  <a:pt x="4860550" y="157341"/>
                </a:lnTo>
                <a:lnTo>
                  <a:pt x="4860550" y="218183"/>
                </a:lnTo>
                <a:lnTo>
                  <a:pt x="1038358" y="948297"/>
                </a:lnTo>
                <a:lnTo>
                  <a:pt x="49892" y="948297"/>
                </a:lnTo>
                <a:lnTo>
                  <a:pt x="0" y="898405"/>
                </a:lnTo>
                <a:close/>
              </a:path>
            </a:pathLst>
          </a:custGeom>
          <a:solidFill>
            <a:srgbClr val="1B2999"/>
          </a:solidFill>
          <a:ln/>
        </p:spPr>
      </p:sp>
      <p:sp>
        <p:nvSpPr>
          <p:cNvPr id="99" name="Shape 97"/>
          <p:cNvSpPr/>
          <p:nvPr/>
        </p:nvSpPr>
        <p:spPr>
          <a:xfrm>
            <a:off x="6393302" y="4956972"/>
            <a:ext cx="4357299" cy="825694"/>
          </a:xfrm>
          <a:custGeom>
            <a:avLst/>
            <a:gdLst/>
            <a:ahLst/>
            <a:cxnLst/>
            <a:rect l="l" t="t" r="r" b="b"/>
            <a:pathLst>
              <a:path w="4357299" h="825694">
                <a:moveTo>
                  <a:pt x="4322561" y="0"/>
                </a:moveTo>
                <a:lnTo>
                  <a:pt x="4357299" y="34738"/>
                </a:lnTo>
                <a:lnTo>
                  <a:pt x="4357299" y="241603"/>
                </a:lnTo>
                <a:lnTo>
                  <a:pt x="1299545" y="825694"/>
                </a:lnTo>
                <a:lnTo>
                  <a:pt x="0" y="825694"/>
                </a:lnTo>
                <a:close/>
              </a:path>
            </a:pathLst>
          </a:custGeom>
          <a:solidFill>
            <a:srgbClr val="192694"/>
          </a:solidFill>
          <a:ln/>
        </p:spPr>
      </p:sp>
      <p:sp>
        <p:nvSpPr>
          <p:cNvPr id="100" name="Shape 98"/>
          <p:cNvSpPr/>
          <p:nvPr/>
        </p:nvSpPr>
        <p:spPr>
          <a:xfrm>
            <a:off x="7157740" y="5096359"/>
            <a:ext cx="3592860" cy="686306"/>
          </a:xfrm>
          <a:custGeom>
            <a:avLst/>
            <a:gdLst/>
            <a:ahLst/>
            <a:cxnLst/>
            <a:rect l="l" t="t" r="r" b="b"/>
            <a:pathLst>
              <a:path w="3592860" h="686306">
                <a:moveTo>
                  <a:pt x="3592860" y="0"/>
                </a:moveTo>
                <a:lnTo>
                  <a:pt x="3592860" y="248238"/>
                </a:lnTo>
                <a:lnTo>
                  <a:pt x="1299545" y="686306"/>
                </a:lnTo>
                <a:lnTo>
                  <a:pt x="0" y="686306"/>
                </a:lnTo>
                <a:close/>
              </a:path>
            </a:pathLst>
          </a:custGeom>
          <a:solidFill>
            <a:srgbClr val="17248F"/>
          </a:solidFill>
          <a:ln/>
        </p:spPr>
      </p:sp>
      <p:sp>
        <p:nvSpPr>
          <p:cNvPr id="101" name="Shape 99"/>
          <p:cNvSpPr/>
          <p:nvPr/>
        </p:nvSpPr>
        <p:spPr>
          <a:xfrm>
            <a:off x="7922179" y="5242382"/>
            <a:ext cx="2828422" cy="540284"/>
          </a:xfrm>
          <a:custGeom>
            <a:avLst/>
            <a:gdLst/>
            <a:ahLst/>
            <a:cxnLst/>
            <a:rect l="l" t="t" r="r" b="b"/>
            <a:pathLst>
              <a:path w="2828422" h="540284">
                <a:moveTo>
                  <a:pt x="2828422" y="0"/>
                </a:moveTo>
                <a:lnTo>
                  <a:pt x="2828422" y="248238"/>
                </a:lnTo>
                <a:lnTo>
                  <a:pt x="1299545" y="540284"/>
                </a:lnTo>
                <a:lnTo>
                  <a:pt x="0" y="540284"/>
                </a:lnTo>
                <a:close/>
              </a:path>
            </a:pathLst>
          </a:custGeom>
          <a:solidFill>
            <a:srgbClr val="15218A"/>
          </a:solidFill>
          <a:ln/>
        </p:spPr>
      </p:sp>
      <p:sp>
        <p:nvSpPr>
          <p:cNvPr id="102" name="Shape 100"/>
          <p:cNvSpPr/>
          <p:nvPr/>
        </p:nvSpPr>
        <p:spPr>
          <a:xfrm>
            <a:off x="8686617" y="5388404"/>
            <a:ext cx="2063984" cy="394261"/>
          </a:xfrm>
          <a:custGeom>
            <a:avLst/>
            <a:gdLst/>
            <a:ahLst/>
            <a:cxnLst/>
            <a:rect l="l" t="t" r="r" b="b"/>
            <a:pathLst>
              <a:path w="2063984" h="394261">
                <a:moveTo>
                  <a:pt x="2063984" y="0"/>
                </a:moveTo>
                <a:lnTo>
                  <a:pt x="2063984" y="248238"/>
                </a:lnTo>
                <a:lnTo>
                  <a:pt x="1299545" y="394261"/>
                </a:lnTo>
                <a:lnTo>
                  <a:pt x="0" y="394261"/>
                </a:lnTo>
                <a:close/>
              </a:path>
            </a:pathLst>
          </a:custGeom>
          <a:solidFill>
            <a:srgbClr val="141E85"/>
          </a:solidFill>
          <a:ln/>
        </p:spPr>
      </p:sp>
      <p:sp>
        <p:nvSpPr>
          <p:cNvPr id="103" name="Shape 101"/>
          <p:cNvSpPr/>
          <p:nvPr/>
        </p:nvSpPr>
        <p:spPr>
          <a:xfrm>
            <a:off x="9451056" y="5534427"/>
            <a:ext cx="1299545" cy="248238"/>
          </a:xfrm>
          <a:custGeom>
            <a:avLst/>
            <a:gdLst/>
            <a:ahLst/>
            <a:cxnLst/>
            <a:rect l="l" t="t" r="r" b="b"/>
            <a:pathLst>
              <a:path w="1299545" h="248238">
                <a:moveTo>
                  <a:pt x="1299545" y="0"/>
                </a:moveTo>
                <a:lnTo>
                  <a:pt x="1299545" y="248238"/>
                </a:lnTo>
                <a:lnTo>
                  <a:pt x="0" y="248238"/>
                </a:lnTo>
                <a:close/>
              </a:path>
            </a:pathLst>
          </a:custGeom>
          <a:solidFill>
            <a:srgbClr val="121B80"/>
          </a:solidFill>
          <a:ln/>
        </p:spPr>
      </p:sp>
      <p:sp>
        <p:nvSpPr>
          <p:cNvPr id="104" name="Shape 102"/>
          <p:cNvSpPr/>
          <p:nvPr/>
        </p:nvSpPr>
        <p:spPr>
          <a:xfrm>
            <a:off x="6015838" y="4990795"/>
            <a:ext cx="616306" cy="616306"/>
          </a:xfrm>
          <a:prstGeom prst="ellipse">
            <a:avLst/>
          </a:prstGeom>
          <a:solidFill>
            <a:srgbClr val="1F0D68"/>
          </a:solidFill>
          <a:ln/>
        </p:spPr>
      </p:sp>
      <p:sp>
        <p:nvSpPr>
          <p:cNvPr id="105" name="Text 103"/>
          <p:cNvSpPr/>
          <p:nvPr/>
        </p:nvSpPr>
        <p:spPr>
          <a:xfrm>
            <a:off x="6070702" y="5116982"/>
            <a:ext cx="506578" cy="402336"/>
          </a:xfrm>
          <a:prstGeom prst="rect">
            <a:avLst/>
          </a:prstGeom>
          <a:noFill/>
          <a:ln/>
        </p:spPr>
        <p:txBody>
          <a:bodyPr wrap="square" rtlCol="0" anchor="t"/>
          <a:lstStyle/>
          <a:p>
            <a:pPr algn="ctr" indent="0" marL="0">
              <a:buNone/>
            </a:pPr>
            <a:r>
              <a:rPr lang="es-AR" sz="2000" dirty="0">
                <a:solidFill>
                  <a:srgbClr val="C4ECFF"/>
                </a:solidFill>
                <a:latin typeface="Space Grotesk"/>
                <a:ea typeface="Space Grotesk"/>
                <a:cs typeface="Space Grotesk"/>
              </a:rPr>
              <a:t>→</a:t>
            </a:r>
            <a:endParaRPr lang="es-AR" sz="2000" dirty="0"/>
          </a:p>
        </p:txBody>
      </p:sp>
      <p:sp>
        <p:nvSpPr>
          <p:cNvPr id="106" name="Text 104"/>
          <p:cNvSpPr/>
          <p:nvPr/>
        </p:nvSpPr>
        <p:spPr>
          <a:xfrm>
            <a:off x="6812280" y="4879238"/>
            <a:ext cx="3931920" cy="859536"/>
          </a:xfrm>
          <a:prstGeom prst="rect">
            <a:avLst/>
          </a:prstGeom>
          <a:noFill/>
          <a:ln/>
        </p:spPr>
        <p:txBody>
          <a:bodyPr wrap="square" rtlCol="0" anchor="ctr" lIns="18288" rIns="18288" tIns="18288" bIns="18288"/>
          <a:lstStyle/>
          <a:p>
            <a:pPr algn="l" indent="0" marL="0">
              <a:lnSpc>
                <a:spcPct val="95000"/>
              </a:lnSpc>
              <a:buNone/>
            </a:pPr>
            <a:r>
              <a:rPr lang="es-AR" sz="1800" dirty="0">
                <a:solidFill>
                  <a:srgbClr val="C4ECFF"/>
                </a:solidFill>
                <a:latin typeface="Space Grotesk"/>
                <a:ea typeface="Space Grotesk"/>
                <a:cs typeface="Space Grotesk"/>
              </a:rPr>
              <a:t>ownerOf(2) = 0xeA48…F06E (Charlie)</a:t>
            </a:r>
            <a:endParaRPr lang="es-AR" sz="1800" dirty="0"/>
          </a:p>
        </p:txBody>
      </p:sp>
      <p:sp>
        <p:nvSpPr>
          <p:cNvPr id="108" name="Shape 106"/>
          <p:cNvSpPr/>
          <p:nvPr/>
        </p:nvSpPr>
        <p:spPr>
          <a:xfrm>
            <a:off x="651967" y="2697480"/>
            <a:ext cx="3355848" cy="3081528"/>
          </a:xfrm>
          <a:custGeom>
            <a:avLst/>
            <a:gdLst/>
            <a:ahLst/>
            <a:cxnLst/>
            <a:rect l="l" t="t" r="r" b="b"/>
            <a:pathLst>
              <a:path w="3355848" h="3081528">
                <a:moveTo>
                  <a:pt x="0" y="0"/>
                </a:moveTo>
                <a:lnTo>
                  <a:pt x="3355848" y="0"/>
                </a:lnTo>
                <a:lnTo>
                  <a:pt x="3355848" y="2476195"/>
                </a:lnTo>
                <a:lnTo>
                  <a:pt x="2750515" y="3081528"/>
                </a:lnTo>
                <a:lnTo>
                  <a:pt x="0" y="3081528"/>
                </a:lnTo>
                <a:close/>
              </a:path>
            </a:pathLst>
          </a:custGeom>
          <a:solidFill>
            <a:srgbClr val="283EBD">
              <a:alpha val="65000"/>
            </a:srgbClr>
          </a:solidFill>
          <a:ln/>
        </p:spPr>
      </p:sp>
      <p:sp>
        <p:nvSpPr>
          <p:cNvPr id="109" name="Text 107"/>
          <p:cNvSpPr/>
          <p:nvPr/>
        </p:nvSpPr>
        <p:spPr>
          <a:xfrm>
            <a:off x="868680" y="2743200"/>
            <a:ext cx="2971800" cy="2926080"/>
          </a:xfrm>
          <a:prstGeom prst="rect">
            <a:avLst/>
          </a:prstGeom>
          <a:noFill/>
          <a:ln/>
        </p:spPr>
        <p:txBody>
          <a:bodyPr wrap="square" rtlCol="0" anchor="ctr"/>
          <a:lstStyle/>
          <a:p>
            <a:pPr algn="l" indent="0" marL="0">
              <a:buNone/>
            </a:pPr>
            <a:r>
              <a:rPr lang="es-AR" sz="1600" dirty="0">
                <a:solidFill>
                  <a:srgbClr val="D585DF"/>
                </a:solidFill>
                <a:latin typeface="Space Grotesk"/>
                <a:ea typeface="Space Grotesk"/>
                <a:cs typeface="Space Grotesk"/>
              </a:rPr>
              <a:t>VERIFICACIÓN</a:t>
            </a:r>
            <a:endParaRPr lang="es-AR" sz="1600" dirty="0"/>
          </a:p>
          <a:p>
            <a:pPr algn="l" indent="0" marL="0">
              <a:lnSpc>
                <a:spcPct val="90000"/>
              </a:lnSpc>
              <a:buNone/>
            </a:pPr>
            <a:r>
              <a:rPr lang="es-AR" sz="9600" dirty="0">
                <a:solidFill>
                  <a:srgbClr val="EDF0F5"/>
                </a:solidFill>
                <a:latin typeface="Space Grotesk"/>
                <a:ea typeface="Space Grotesk"/>
                <a:cs typeface="Space Grotesk"/>
              </a:rPr>
              <a:t>2</a:t>
            </a:r>
            <a:endParaRPr lang="es-AR" sz="9600" dirty="0"/>
          </a:p>
          <a:p>
            <a:pPr algn="l" indent="0" marL="0">
              <a:spcAft>
                <a:spcPts val="1200"/>
              </a:spcAft>
              <a:buNone/>
            </a:pPr>
            <a:r>
              <a:rPr lang="es-AR" sz="2000" dirty="0">
                <a:solidFill>
                  <a:srgbClr val="C4ECFF"/>
                </a:solidFill>
                <a:latin typeface="Space Grotesk"/>
                <a:ea typeface="Space Grotesk"/>
                <a:cs typeface="Space Grotesk"/>
              </a:rPr>
              <a:t>credenciales NFT</a:t>
            </a:r>
            <a:endParaRPr lang="es-AR" sz="2000" dirty="0"/>
          </a:p>
          <a:p>
            <a:pPr algn="l" indent="0" marL="0">
              <a:buNone/>
            </a:pPr>
            <a:r>
              <a:rPr lang="es-AR" sz="1600" dirty="0">
                <a:solidFill>
                  <a:srgbClr val="D585DF"/>
                </a:solidFill>
                <a:latin typeface="DM Mono"/>
                <a:ea typeface="DM Mono"/>
                <a:cs typeface="DM Mono"/>
              </a:rPr>
              <a:t>Team #0 completo</a:t>
            </a:r>
            <a:endParaRPr lang="es-AR" sz="1600" dirty="0"/>
          </a:p>
        </p:txBody>
      </p:sp>
      <p:sp>
        <p:nvSpPr>
          <p:cNvPr id="110" name="Shape 108"/>
          <p:cNvSpPr/>
          <p:nvPr/>
        </p:nvSpPr>
        <p:spPr>
          <a:xfrm rot="13500000">
            <a:off x="407822" y="5527548"/>
            <a:ext cx="660197" cy="320954"/>
          </a:xfrm>
          <a:prstGeom prst="triangle">
            <a:avLst/>
          </a:prstGeom>
          <a:solidFill>
            <a:srgbClr val="5531E3"/>
          </a:solidFill>
          <a:ln/>
        </p:spPr>
      </p:sp>
      <p:sp>
        <p:nvSpPr>
          <p:cNvPr id="111" name="Shape 109"/>
          <p:cNvSpPr/>
          <p:nvPr/>
        </p:nvSpPr>
        <p:spPr>
          <a:xfrm rot="16200000">
            <a:off x="3767328" y="3383280"/>
            <a:ext cx="1108253" cy="185623"/>
          </a:xfrm>
          <a:prstGeom prst="snip2SameRect">
            <a:avLst/>
          </a:prstGeom>
          <a:solidFill>
            <a:srgbClr val="D585DF"/>
          </a:solidFill>
          <a:ln/>
        </p:spPr>
      </p:sp>
      <p:sp>
        <p:nvSpPr>
          <p:cNvPr id="112" name="Shape 110"/>
          <p:cNvSpPr/>
          <p:nvPr/>
        </p:nvSpPr>
        <p:spPr>
          <a:xfrm>
            <a:off x="755294" y="6124651"/>
            <a:ext cx="10682021" cy="0"/>
          </a:xfrm>
          <a:prstGeom prst="line">
            <a:avLst/>
          </a:prstGeom>
          <a:noFill/>
          <a:ln w="12700">
            <a:solidFill>
              <a:srgbClr val="5531E3"/>
            </a:solidFill>
            <a:prstDash val="solid"/>
          </a:ln>
        </p:spPr>
      </p:sp>
      <p:sp>
        <p:nvSpPr>
          <p:cNvPr id="113" name="Text 111"/>
          <p:cNvSpPr/>
          <p:nvPr/>
        </p:nvSpPr>
        <p:spPr>
          <a:xfrm>
            <a:off x="651967" y="6292901"/>
            <a:ext cx="2926080" cy="274320"/>
          </a:xfrm>
          <a:prstGeom prst="rect">
            <a:avLst/>
          </a:prstGeom>
          <a:noFill/>
          <a:ln/>
        </p:spPr>
        <p:txBody>
          <a:bodyPr wrap="square" rtlCol="0" anchor="t"/>
          <a:lstStyle/>
          <a:p>
            <a:pPr algn="l" indent="0" marL="0">
              <a:lnSpc>
                <a:spcPct val="150000"/>
              </a:lnSpc>
              <a:buNone/>
            </a:pPr>
            <a:r>
              <a:rPr lang="en-US" sz="1000" dirty="0">
                <a:solidFill>
                  <a:srgbClr val="C4ECFF"/>
                </a:solidFill>
                <a:latin typeface="Roboto" pitchFamily="34" charset="0"/>
                <a:ea typeface="Roboto" pitchFamily="34" charset="-122"/>
                <a:cs typeface="Roboto" pitchFamily="34" charset="-120"/>
              </a:rPr>
              <a:t>Proyecto final · Web3 / Solidity</a:t>
            </a:r>
            <a:endParaRPr lang="en-US" sz="900" dirty="0"/>
          </a:p>
        </p:txBody>
      </p:sp>
      <p:sp>
        <p:nvSpPr>
          <p:cNvPr id="114" name="Text 112"/>
          <p:cNvSpPr/>
          <p:nvPr/>
        </p:nvSpPr>
        <p:spPr>
          <a:xfrm>
            <a:off x="8503920" y="6292901"/>
            <a:ext cx="2926080" cy="274320"/>
          </a:xfrm>
          <a:prstGeom prst="rect">
            <a:avLst/>
          </a:prstGeom>
          <a:noFill/>
          <a:ln/>
        </p:spPr>
        <p:txBody>
          <a:bodyPr wrap="square" rtlCol="0" anchor="t"/>
          <a:lstStyle/>
          <a:p>
            <a:pPr algn="r" indent="0" marL="0">
              <a:lnSpc>
                <a:spcPct val="150000"/>
              </a:lnSpc>
              <a:buNone/>
            </a:pPr>
            <a:r>
              <a:rPr lang="en-US" sz="1000" dirty="0">
                <a:solidFill>
                  <a:srgbClr val="C4ECFF"/>
                </a:solidFill>
                <a:latin typeface="Roboto" pitchFamily="34" charset="0"/>
                <a:ea typeface="Roboto" pitchFamily="34" charset="-122"/>
                <a:cs typeface="Roboto" pitchFamily="34" charset="-120"/>
              </a:rPr>
              <a:t>Ethereum Sepolia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TeamUp ZK</dc:title>
  <dc:subject>PptxGenJS Presentation</dc:subject>
  <dc:creator>TeamUp ZK</dc:creator>
  <cp:lastModifiedBy>TeamUp ZK</cp:lastModifiedBy>
  <cp:revision>1</cp:revision>
  <dcterms:created xsi:type="dcterms:W3CDTF">2026-10-24T18:20:55Z</dcterms:created>
  <dcterms:modified xsi:type="dcterms:W3CDTF">2026-10-24T18:20:55Z</dcterms:modified>
</cp:coreProperties>
</file>